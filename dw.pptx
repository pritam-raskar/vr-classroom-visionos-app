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347472"/>
            <a:ext cx="914400" cy="914400"/>
          </a:xfrm>
          <a:prstGeom prst="ellipse">
            <a:avLst/>
          </a:prstGeom>
          <a:solidFill>
            <a:srgbClr val="111827"/>
          </a:solidFill>
          <a:ln w="19050">
            <a:solidFill>
              <a:srgbClr val="D4A843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42816" y="475488"/>
            <a:ext cx="658368" cy="65836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D4A843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0" y="34747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8503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D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353312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4F6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Sanctions QA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20040" y="2029968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Worker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4238244" y="2816352"/>
            <a:ext cx="667512" cy="3200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9923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Quality Assurance for Sanctions Screening Dispositions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547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Townhall Overview  •  April 2026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Sanctions Operations  •  BNY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" y="4773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BNY  •  Sanctions QA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F6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We </a:t>
            </a:r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This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238244" y="795528"/>
            <a:ext cx="667512" cy="3200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Challenges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399032"/>
            <a:ext cx="402336" cy="402336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99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39903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Excel-Based Process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6002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analysts review sanctions dispositions one by one using spreadsheets — slow and error-prone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402336" cy="402336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14884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Regulatory Mandate Tripled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35000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regulatory obligations require increasing QC from 1% to 3% of daily transactions — a 3-fold increase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898648"/>
            <a:ext cx="402336" cy="402336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98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89864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Scalable Manually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09981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Tripling the QC workload is not manageable with the current manual process — would require 3x the analyst hours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648456"/>
            <a:ext cx="402336" cy="402336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648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⊞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64845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to Allocate &amp; Track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384962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Excel-based process makes it difficult to assign work items and track progress across the team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17720" y="1005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Opportunity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617720" y="1389888"/>
            <a:ext cx="4114800" cy="1115568"/>
          </a:xfrm>
          <a:prstGeom prst="rect">
            <a:avLst/>
          </a:prstGeom>
          <a:solidFill>
            <a:srgbClr val="141E2D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1389888"/>
            <a:ext cx="50292" cy="11155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1444752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</a:t>
            </a:r>
            <a:pPr indent="0" marL="0">
              <a:buNone/>
            </a:pPr>
            <a:r>
              <a:rPr lang="en-US" sz="1200" b="1" dirty="0">
                <a:solidFill>
                  <a:srgbClr val="F0D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Employee</a:t>
            </a:r>
            <a:pPr indent="0" marL="0">
              <a:buNone/>
            </a:pPr>
            <a:r>
              <a:rPr lang="en-US" sz="1200" dirty="0">
                <a:solidFill>
                  <a:srgbClr val="B8C5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an AI-powered worker that emulates how a QA analyst extracts, reasons, and summarizes — enabling BNY to </a:t>
            </a:r>
            <a:pPr indent="0" marL="0">
              <a:buNone/>
            </a:pPr>
            <a:r>
              <a:rPr lang="en-US" sz="1200" b="1" dirty="0">
                <a:solidFill>
                  <a:srgbClr val="F0D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triple QC coverage</a:t>
            </a:r>
            <a:pPr indent="0" marL="0">
              <a:buNone/>
            </a:pPr>
            <a:r>
              <a:rPr lang="en-US" sz="1200" dirty="0">
                <a:solidFill>
                  <a:srgbClr val="B8C5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from 1% to 3% without tripling headcount. A single platform to </a:t>
            </a:r>
            <a:pPr indent="0" marL="0">
              <a:buNone/>
            </a:pPr>
            <a:r>
              <a:rPr lang="en-US" sz="1200" b="1" dirty="0">
                <a:solidFill>
                  <a:srgbClr val="F0D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consolidate, allocate, and track</a:t>
            </a:r>
            <a:pPr indent="0" marL="0">
              <a:buNone/>
            </a:pPr>
            <a:r>
              <a:rPr lang="en-US" sz="1200" dirty="0">
                <a:solidFill>
                  <a:srgbClr val="B8C5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all QC work in one place.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17720" y="2651760"/>
            <a:ext cx="1938528" cy="1627632"/>
          </a:xfrm>
          <a:prstGeom prst="rect">
            <a:avLst/>
          </a:prstGeom>
          <a:solidFill>
            <a:srgbClr val="EF4444">
              <a:alpha val="6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271576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83480" y="2962656"/>
            <a:ext cx="1188720" cy="1188720"/>
          </a:xfrm>
          <a:prstGeom prst="ellipse">
            <a:avLst/>
          </a:prstGeom>
          <a:solidFill>
            <a:srgbClr val="111827"/>
          </a:solidFill>
          <a:ln w="508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2962656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617720" y="4151376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QC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daily transactions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84848" y="2651760"/>
            <a:ext cx="1938528" cy="1627632"/>
          </a:xfrm>
          <a:prstGeom prst="rect">
            <a:avLst/>
          </a:prstGeom>
          <a:solidFill>
            <a:srgbClr val="22C55E">
              <a:alpha val="6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84848" y="271576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DIGITAL WORKER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150608" y="2962656"/>
            <a:ext cx="1188720" cy="1188720"/>
          </a:xfrm>
          <a:prstGeom prst="ellipse">
            <a:avLst/>
          </a:prstGeom>
          <a:solidFill>
            <a:srgbClr val="111827"/>
          </a:solidFill>
          <a:ln w="508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50608" y="2962656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3%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784848" y="4151376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QC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daily transactions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F6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the </a:t>
            </a:r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Worker</a:t>
            </a:r>
            <a:pPr algn="ctr" indent="0" marL="0">
              <a:buNone/>
            </a:pPr>
            <a:r>
              <a:rPr lang="en-US" sz="3600" b="1" dirty="0">
                <a:solidFill>
                  <a:srgbClr val="F4F6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238244" y="795528"/>
            <a:ext cx="667512" cy="3200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5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pPr algn="ctr" indent="0" marL="0">
              <a:buNone/>
            </a:pPr>
            <a:r>
              <a:rPr lang="en-US" sz="1400" b="1" dirty="0">
                <a:solidFill>
                  <a:srgbClr val="F0D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Employee</a:t>
            </a:r>
            <a:pPr algn="ctr" indent="0" marL="0">
              <a:buNone/>
            </a:pPr>
            <a:r>
              <a:rPr lang="en-US" sz="1400" dirty="0">
                <a:solidFill>
                  <a:srgbClr val="B8C5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that uses AI to review sanctions screening dispositions — checking whether screeners made the right call on each transaction, and evaluating the quality of their investigation and documented evidence.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664208"/>
            <a:ext cx="2743200" cy="2743200"/>
          </a:xfrm>
          <a:prstGeom prst="rect">
            <a:avLst/>
          </a:prstGeom>
          <a:solidFill>
            <a:srgbClr val="141E2D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62456" y="1810512"/>
            <a:ext cx="658368" cy="658368"/>
          </a:xfrm>
          <a:prstGeom prst="ellipse">
            <a:avLst/>
          </a:prstGeom>
          <a:solidFill>
            <a:srgbClr val="D4A843">
              <a:alpha val="10000"/>
            </a:srgbClr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62456" y="18105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624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Review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03580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5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Persona-based AI agents emulate how a QA analyst reads, reasons, and evaluates each sanctions disposition — at scale.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664208"/>
            <a:ext cx="2743200" cy="2743200"/>
          </a:xfrm>
          <a:prstGeom prst="rect">
            <a:avLst/>
          </a:prstGeom>
          <a:solidFill>
            <a:srgbClr val="141E2D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88536" y="1810512"/>
            <a:ext cx="658368" cy="658368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88536" y="18105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2624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Oversight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303580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5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Cases the AI is uncertain about are flagged for human analyst review — the AI never makes a final call alone on ambiguous cases.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1664208"/>
            <a:ext cx="2743200" cy="2743200"/>
          </a:xfrm>
          <a:prstGeom prst="rect">
            <a:avLst/>
          </a:prstGeom>
          <a:solidFill>
            <a:srgbClr val="141E2D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14616" y="1810512"/>
            <a:ext cx="658368" cy="658368"/>
          </a:xfrm>
          <a:prstGeom prst="ellipse">
            <a:avLst/>
          </a:prstGeom>
          <a:solidFill>
            <a:srgbClr val="22C55E">
              <a:alpha val="1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14616" y="18105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2624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Output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303580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5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review produces a documented rationale, stored in Snowflake and surfaced on dashboards — ready for audit.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F6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</a:t>
            </a:r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238244" y="795528"/>
            <a:ext cx="667512" cy="3200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48840" y="1801368"/>
            <a:ext cx="128016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ysDash"/>
          </a:ln>
        </p:spPr>
      </p:sp>
      <p:sp>
        <p:nvSpPr>
          <p:cNvPr id="5" name="Shape 3"/>
          <p:cNvSpPr/>
          <p:nvPr/>
        </p:nvSpPr>
        <p:spPr>
          <a:xfrm>
            <a:off x="228600" y="1024128"/>
            <a:ext cx="1901952" cy="1554480"/>
          </a:xfrm>
          <a:prstGeom prst="rect">
            <a:avLst/>
          </a:prstGeom>
          <a:solidFill>
            <a:srgbClr val="8B5CF6">
              <a:alpha val="6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65960" y="1115568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155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Intake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847088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sanctions data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093976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Sampling &amp; filtering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15384" y="1801368"/>
            <a:ext cx="128016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ysDash"/>
          </a:ln>
        </p:spPr>
      </p:sp>
      <p:sp>
        <p:nvSpPr>
          <p:cNvPr id="12" name="Shape 10"/>
          <p:cNvSpPr/>
          <p:nvPr/>
        </p:nvSpPr>
        <p:spPr>
          <a:xfrm>
            <a:off x="2295144" y="1024128"/>
            <a:ext cx="1901952" cy="1554480"/>
          </a:xfrm>
          <a:prstGeom prst="rect">
            <a:avLst/>
          </a:prstGeom>
          <a:solidFill>
            <a:srgbClr val="D4A843">
              <a:alpha val="6000"/>
            </a:srgbClr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32504" y="1115568"/>
            <a:ext cx="91440" cy="914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95144" y="11155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340864" y="1371600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D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 Review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340864" y="1847088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Worker • Fixer • Challenger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40864" y="2093976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Multi-agent consensus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81928" y="1801368"/>
            <a:ext cx="128016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ysDash"/>
          </a:ln>
        </p:spPr>
      </p:sp>
      <p:sp>
        <p:nvSpPr>
          <p:cNvPr id="19" name="Shape 17"/>
          <p:cNvSpPr/>
          <p:nvPr/>
        </p:nvSpPr>
        <p:spPr>
          <a:xfrm>
            <a:off x="4361688" y="1024128"/>
            <a:ext cx="1901952" cy="1554480"/>
          </a:xfrm>
          <a:prstGeom prst="rect">
            <a:avLst/>
          </a:prstGeom>
          <a:solidFill>
            <a:srgbClr val="3B82F6">
              <a:alpha val="6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99048" y="111556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61688" y="11155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07408" y="1371600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Categorization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07408" y="1847088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In-Scope • Human Review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07408" y="2093976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Out-of-Scope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28232" y="1024128"/>
            <a:ext cx="1901952" cy="1554480"/>
          </a:xfrm>
          <a:prstGeom prst="rect">
            <a:avLst/>
          </a:prstGeom>
          <a:solidFill>
            <a:srgbClr val="22C55E">
              <a:alpha val="6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65592" y="111556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8232" y="11155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73952" y="1371600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Delivery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73952" y="1847088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&amp; reports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73952" y="2093976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Stored in Snowflake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27249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FULLY AUTOMATED DAILY WORKFLOW — AI REVIEWS EACH SAMPLED DISPOSITION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" y="3017520"/>
            <a:ext cx="4206240" cy="1719072"/>
          </a:xfrm>
          <a:prstGeom prst="rect">
            <a:avLst/>
          </a:prstGeom>
          <a:solidFill>
            <a:srgbClr val="141E2D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28600" y="3017520"/>
            <a:ext cx="50292" cy="171907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3081528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Worker → Fixer → Challenger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84048" y="3419856"/>
            <a:ext cx="389534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5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AI agents review each disposition in sequence. The </a:t>
            </a:r>
            <a:pPr indent="0" marL="0">
              <a:buNone/>
            </a:pPr>
            <a:r>
              <a:rPr lang="en-US" sz="1300" b="1" dirty="0">
                <a:solidFill>
                  <a:srgbClr val="F0D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Worker</a:t>
            </a:r>
            <a:pPr indent="0" marL="0">
              <a:buNone/>
            </a:pPr>
            <a:r>
              <a:rPr lang="en-US" sz="1300" dirty="0">
                <a:solidFill>
                  <a:srgbClr val="B8C5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makes the initial assessment, the </a:t>
            </a:r>
            <a:pPr indent="0" marL="0">
              <a:buNone/>
            </a:pPr>
            <a:r>
              <a:rPr lang="en-US" sz="1300" b="1" dirty="0">
                <a:solidFill>
                  <a:srgbClr val="F0D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Fixer</a:t>
            </a:r>
            <a:pPr indent="0" marL="0">
              <a:buNone/>
            </a:pPr>
            <a:r>
              <a:rPr lang="en-US" sz="1300" dirty="0">
                <a:solidFill>
                  <a:srgbClr val="B8C5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verifies it, and if they disagree, the </a:t>
            </a:r>
            <a:pPr indent="0" marL="0">
              <a:buNone/>
            </a:pPr>
            <a:r>
              <a:rPr lang="en-US" sz="1300" b="1" dirty="0">
                <a:solidFill>
                  <a:srgbClr val="F0D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Challenger</a:t>
            </a:r>
            <a:pPr indent="0" marL="0">
              <a:buNone/>
            </a:pPr>
            <a:r>
              <a:rPr lang="en-US" sz="1300" dirty="0">
                <a:solidFill>
                  <a:srgbClr val="B8C5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acts as the tiebreaker.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09160" y="3017520"/>
            <a:ext cx="4206240" cy="1719072"/>
          </a:xfrm>
          <a:prstGeom prst="rect">
            <a:avLst/>
          </a:prstGeom>
          <a:solidFill>
            <a:srgbClr val="141E2D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3017520"/>
            <a:ext cx="50292" cy="17190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3081528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Routing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864608" y="3419856"/>
            <a:ext cx="389534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5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Dispositions are intelligently routed based on rationale type — </a:t>
            </a:r>
            <a:pPr indent="0" marL="0">
              <a:buNone/>
            </a:pPr>
            <a:r>
              <a:rPr lang="en-US" sz="1300" b="1" dirty="0">
                <a:solidFill>
                  <a:srgbClr val="F0D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Individual</a:t>
            </a:r>
            <a:pPr indent="0" marL="0">
              <a:buNone/>
            </a:pPr>
            <a:r>
              <a:rPr lang="en-US" sz="1300" dirty="0">
                <a:solidFill>
                  <a:srgbClr val="B8C5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buNone/>
            </a:pPr>
            <a:r>
              <a:rPr lang="en-US" sz="1300" b="1" dirty="0">
                <a:solidFill>
                  <a:srgbClr val="F0D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</a:t>
            </a:r>
            <a:pPr indent="0" marL="0">
              <a:buNone/>
            </a:pPr>
            <a:r>
              <a:rPr lang="en-US" sz="1300" dirty="0">
                <a:solidFill>
                  <a:srgbClr val="B8C5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buNone/>
            </a:pPr>
            <a:r>
              <a:rPr lang="en-US" sz="1300" b="1" dirty="0">
                <a:solidFill>
                  <a:srgbClr val="F0D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Vessel</a:t>
            </a:r>
            <a:pPr indent="0" marL="0">
              <a:buNone/>
            </a:pPr>
            <a:r>
              <a:rPr lang="en-US" sz="1300" dirty="0">
                <a:solidFill>
                  <a:srgbClr val="B8C5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or </a:t>
            </a:r>
            <a:pPr indent="0" marL="0">
              <a:buNone/>
            </a:pPr>
            <a:r>
              <a:rPr lang="en-US" sz="1300" b="1" dirty="0">
                <a:solidFill>
                  <a:srgbClr val="F0D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</a:t>
            </a:r>
            <a:pPr indent="0" marL="0">
              <a:buNone/>
            </a:pPr>
            <a:r>
              <a:rPr lang="en-US" sz="1300" dirty="0">
                <a:solidFill>
                  <a:srgbClr val="B8C5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ensuring each review uses the right lens.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F6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&amp; </a:t>
            </a:r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238244" y="795528"/>
            <a:ext cx="667512" cy="3200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1920240" cy="914400"/>
          </a:xfrm>
          <a:prstGeom prst="rect">
            <a:avLst/>
          </a:prstGeom>
          <a:solidFill>
            <a:srgbClr val="111827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332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3×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2004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QC COVERAGE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0" y="960120"/>
            <a:ext cx="1920240" cy="914400"/>
          </a:xfrm>
          <a:prstGeom prst="rect">
            <a:avLst/>
          </a:prstGeom>
          <a:solidFill>
            <a:srgbClr val="111827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0332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46888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SAVED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1920240" cy="914400"/>
          </a:xfrm>
          <a:prstGeom prst="rect">
            <a:avLst/>
          </a:prstGeom>
          <a:solidFill>
            <a:srgbClr val="111827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0332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61772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RATIONALE TYPES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66560" y="960120"/>
            <a:ext cx="1920240" cy="914400"/>
          </a:xfrm>
          <a:prstGeom prst="rect">
            <a:avLst/>
          </a:prstGeom>
          <a:solidFill>
            <a:srgbClr val="111827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0332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76656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 PER HIT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64108" y="2011680"/>
            <a:ext cx="2423160" cy="34747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4108" y="20116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the Business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60420" y="2011680"/>
            <a:ext cx="2423160" cy="347472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0420" y="20116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QA Analysts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56732" y="2011680"/>
            <a:ext cx="2423160" cy="347472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6732" y="20116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Compliance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2487168"/>
            <a:ext cx="4160520" cy="2423160"/>
          </a:xfrm>
          <a:prstGeom prst="rect">
            <a:avLst/>
          </a:prstGeom>
          <a:solidFill>
            <a:srgbClr val="141E2D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487168"/>
            <a:ext cx="50292" cy="24231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5511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Scalability Without Headcount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" y="2889504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5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Tripling QC coverage from 1% to 3% of daily transactions no longer requires tripling the team. The Digital Worker handles the 3-fold increase in volume, freeing analysts to focus on complex cases that truly need human judgment.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2487168"/>
            <a:ext cx="4160520" cy="2423160"/>
          </a:xfrm>
          <a:prstGeom prst="rect">
            <a:avLst/>
          </a:prstGeom>
          <a:solidFill>
            <a:srgbClr val="141E2D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487168"/>
            <a:ext cx="50292" cy="24231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25511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Efficiency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18888" y="2889504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5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once took hours of spreadsheet work now runs automatically each day. Results are delivered to dashboards and stored in Snowflake — no more emailing Excel files.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F6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&amp; </a:t>
            </a:r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238244" y="795528"/>
            <a:ext cx="667512" cy="3200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1920240" cy="914400"/>
          </a:xfrm>
          <a:prstGeom prst="rect">
            <a:avLst/>
          </a:prstGeom>
          <a:solidFill>
            <a:srgbClr val="111827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332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3×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2004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QC COVERAGE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0" y="960120"/>
            <a:ext cx="1920240" cy="914400"/>
          </a:xfrm>
          <a:prstGeom prst="rect">
            <a:avLst/>
          </a:prstGeom>
          <a:solidFill>
            <a:srgbClr val="111827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0332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46888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SAVED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1920240" cy="914400"/>
          </a:xfrm>
          <a:prstGeom prst="rect">
            <a:avLst/>
          </a:prstGeom>
          <a:solidFill>
            <a:srgbClr val="111827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0332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61772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RATIONALE TYPES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66560" y="960120"/>
            <a:ext cx="1920240" cy="914400"/>
          </a:xfrm>
          <a:prstGeom prst="rect">
            <a:avLst/>
          </a:prstGeom>
          <a:solidFill>
            <a:srgbClr val="111827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0332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76656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 PER HIT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64108" y="2011680"/>
            <a:ext cx="2423160" cy="347472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4108" y="20116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the Business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60420" y="2011680"/>
            <a:ext cx="2423160" cy="347472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0420" y="20116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QA Analysts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56732" y="2011680"/>
            <a:ext cx="2423160" cy="347472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6732" y="20116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Compliance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2487168"/>
            <a:ext cx="4160520" cy="2423160"/>
          </a:xfrm>
          <a:prstGeom prst="rect">
            <a:avLst/>
          </a:prstGeom>
          <a:solidFill>
            <a:srgbClr val="141E2D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487168"/>
            <a:ext cx="50292" cy="2423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5511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 Tedious Work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" y="2889504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5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Analysts no longer manually compare fields in spreadsheets. The Digital Worker extracts and compares data automatically, presenting clear findings and reasoning for each disposition reviewed.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2487168"/>
            <a:ext cx="4160520" cy="2423160"/>
          </a:xfrm>
          <a:prstGeom prst="rect">
            <a:avLst/>
          </a:prstGeom>
          <a:solidFill>
            <a:srgbClr val="141E2D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487168"/>
            <a:ext cx="50292" cy="2423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25511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 Where It Matters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18888" y="2889504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5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Ambiguous cases are flagged for </a:t>
            </a:r>
            <a:pPr indent="0" marL="0">
              <a:buNone/>
            </a:pPr>
            <a:r>
              <a:rPr lang="en-US" sz="1300" b="1" dirty="0">
                <a:solidFill>
                  <a:srgbClr val="F0D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review</a:t>
            </a:r>
            <a:pPr indent="0" marL="0">
              <a:buNone/>
            </a:pPr>
            <a:r>
              <a:rPr lang="en-US" sz="1300" dirty="0">
                <a:solidFill>
                  <a:srgbClr val="B8C5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so analysts spend their expertise on dispositions that truly need a human eye — not routine false positives.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F6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&amp; </a:t>
            </a:r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238244" y="795528"/>
            <a:ext cx="667512" cy="3200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1920240" cy="914400"/>
          </a:xfrm>
          <a:prstGeom prst="rect">
            <a:avLst/>
          </a:prstGeom>
          <a:solidFill>
            <a:srgbClr val="111827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332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3×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2004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QC COVERAGE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0" y="960120"/>
            <a:ext cx="1920240" cy="914400"/>
          </a:xfrm>
          <a:prstGeom prst="rect">
            <a:avLst/>
          </a:prstGeom>
          <a:solidFill>
            <a:srgbClr val="111827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0332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46888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SAVED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1920240" cy="914400"/>
          </a:xfrm>
          <a:prstGeom prst="rect">
            <a:avLst/>
          </a:prstGeom>
          <a:solidFill>
            <a:srgbClr val="111827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0332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61772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RATIONALE TYPES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66560" y="960120"/>
            <a:ext cx="1920240" cy="914400"/>
          </a:xfrm>
          <a:prstGeom prst="rect">
            <a:avLst/>
          </a:prstGeom>
          <a:solidFill>
            <a:srgbClr val="111827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0332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76656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 PER HIT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64108" y="2011680"/>
            <a:ext cx="2423160" cy="347472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4108" y="20116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the Business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60420" y="2011680"/>
            <a:ext cx="2423160" cy="347472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0420" y="20116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QA Analysts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56732" y="2011680"/>
            <a:ext cx="2423160" cy="34747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6732" y="20116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Compliance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2487168"/>
            <a:ext cx="4160520" cy="2423160"/>
          </a:xfrm>
          <a:prstGeom prst="rect">
            <a:avLst/>
          </a:prstGeom>
          <a:solidFill>
            <a:srgbClr val="141E2D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487168"/>
            <a:ext cx="50292" cy="24231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5511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Consistent &amp; Auditable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" y="2889504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5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AI review produces a </a:t>
            </a:r>
            <a:pPr indent="0" marL="0">
              <a:buNone/>
            </a:pPr>
            <a:r>
              <a:rPr lang="en-US" sz="1300" b="1" dirty="0">
                <a:solidFill>
                  <a:srgbClr val="F0D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rationale</a:t>
            </a:r>
            <a:pPr indent="0" marL="0">
              <a:buNone/>
            </a:pPr>
            <a:r>
              <a:rPr lang="en-US" sz="1300" dirty="0">
                <a:solidFill>
                  <a:srgbClr val="B8C5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reasoning. No more variability between analysts. Every decision is documented and traceable for audit purposes.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2487168"/>
            <a:ext cx="4160520" cy="2423160"/>
          </a:xfrm>
          <a:prstGeom prst="rect">
            <a:avLst/>
          </a:prstGeom>
          <a:solidFill>
            <a:srgbClr val="141E2D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508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487168"/>
            <a:ext cx="50292" cy="24231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25511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Regulatory Readiness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18888" y="2889504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5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Meeting the new 3% QC mandate is now achievable without scaling headcount. The complete audit trail — including AI reasoning and human overrides — demonstrates robust compliance to regulators.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9664" y="347472"/>
            <a:ext cx="804672" cy="804672"/>
          </a:xfrm>
          <a:prstGeom prst="ellipse">
            <a:avLst/>
          </a:prstGeom>
          <a:solidFill>
            <a:srgbClr val="111827"/>
          </a:solidFill>
          <a:ln w="1905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69664" y="347472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69664" y="78638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D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F4F6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</a:t>
            </a:r>
            <a:pPr algn="ctr" indent="0" marL="0">
              <a:buNone/>
            </a:pPr>
            <a:r>
              <a:rPr lang="en-US" sz="55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</a:t>
            </a:r>
            <a:endParaRPr lang="en-US" sz="5500" dirty="0"/>
          </a:p>
        </p:txBody>
      </p:sp>
      <p:sp>
        <p:nvSpPr>
          <p:cNvPr id="6" name="Shape 4"/>
          <p:cNvSpPr/>
          <p:nvPr/>
        </p:nvSpPr>
        <p:spPr>
          <a:xfrm>
            <a:off x="4238244" y="2130552"/>
            <a:ext cx="667512" cy="3200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134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Sanctions QA Digital Worker — Scaling Compliance with AI-Assisted Quality Assurance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435608" y="3273552"/>
            <a:ext cx="1920240" cy="100584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3319272"/>
            <a:ext cx="402336" cy="402336"/>
          </a:xfrm>
          <a:prstGeom prst="ellipse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3319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81328" y="3767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Reviews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81328" y="39867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Extracts &amp; reasons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11880" y="3273552"/>
            <a:ext cx="1920240" cy="100584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0832" y="3319272"/>
            <a:ext cx="402336" cy="402336"/>
          </a:xfrm>
          <a:prstGeom prst="ellipse">
            <a:avLst/>
          </a:prstGeom>
          <a:solidFill>
            <a:srgbClr val="60A5FA">
              <a:alpha val="12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3319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3767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Oversees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39867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&amp; decides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88152" y="3273552"/>
            <a:ext cx="1920240" cy="100584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47104" y="3319272"/>
            <a:ext cx="402336" cy="402336"/>
          </a:xfrm>
          <a:prstGeom prst="ellipse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47104" y="3319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BNY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833872" y="3767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BNY Complies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33872" y="39867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Audit-ready trail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4074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Sanctions Operations  •  BNY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466344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Digital Worker is a decision-support tool. Ambiguous cases are always escalated for human analyst review. AI assists; humans decide.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2026-04-12T18:06:31Z</dcterms:created>
  <dcterms:modified xsi:type="dcterms:W3CDTF">2026-04-12T18:06:31Z</dcterms:modified>
</cp:coreProperties>
</file>