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525"/>
        </a:solidFill>
      </p:bgPr>
    </p:bg>
    <p:spTree>
      <p:nvGrpSpPr>
        <p:cNvPr id="1" name=""/>
        <p:cNvGrpSpPr/>
        <p:nvPr/>
      </p:nvGrpSpPr>
      <p:grpSpPr>
        <a:xfrm>
          <a:off x="0" y="0"/>
          <a:ext cx="0" cy="0"/>
          <a:chOff x="0" y="0"/>
          <a:chExt cx="0" cy="0"/>
        </a:xfrm>
      </p:grpSpPr>
      <p:sp>
        <p:nvSpPr>
          <p:cNvPr id="2" name="Shape 0"/>
          <p:cNvSpPr/>
          <p:nvPr/>
        </p:nvSpPr>
        <p:spPr>
          <a:xfrm>
            <a:off x="4160520" y="502920"/>
            <a:ext cx="822960" cy="822960"/>
          </a:xfrm>
          <a:prstGeom prst="ellipse">
            <a:avLst/>
          </a:prstGeom>
          <a:solidFill>
            <a:srgbClr val="111827"/>
          </a:solidFill>
          <a:ln w="19050">
            <a:solidFill>
              <a:srgbClr val="D4A843">
                <a:alpha val="50000"/>
              </a:srgbClr>
            </a:solidFill>
            <a:prstDash val="solid"/>
          </a:ln>
        </p:spPr>
      </p:sp>
      <p:sp>
        <p:nvSpPr>
          <p:cNvPr id="3" name="Text 1"/>
          <p:cNvSpPr/>
          <p:nvPr/>
        </p:nvSpPr>
        <p:spPr>
          <a:xfrm>
            <a:off x="4160520" y="502920"/>
            <a:ext cx="822960" cy="822960"/>
          </a:xfrm>
          <a:prstGeom prst="rect">
            <a:avLst/>
          </a:prstGeom>
          <a:noFill/>
          <a:ln/>
        </p:spPr>
        <p:txBody>
          <a:bodyPr wrap="square" lIns="0" tIns="0" rIns="0" bIns="0" rtlCol="0" anchor="ctr"/>
          <a:lstStyle/>
          <a:p>
            <a:pPr algn="ctr" indent="0" marL="0">
              <a:buNone/>
            </a:pPr>
            <a:r>
              <a:rPr lang="en-US" sz="3000" b="1" dirty="0">
                <a:solidFill>
                  <a:srgbClr val="D4A843"/>
                </a:solidFill>
                <a:latin typeface="Segoe UI" pitchFamily="34" charset="0"/>
                <a:ea typeface="Segoe UI" pitchFamily="34" charset="-122"/>
                <a:cs typeface="Segoe UI" pitchFamily="34" charset="-120"/>
              </a:rPr>
              <a:t>A</a:t>
            </a:r>
            <a:endParaRPr lang="en-US" sz="3000" dirty="0"/>
          </a:p>
        </p:txBody>
      </p:sp>
      <p:sp>
        <p:nvSpPr>
          <p:cNvPr id="4" name="Text 2"/>
          <p:cNvSpPr/>
          <p:nvPr/>
        </p:nvSpPr>
        <p:spPr>
          <a:xfrm>
            <a:off x="457200" y="1417320"/>
            <a:ext cx="8229600" cy="868680"/>
          </a:xfrm>
          <a:prstGeom prst="rect">
            <a:avLst/>
          </a:prstGeom>
          <a:noFill/>
          <a:ln/>
        </p:spPr>
        <p:txBody>
          <a:bodyPr wrap="square" lIns="0" tIns="0" rIns="0" bIns="0" rtlCol="0" anchor="ctr"/>
          <a:lstStyle/>
          <a:p>
            <a:pPr algn="ctr" indent="0" marL="0">
              <a:buNone/>
            </a:pPr>
            <a:r>
              <a:rPr lang="en-US" sz="5800" b="1" dirty="0">
                <a:solidFill>
                  <a:srgbClr val="F4F6F8"/>
                </a:solidFill>
                <a:latin typeface="Segoe UI" pitchFamily="34" charset="0"/>
                <a:ea typeface="Segoe UI" pitchFamily="34" charset="-122"/>
                <a:cs typeface="Segoe UI" pitchFamily="34" charset="-120"/>
              </a:rPr>
              <a:t>Aurora</a:t>
            </a:r>
            <a:pPr algn="ctr" indent="0" marL="0">
              <a:buNone/>
            </a:pPr>
            <a:r>
              <a:rPr lang="en-US" sz="5800" b="1" dirty="0">
                <a:solidFill>
                  <a:srgbClr val="D4A843"/>
                </a:solidFill>
                <a:latin typeface="Segoe UI" pitchFamily="34" charset="0"/>
                <a:ea typeface="Segoe UI" pitchFamily="34" charset="-122"/>
                <a:cs typeface="Segoe UI" pitchFamily="34" charset="-120"/>
              </a:rPr>
              <a:t>AI</a:t>
            </a:r>
            <a:endParaRPr lang="en-US" sz="5800" dirty="0"/>
          </a:p>
        </p:txBody>
      </p:sp>
      <p:sp>
        <p:nvSpPr>
          <p:cNvPr id="5" name="Shape 3"/>
          <p:cNvSpPr/>
          <p:nvPr/>
        </p:nvSpPr>
        <p:spPr>
          <a:xfrm>
            <a:off x="4238244" y="2423160"/>
            <a:ext cx="667512" cy="32004"/>
          </a:xfrm>
          <a:prstGeom prst="rect">
            <a:avLst/>
          </a:prstGeom>
          <a:solidFill>
            <a:srgbClr val="D4A843"/>
          </a:solidFill>
          <a:ln w="12700">
            <a:solidFill>
              <a:srgbClr val="D4A843"/>
            </a:solidFill>
            <a:prstDash val="solid"/>
          </a:ln>
        </p:spPr>
      </p:sp>
      <p:sp>
        <p:nvSpPr>
          <p:cNvPr id="6" name="Text 4"/>
          <p:cNvSpPr/>
          <p:nvPr/>
        </p:nvSpPr>
        <p:spPr>
          <a:xfrm>
            <a:off x="731520" y="2606040"/>
            <a:ext cx="7680960" cy="457200"/>
          </a:xfrm>
          <a:prstGeom prst="rect">
            <a:avLst/>
          </a:prstGeom>
          <a:noFill/>
          <a:ln/>
        </p:spPr>
        <p:txBody>
          <a:bodyPr wrap="square" lIns="0" tIns="0" rIns="0" bIns="0" rtlCol="0" anchor="ctr"/>
          <a:lstStyle/>
          <a:p>
            <a:pPr algn="ctr" indent="0" marL="0">
              <a:buNone/>
            </a:pPr>
            <a:r>
              <a:rPr lang="en-US" sz="2000" dirty="0">
                <a:solidFill>
                  <a:srgbClr val="6B7B8D"/>
                </a:solidFill>
                <a:latin typeface="Segoe UI" pitchFamily="34" charset="0"/>
                <a:ea typeface="Segoe UI" pitchFamily="34" charset="-122"/>
                <a:cs typeface="Segoe UI" pitchFamily="34" charset="-120"/>
              </a:rPr>
              <a:t>AI-Powered Sanctions Screening Alert Reconciliation</a:t>
            </a:r>
            <a:endParaRPr lang="en-US" sz="2000" dirty="0"/>
          </a:p>
        </p:txBody>
      </p:sp>
      <p:sp>
        <p:nvSpPr>
          <p:cNvPr id="7" name="Text 5"/>
          <p:cNvSpPr/>
          <p:nvPr/>
        </p:nvSpPr>
        <p:spPr>
          <a:xfrm>
            <a:off x="457200" y="3246120"/>
            <a:ext cx="8229600" cy="274320"/>
          </a:xfrm>
          <a:prstGeom prst="rect">
            <a:avLst/>
          </a:prstGeom>
          <a:noFill/>
          <a:ln/>
        </p:spPr>
        <p:txBody>
          <a:bodyPr wrap="square" lIns="0" tIns="0" rIns="0" bIns="0" rtlCol="0" anchor="ctr"/>
          <a:lstStyle/>
          <a:p>
            <a:pPr algn="ctr" indent="0" marL="0">
              <a:buNone/>
            </a:pPr>
            <a:r>
              <a:rPr lang="en-US" sz="1400" dirty="0">
                <a:solidFill>
                  <a:srgbClr val="6B7B8D"/>
                </a:solidFill>
                <a:latin typeface="Segoe UI" pitchFamily="34" charset="0"/>
                <a:ea typeface="Segoe UI" pitchFamily="34" charset="-122"/>
                <a:cs typeface="Segoe UI" pitchFamily="34" charset="-120"/>
              </a:rPr>
              <a:t>Executive Overview  •  March 2026</a:t>
            </a:r>
            <a:endParaRPr lang="en-US" sz="1400" dirty="0"/>
          </a:p>
        </p:txBody>
      </p:sp>
      <p:sp>
        <p:nvSpPr>
          <p:cNvPr id="8" name="Text 6"/>
          <p:cNvSpPr/>
          <p:nvPr/>
        </p:nvSpPr>
        <p:spPr>
          <a:xfrm>
            <a:off x="457200" y="3566160"/>
            <a:ext cx="8229600" cy="228600"/>
          </a:xfrm>
          <a:prstGeom prst="rect">
            <a:avLst/>
          </a:prstGeom>
          <a:noFill/>
          <a:ln/>
        </p:spPr>
        <p:txBody>
          <a:bodyPr wrap="square" lIns="0" tIns="0" rIns="0" bIns="0" rtlCol="0" anchor="ctr"/>
          <a:lstStyle/>
          <a:p>
            <a:pPr algn="ctr" indent="0" marL="0">
              <a:buNone/>
            </a:pPr>
            <a:r>
              <a:rPr lang="en-US" sz="1100" dirty="0">
                <a:solidFill>
                  <a:srgbClr val="6B7B8D"/>
                </a:solidFill>
                <a:latin typeface="Segoe UI" pitchFamily="34" charset="0"/>
                <a:ea typeface="Segoe UI" pitchFamily="34" charset="-122"/>
                <a:cs typeface="Segoe UI" pitchFamily="34" charset="-120"/>
              </a:rPr>
              <a:t>Quality Screening Services — QSS Aurora Team</a:t>
            </a:r>
            <a:endParaRPr lang="en-US" sz="1100" dirty="0"/>
          </a:p>
        </p:txBody>
      </p:sp>
      <p:sp>
        <p:nvSpPr>
          <p:cNvPr id="9" name="Text 7"/>
          <p:cNvSpPr/>
          <p:nvPr/>
        </p:nvSpPr>
        <p:spPr>
          <a:xfrm>
            <a:off x="182880" y="4754880"/>
            <a:ext cx="1828800" cy="228600"/>
          </a:xfrm>
          <a:prstGeom prst="rect">
            <a:avLst/>
          </a:prstGeom>
          <a:noFill/>
          <a:ln/>
        </p:spPr>
        <p:txBody>
          <a:bodyPr wrap="square" lIns="0" tIns="0" rIns="0" bIns="0" rtlCol="0" anchor="ctr"/>
          <a:lstStyle/>
          <a:p>
            <a:pPr indent="0" marL="0">
              <a:buNone/>
            </a:pPr>
            <a:r>
              <a:rPr lang="en-US" sz="900" spc="200" kern="0" dirty="0">
                <a:solidFill>
                  <a:srgbClr val="6B7B8D"/>
                </a:solidFill>
                <a:latin typeface="Segoe UI" pitchFamily="34" charset="0"/>
                <a:ea typeface="Segoe UI" pitchFamily="34" charset="-122"/>
                <a:cs typeface="Segoe UI" pitchFamily="34" charset="-120"/>
              </a:rPr>
              <a:t>BNY  •  AuroraAI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A"/>
        </a:solidFill>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algn="ctr" indent="0" marL="0">
              <a:buNone/>
            </a:pPr>
            <a:r>
              <a:rPr lang="en-US" sz="3600" b="1" dirty="0">
                <a:solidFill>
                  <a:srgbClr val="F4F6F8"/>
                </a:solidFill>
                <a:latin typeface="Segoe UI" pitchFamily="34" charset="0"/>
                <a:ea typeface="Segoe UI" pitchFamily="34" charset="-122"/>
                <a:cs typeface="Segoe UI" pitchFamily="34" charset="-120"/>
              </a:rPr>
              <a:t>The </a:t>
            </a:r>
            <a:pPr algn="ctr" indent="0" marL="0">
              <a:buNone/>
            </a:pPr>
            <a:r>
              <a:rPr lang="en-US" sz="3600" b="1" dirty="0">
                <a:solidFill>
                  <a:srgbClr val="D4A843"/>
                </a:solidFill>
                <a:latin typeface="Segoe UI" pitchFamily="34" charset="0"/>
                <a:ea typeface="Segoe UI" pitchFamily="34" charset="-122"/>
                <a:cs typeface="Segoe UI" pitchFamily="34" charset="-120"/>
              </a:rPr>
              <a:t>Challenge</a:t>
            </a:r>
            <a:endParaRPr lang="en-US" sz="3600" dirty="0"/>
          </a:p>
        </p:txBody>
      </p:sp>
      <p:sp>
        <p:nvSpPr>
          <p:cNvPr id="3" name="Shape 1"/>
          <p:cNvSpPr/>
          <p:nvPr/>
        </p:nvSpPr>
        <p:spPr>
          <a:xfrm>
            <a:off x="4238244" y="795528"/>
            <a:ext cx="667512" cy="32004"/>
          </a:xfrm>
          <a:prstGeom prst="rect">
            <a:avLst/>
          </a:prstGeom>
          <a:solidFill>
            <a:srgbClr val="D4A843"/>
          </a:solidFill>
          <a:ln w="12700">
            <a:solidFill>
              <a:srgbClr val="D4A843"/>
            </a:solidFill>
            <a:prstDash val="solid"/>
          </a:ln>
        </p:spPr>
      </p:sp>
      <p:sp>
        <p:nvSpPr>
          <p:cNvPr id="4" name="Text 2"/>
          <p:cNvSpPr/>
          <p:nvPr/>
        </p:nvSpPr>
        <p:spPr>
          <a:xfrm>
            <a:off x="411480" y="1005840"/>
            <a:ext cx="3840480" cy="320040"/>
          </a:xfrm>
          <a:prstGeom prst="rect">
            <a:avLst/>
          </a:prstGeom>
          <a:noFill/>
          <a:ln/>
        </p:spPr>
        <p:txBody>
          <a:bodyPr wrap="square" lIns="0" tIns="0" rIns="0" bIns="0" rtlCol="0" anchor="ctr"/>
          <a:lstStyle/>
          <a:p>
            <a:pPr indent="0" marL="0">
              <a:buNone/>
            </a:pPr>
            <a:r>
              <a:rPr lang="en-US" sz="1700" b="1" dirty="0">
                <a:solidFill>
                  <a:srgbClr val="EF4444"/>
                </a:solidFill>
                <a:latin typeface="Segoe UI" pitchFamily="34" charset="0"/>
                <a:ea typeface="Segoe UI" pitchFamily="34" charset="-122"/>
                <a:cs typeface="Segoe UI" pitchFamily="34" charset="-120"/>
              </a:rPr>
              <a:t>Current Pain Points</a:t>
            </a:r>
            <a:endParaRPr lang="en-US" sz="1700" dirty="0"/>
          </a:p>
        </p:txBody>
      </p:sp>
      <p:sp>
        <p:nvSpPr>
          <p:cNvPr id="5" name="Shape 3"/>
          <p:cNvSpPr/>
          <p:nvPr/>
        </p:nvSpPr>
        <p:spPr>
          <a:xfrm>
            <a:off x="411480" y="1417320"/>
            <a:ext cx="384048" cy="384048"/>
          </a:xfrm>
          <a:prstGeom prst="rect">
            <a:avLst/>
          </a:prstGeom>
          <a:solidFill>
            <a:srgbClr val="EF4444">
              <a:alpha val="12000"/>
            </a:srgbClr>
          </a:solidFill>
          <a:ln w="12700">
            <a:solidFill>
              <a:srgbClr val="EF4444"/>
            </a:solidFill>
            <a:prstDash val="solid"/>
          </a:ln>
        </p:spPr>
      </p:sp>
      <p:sp>
        <p:nvSpPr>
          <p:cNvPr id="6" name="Text 4"/>
          <p:cNvSpPr/>
          <p:nvPr/>
        </p:nvSpPr>
        <p:spPr>
          <a:xfrm>
            <a:off x="411480" y="1417320"/>
            <a:ext cx="384048" cy="384048"/>
          </a:xfrm>
          <a:prstGeom prst="rect">
            <a:avLst/>
          </a:prstGeom>
          <a:noFill/>
          <a:ln/>
        </p:spPr>
        <p:txBody>
          <a:bodyPr wrap="square" lIns="0" tIns="0" rIns="0" bIns="0" rtlCol="0" anchor="ctr"/>
          <a:lstStyle/>
          <a:p>
            <a:pPr algn="ctr" indent="0" marL="0">
              <a:buNone/>
            </a:pPr>
            <a:r>
              <a:rPr lang="en-US" sz="1600" dirty="0">
                <a:solidFill>
                  <a:srgbClr val="EF4444"/>
                </a:solidFill>
                <a:latin typeface="Segoe UI" pitchFamily="34" charset="0"/>
                <a:ea typeface="Segoe UI" pitchFamily="34" charset="-122"/>
                <a:cs typeface="Segoe UI" pitchFamily="34" charset="-120"/>
              </a:rPr>
              <a:t>↑</a:t>
            </a:r>
            <a:endParaRPr lang="en-US" sz="1600" dirty="0"/>
          </a:p>
        </p:txBody>
      </p:sp>
      <p:sp>
        <p:nvSpPr>
          <p:cNvPr id="7" name="Text 5"/>
          <p:cNvSpPr/>
          <p:nvPr/>
        </p:nvSpPr>
        <p:spPr>
          <a:xfrm>
            <a:off x="886968" y="1417320"/>
            <a:ext cx="3291840" cy="201168"/>
          </a:xfrm>
          <a:prstGeom prst="rect">
            <a:avLst/>
          </a:prstGeom>
          <a:noFill/>
          <a:ln/>
        </p:spPr>
        <p:txBody>
          <a:bodyPr wrap="square" lIns="0" tIns="0" rIns="0" bIns="0" rtlCol="0" anchor="ctr"/>
          <a:lstStyle/>
          <a:p>
            <a:pPr indent="0" marL="0">
              <a:buNone/>
            </a:pPr>
            <a:r>
              <a:rPr lang="en-US" sz="1300" b="1" dirty="0">
                <a:solidFill>
                  <a:srgbClr val="F4F6F8"/>
                </a:solidFill>
                <a:latin typeface="Segoe UI" pitchFamily="34" charset="0"/>
                <a:ea typeface="Segoe UI" pitchFamily="34" charset="-122"/>
                <a:cs typeface="Segoe UI" pitchFamily="34" charset="-120"/>
              </a:rPr>
              <a:t>High Volume</a:t>
            </a:r>
            <a:endParaRPr lang="en-US" sz="1300" dirty="0"/>
          </a:p>
        </p:txBody>
      </p:sp>
      <p:sp>
        <p:nvSpPr>
          <p:cNvPr id="8" name="Text 6"/>
          <p:cNvSpPr/>
          <p:nvPr/>
        </p:nvSpPr>
        <p:spPr>
          <a:xfrm>
            <a:off x="886968" y="1618488"/>
            <a:ext cx="3291840" cy="201168"/>
          </a:xfrm>
          <a:prstGeom prst="rect">
            <a:avLst/>
          </a:prstGeom>
          <a:noFill/>
          <a:ln/>
        </p:spPr>
        <p:txBody>
          <a:bodyPr wrap="square" lIns="0" tIns="0" rIns="0" bIns="0" rtlCol="0" anchor="ctr"/>
          <a:lstStyle/>
          <a:p>
            <a:pPr indent="0" marL="0">
              <a:buNone/>
            </a:pPr>
            <a:r>
              <a:rPr lang="en-US" sz="1000" dirty="0">
                <a:solidFill>
                  <a:srgbClr val="6B7B8D"/>
                </a:solidFill>
                <a:latin typeface="Segoe UI" pitchFamily="34" charset="0"/>
                <a:ea typeface="Segoe UI" pitchFamily="34" charset="-122"/>
                <a:cs typeface="Segoe UI" pitchFamily="34" charset="-120"/>
              </a:rPr>
              <a:t>Thousands of alerts daily across AMER, EMEA, APAC</a:t>
            </a:r>
            <a:endParaRPr lang="en-US" sz="1000" dirty="0"/>
          </a:p>
        </p:txBody>
      </p:sp>
      <p:sp>
        <p:nvSpPr>
          <p:cNvPr id="9" name="Shape 7"/>
          <p:cNvSpPr/>
          <p:nvPr/>
        </p:nvSpPr>
        <p:spPr>
          <a:xfrm>
            <a:off x="411480" y="2148840"/>
            <a:ext cx="384048" cy="384048"/>
          </a:xfrm>
          <a:prstGeom prst="rect">
            <a:avLst/>
          </a:prstGeom>
          <a:solidFill>
            <a:srgbClr val="EF4444">
              <a:alpha val="12000"/>
            </a:srgbClr>
          </a:solidFill>
          <a:ln w="12700">
            <a:solidFill>
              <a:srgbClr val="EF4444"/>
            </a:solidFill>
            <a:prstDash val="solid"/>
          </a:ln>
        </p:spPr>
      </p:sp>
      <p:sp>
        <p:nvSpPr>
          <p:cNvPr id="10" name="Text 8"/>
          <p:cNvSpPr/>
          <p:nvPr/>
        </p:nvSpPr>
        <p:spPr>
          <a:xfrm>
            <a:off x="411480" y="2148840"/>
            <a:ext cx="384048" cy="384048"/>
          </a:xfrm>
          <a:prstGeom prst="rect">
            <a:avLst/>
          </a:prstGeom>
          <a:noFill/>
          <a:ln/>
        </p:spPr>
        <p:txBody>
          <a:bodyPr wrap="square" lIns="0" tIns="0" rIns="0" bIns="0" rtlCol="0" anchor="ctr"/>
          <a:lstStyle/>
          <a:p>
            <a:pPr algn="ctr" indent="0" marL="0">
              <a:buNone/>
            </a:pPr>
            <a:r>
              <a:rPr lang="en-US" sz="1600" dirty="0">
                <a:solidFill>
                  <a:srgbClr val="EF4444"/>
                </a:solidFill>
                <a:latin typeface="Segoe UI" pitchFamily="34" charset="0"/>
                <a:ea typeface="Segoe UI" pitchFamily="34" charset="-122"/>
                <a:cs typeface="Segoe UI" pitchFamily="34" charset="-120"/>
              </a:rPr>
              <a:t>⏱</a:t>
            </a:r>
            <a:endParaRPr lang="en-US" sz="1600" dirty="0"/>
          </a:p>
        </p:txBody>
      </p:sp>
      <p:sp>
        <p:nvSpPr>
          <p:cNvPr id="11" name="Text 9"/>
          <p:cNvSpPr/>
          <p:nvPr/>
        </p:nvSpPr>
        <p:spPr>
          <a:xfrm>
            <a:off x="886968" y="2148840"/>
            <a:ext cx="3291840" cy="201168"/>
          </a:xfrm>
          <a:prstGeom prst="rect">
            <a:avLst/>
          </a:prstGeom>
          <a:noFill/>
          <a:ln/>
        </p:spPr>
        <p:txBody>
          <a:bodyPr wrap="square" lIns="0" tIns="0" rIns="0" bIns="0" rtlCol="0" anchor="ctr"/>
          <a:lstStyle/>
          <a:p>
            <a:pPr indent="0" marL="0">
              <a:buNone/>
            </a:pPr>
            <a:r>
              <a:rPr lang="en-US" sz="1300" b="1" dirty="0">
                <a:solidFill>
                  <a:srgbClr val="F4F6F8"/>
                </a:solidFill>
                <a:latin typeface="Segoe UI" pitchFamily="34" charset="0"/>
                <a:ea typeface="Segoe UI" pitchFamily="34" charset="-122"/>
                <a:cs typeface="Segoe UI" pitchFamily="34" charset="-120"/>
              </a:rPr>
              <a:t>Manual Review</a:t>
            </a:r>
            <a:endParaRPr lang="en-US" sz="1300" dirty="0"/>
          </a:p>
        </p:txBody>
      </p:sp>
      <p:sp>
        <p:nvSpPr>
          <p:cNvPr id="12" name="Text 10"/>
          <p:cNvSpPr/>
          <p:nvPr/>
        </p:nvSpPr>
        <p:spPr>
          <a:xfrm>
            <a:off x="886968" y="2350008"/>
            <a:ext cx="3291840" cy="201168"/>
          </a:xfrm>
          <a:prstGeom prst="rect">
            <a:avLst/>
          </a:prstGeom>
          <a:noFill/>
          <a:ln/>
        </p:spPr>
        <p:txBody>
          <a:bodyPr wrap="square" lIns="0" tIns="0" rIns="0" bIns="0" rtlCol="0" anchor="ctr"/>
          <a:lstStyle/>
          <a:p>
            <a:pPr indent="0" marL="0">
              <a:buNone/>
            </a:pPr>
            <a:r>
              <a:rPr lang="en-US" sz="1000" dirty="0">
                <a:solidFill>
                  <a:srgbClr val="6B7B8D"/>
                </a:solidFill>
                <a:latin typeface="Segoe UI" pitchFamily="34" charset="0"/>
                <a:ea typeface="Segoe UI" pitchFamily="34" charset="-122"/>
                <a:cs typeface="Segoe UI" pitchFamily="34" charset="-120"/>
              </a:rPr>
              <a:t>15–30 min per alert, field-by-field comparison</a:t>
            </a:r>
            <a:endParaRPr lang="en-US" sz="1000" dirty="0"/>
          </a:p>
        </p:txBody>
      </p:sp>
      <p:sp>
        <p:nvSpPr>
          <p:cNvPr id="13" name="Shape 11"/>
          <p:cNvSpPr/>
          <p:nvPr/>
        </p:nvSpPr>
        <p:spPr>
          <a:xfrm>
            <a:off x="411480" y="2880360"/>
            <a:ext cx="384048" cy="384048"/>
          </a:xfrm>
          <a:prstGeom prst="rect">
            <a:avLst/>
          </a:prstGeom>
          <a:solidFill>
            <a:srgbClr val="EF4444">
              <a:alpha val="12000"/>
            </a:srgbClr>
          </a:solidFill>
          <a:ln w="12700">
            <a:solidFill>
              <a:srgbClr val="EF4444"/>
            </a:solidFill>
            <a:prstDash val="solid"/>
          </a:ln>
        </p:spPr>
      </p:sp>
      <p:sp>
        <p:nvSpPr>
          <p:cNvPr id="14" name="Text 12"/>
          <p:cNvSpPr/>
          <p:nvPr/>
        </p:nvSpPr>
        <p:spPr>
          <a:xfrm>
            <a:off x="411480" y="2880360"/>
            <a:ext cx="384048" cy="384048"/>
          </a:xfrm>
          <a:prstGeom prst="rect">
            <a:avLst/>
          </a:prstGeom>
          <a:noFill/>
          <a:ln/>
        </p:spPr>
        <p:txBody>
          <a:bodyPr wrap="square" lIns="0" tIns="0" rIns="0" bIns="0" rtlCol="0" anchor="ctr"/>
          <a:lstStyle/>
          <a:p>
            <a:pPr algn="ctr" indent="0" marL="0">
              <a:buNone/>
            </a:pPr>
            <a:r>
              <a:rPr lang="en-US" sz="1600" dirty="0">
                <a:solidFill>
                  <a:srgbClr val="EF4444"/>
                </a:solidFill>
                <a:latin typeface="Segoe UI" pitchFamily="34" charset="0"/>
                <a:ea typeface="Segoe UI" pitchFamily="34" charset="-122"/>
                <a:cs typeface="Segoe UI" pitchFamily="34" charset="-120"/>
              </a:rPr>
              <a:t>≠</a:t>
            </a:r>
            <a:endParaRPr lang="en-US" sz="1600" dirty="0"/>
          </a:p>
        </p:txBody>
      </p:sp>
      <p:sp>
        <p:nvSpPr>
          <p:cNvPr id="15" name="Text 13"/>
          <p:cNvSpPr/>
          <p:nvPr/>
        </p:nvSpPr>
        <p:spPr>
          <a:xfrm>
            <a:off x="886968" y="2880360"/>
            <a:ext cx="3291840" cy="201168"/>
          </a:xfrm>
          <a:prstGeom prst="rect">
            <a:avLst/>
          </a:prstGeom>
          <a:noFill/>
          <a:ln/>
        </p:spPr>
        <p:txBody>
          <a:bodyPr wrap="square" lIns="0" tIns="0" rIns="0" bIns="0" rtlCol="0" anchor="ctr"/>
          <a:lstStyle/>
          <a:p>
            <a:pPr indent="0" marL="0">
              <a:buNone/>
            </a:pPr>
            <a:r>
              <a:rPr lang="en-US" sz="1300" b="1" dirty="0">
                <a:solidFill>
                  <a:srgbClr val="F4F6F8"/>
                </a:solidFill>
                <a:latin typeface="Segoe UI" pitchFamily="34" charset="0"/>
                <a:ea typeface="Segoe UI" pitchFamily="34" charset="-122"/>
                <a:cs typeface="Segoe UI" pitchFamily="34" charset="-120"/>
              </a:rPr>
              <a:t>Inconsistency</a:t>
            </a:r>
            <a:endParaRPr lang="en-US" sz="1300" dirty="0"/>
          </a:p>
        </p:txBody>
      </p:sp>
      <p:sp>
        <p:nvSpPr>
          <p:cNvPr id="16" name="Text 14"/>
          <p:cNvSpPr/>
          <p:nvPr/>
        </p:nvSpPr>
        <p:spPr>
          <a:xfrm>
            <a:off x="886968" y="3081528"/>
            <a:ext cx="3291840" cy="201168"/>
          </a:xfrm>
          <a:prstGeom prst="rect">
            <a:avLst/>
          </a:prstGeom>
          <a:noFill/>
          <a:ln/>
        </p:spPr>
        <p:txBody>
          <a:bodyPr wrap="square" lIns="0" tIns="0" rIns="0" bIns="0" rtlCol="0" anchor="ctr"/>
          <a:lstStyle/>
          <a:p>
            <a:pPr indent="0" marL="0">
              <a:buNone/>
            </a:pPr>
            <a:r>
              <a:rPr lang="en-US" sz="1000" dirty="0">
                <a:solidFill>
                  <a:srgbClr val="6B7B8D"/>
                </a:solidFill>
                <a:latin typeface="Segoe UI" pitchFamily="34" charset="0"/>
                <a:ea typeface="Segoe UI" pitchFamily="34" charset="-122"/>
                <a:cs typeface="Segoe UI" pitchFamily="34" charset="-120"/>
              </a:rPr>
              <a:t>Decision quality varies by analyst, shift, and fatigue</a:t>
            </a:r>
            <a:endParaRPr lang="en-US" sz="1000" dirty="0"/>
          </a:p>
        </p:txBody>
      </p:sp>
      <p:sp>
        <p:nvSpPr>
          <p:cNvPr id="17" name="Shape 15"/>
          <p:cNvSpPr/>
          <p:nvPr/>
        </p:nvSpPr>
        <p:spPr>
          <a:xfrm>
            <a:off x="411480" y="3611880"/>
            <a:ext cx="384048" cy="384048"/>
          </a:xfrm>
          <a:prstGeom prst="rect">
            <a:avLst/>
          </a:prstGeom>
          <a:solidFill>
            <a:srgbClr val="EF4444">
              <a:alpha val="12000"/>
            </a:srgbClr>
          </a:solidFill>
          <a:ln w="12700">
            <a:solidFill>
              <a:srgbClr val="EF4444"/>
            </a:solidFill>
            <a:prstDash val="solid"/>
          </a:ln>
        </p:spPr>
      </p:sp>
      <p:sp>
        <p:nvSpPr>
          <p:cNvPr id="18" name="Text 16"/>
          <p:cNvSpPr/>
          <p:nvPr/>
        </p:nvSpPr>
        <p:spPr>
          <a:xfrm>
            <a:off x="411480" y="3611880"/>
            <a:ext cx="384048" cy="384048"/>
          </a:xfrm>
          <a:prstGeom prst="rect">
            <a:avLst/>
          </a:prstGeom>
          <a:noFill/>
          <a:ln/>
        </p:spPr>
        <p:txBody>
          <a:bodyPr wrap="square" lIns="0" tIns="0" rIns="0" bIns="0" rtlCol="0" anchor="ctr"/>
          <a:lstStyle/>
          <a:p>
            <a:pPr algn="ctr" indent="0" marL="0">
              <a:buNone/>
            </a:pPr>
            <a:r>
              <a:rPr lang="en-US" sz="1600" dirty="0">
                <a:solidFill>
                  <a:srgbClr val="EF4444"/>
                </a:solidFill>
                <a:latin typeface="Segoe UI" pitchFamily="34" charset="0"/>
                <a:ea typeface="Segoe UI" pitchFamily="34" charset="-122"/>
                <a:cs typeface="Segoe UI" pitchFamily="34" charset="-120"/>
              </a:rPr>
              <a:t>⚠</a:t>
            </a:r>
            <a:endParaRPr lang="en-US" sz="1600" dirty="0"/>
          </a:p>
        </p:txBody>
      </p:sp>
      <p:sp>
        <p:nvSpPr>
          <p:cNvPr id="19" name="Text 17"/>
          <p:cNvSpPr/>
          <p:nvPr/>
        </p:nvSpPr>
        <p:spPr>
          <a:xfrm>
            <a:off x="886968" y="3611880"/>
            <a:ext cx="3291840" cy="201168"/>
          </a:xfrm>
          <a:prstGeom prst="rect">
            <a:avLst/>
          </a:prstGeom>
          <a:noFill/>
          <a:ln/>
        </p:spPr>
        <p:txBody>
          <a:bodyPr wrap="square" lIns="0" tIns="0" rIns="0" bIns="0" rtlCol="0" anchor="ctr"/>
          <a:lstStyle/>
          <a:p>
            <a:pPr indent="0" marL="0">
              <a:buNone/>
            </a:pPr>
            <a:r>
              <a:rPr lang="en-US" sz="1300" b="1" dirty="0">
                <a:solidFill>
                  <a:srgbClr val="F4F6F8"/>
                </a:solidFill>
                <a:latin typeface="Segoe UI" pitchFamily="34" charset="0"/>
                <a:ea typeface="Segoe UI" pitchFamily="34" charset="-122"/>
                <a:cs typeface="Segoe UI" pitchFamily="34" charset="-120"/>
              </a:rPr>
              <a:t>Compliance Risk</a:t>
            </a:r>
            <a:endParaRPr lang="en-US" sz="1300" dirty="0"/>
          </a:p>
        </p:txBody>
      </p:sp>
      <p:sp>
        <p:nvSpPr>
          <p:cNvPr id="20" name="Text 18"/>
          <p:cNvSpPr/>
          <p:nvPr/>
        </p:nvSpPr>
        <p:spPr>
          <a:xfrm>
            <a:off x="886968" y="3813048"/>
            <a:ext cx="3291840" cy="201168"/>
          </a:xfrm>
          <a:prstGeom prst="rect">
            <a:avLst/>
          </a:prstGeom>
          <a:noFill/>
          <a:ln/>
        </p:spPr>
        <p:txBody>
          <a:bodyPr wrap="square" lIns="0" tIns="0" rIns="0" bIns="0" rtlCol="0" anchor="ctr"/>
          <a:lstStyle/>
          <a:p>
            <a:pPr indent="0" marL="0">
              <a:buNone/>
            </a:pPr>
            <a:r>
              <a:rPr lang="en-US" sz="1000" dirty="0">
                <a:solidFill>
                  <a:srgbClr val="6B7B8D"/>
                </a:solidFill>
                <a:latin typeface="Segoe UI" pitchFamily="34" charset="0"/>
                <a:ea typeface="Segoe UI" pitchFamily="34" charset="-122"/>
                <a:cs typeface="Segoe UI" pitchFamily="34" charset="-120"/>
              </a:rPr>
              <a:t>Human fatigue leads to inconsistent decisions</a:t>
            </a:r>
            <a:endParaRPr lang="en-US" sz="1000" dirty="0"/>
          </a:p>
        </p:txBody>
      </p:sp>
      <p:sp>
        <p:nvSpPr>
          <p:cNvPr id="21" name="Text 19"/>
          <p:cNvSpPr/>
          <p:nvPr/>
        </p:nvSpPr>
        <p:spPr>
          <a:xfrm>
            <a:off x="4754880" y="1005840"/>
            <a:ext cx="3931920" cy="320040"/>
          </a:xfrm>
          <a:prstGeom prst="rect">
            <a:avLst/>
          </a:prstGeom>
          <a:noFill/>
          <a:ln/>
        </p:spPr>
        <p:txBody>
          <a:bodyPr wrap="square" lIns="0" tIns="0" rIns="0" bIns="0" rtlCol="0" anchor="ctr"/>
          <a:lstStyle/>
          <a:p>
            <a:pPr indent="0" marL="0">
              <a:buNone/>
            </a:pPr>
            <a:r>
              <a:rPr lang="en-US" sz="1700" b="1" dirty="0">
                <a:solidFill>
                  <a:srgbClr val="22C55E"/>
                </a:solidFill>
                <a:latin typeface="Segoe UI" pitchFamily="34" charset="0"/>
                <a:ea typeface="Segoe UI" pitchFamily="34" charset="-122"/>
                <a:cs typeface="Segoe UI" pitchFamily="34" charset="-120"/>
              </a:rPr>
              <a:t>The Opportunity</a:t>
            </a:r>
            <a:endParaRPr lang="en-US" sz="1700" dirty="0"/>
          </a:p>
        </p:txBody>
      </p:sp>
      <p:sp>
        <p:nvSpPr>
          <p:cNvPr id="22" name="Shape 20"/>
          <p:cNvSpPr/>
          <p:nvPr/>
        </p:nvSpPr>
        <p:spPr>
          <a:xfrm>
            <a:off x="4754880" y="1389888"/>
            <a:ext cx="3931920" cy="96012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23" name="Shape 21"/>
          <p:cNvSpPr/>
          <p:nvPr/>
        </p:nvSpPr>
        <p:spPr>
          <a:xfrm>
            <a:off x="4754880" y="1389888"/>
            <a:ext cx="50292" cy="960120"/>
          </a:xfrm>
          <a:prstGeom prst="rect">
            <a:avLst/>
          </a:prstGeom>
          <a:solidFill>
            <a:srgbClr val="22C55E"/>
          </a:solidFill>
          <a:ln w="12700">
            <a:solidFill>
              <a:srgbClr val="22C55E"/>
            </a:solidFill>
            <a:prstDash val="solid"/>
          </a:ln>
        </p:spPr>
      </p:sp>
      <p:sp>
        <p:nvSpPr>
          <p:cNvPr id="24" name="Text 22"/>
          <p:cNvSpPr/>
          <p:nvPr/>
        </p:nvSpPr>
        <p:spPr>
          <a:xfrm>
            <a:off x="4892040" y="1444752"/>
            <a:ext cx="3657600" cy="850392"/>
          </a:xfrm>
          <a:prstGeom prst="rect">
            <a:avLst/>
          </a:prstGeom>
          <a:noFill/>
          <a:ln/>
        </p:spPr>
        <p:txBody>
          <a:bodyPr wrap="square" lIns="0" tIns="0" rIns="0" bIns="0" rtlCol="0" anchor="ctr"/>
          <a:lstStyle/>
          <a:p>
            <a:pPr indent="0" marL="0">
              <a:buNone/>
            </a:pPr>
            <a:r>
              <a:rPr lang="en-US" sz="1300" dirty="0">
                <a:solidFill>
                  <a:srgbClr val="B8C5D3"/>
                </a:solidFill>
                <a:latin typeface="Segoe UI" pitchFamily="34" charset="0"/>
                <a:ea typeface="Segoe UI" pitchFamily="34" charset="-122"/>
                <a:cs typeface="Segoe UI" pitchFamily="34" charset="-120"/>
              </a:rPr>
              <a:t>Leverage </a:t>
            </a:r>
            <a:pPr indent="0" marL="0">
              <a:buNone/>
            </a:pPr>
            <a:r>
              <a:rPr lang="en-US" sz="1300" b="1" dirty="0">
                <a:solidFill>
                  <a:srgbClr val="F0D080"/>
                </a:solidFill>
                <a:latin typeface="Segoe UI" pitchFamily="34" charset="0"/>
                <a:ea typeface="Segoe UI" pitchFamily="34" charset="-122"/>
                <a:cs typeface="Segoe UI" pitchFamily="34" charset="-120"/>
              </a:rPr>
              <a:t>Generative AI</a:t>
            </a:r>
            <a:pPr indent="0" marL="0">
              <a:buNone/>
            </a:pPr>
            <a:r>
              <a:rPr lang="en-US" sz="1300" dirty="0">
                <a:solidFill>
                  <a:srgbClr val="B8C5D3"/>
                </a:solidFill>
                <a:latin typeface="Segoe UI" pitchFamily="34" charset="0"/>
                <a:ea typeface="Segoe UI" pitchFamily="34" charset="-122"/>
                <a:cs typeface="Segoe UI" pitchFamily="34" charset="-120"/>
              </a:rPr>
              <a:t> to automate alert review, providing consistent, auditable recommendations while keeping the </a:t>
            </a:r>
            <a:pPr indent="0" marL="0">
              <a:buNone/>
            </a:pPr>
            <a:r>
              <a:rPr lang="en-US" sz="1300" b="1" dirty="0">
                <a:solidFill>
                  <a:srgbClr val="F0D080"/>
                </a:solidFill>
                <a:latin typeface="Segoe UI" pitchFamily="34" charset="0"/>
                <a:ea typeface="Segoe UI" pitchFamily="34" charset="-122"/>
                <a:cs typeface="Segoe UI" pitchFamily="34" charset="-120"/>
              </a:rPr>
              <a:t>human analyst as final decision-maker</a:t>
            </a:r>
            <a:pPr indent="0" marL="0">
              <a:buNone/>
            </a:pPr>
            <a:r>
              <a:rPr lang="en-US" sz="1300" dirty="0">
                <a:solidFill>
                  <a:srgbClr val="B8C5D3"/>
                </a:solidFill>
                <a:latin typeface="Segoe UI" pitchFamily="34" charset="0"/>
                <a:ea typeface="Segoe UI" pitchFamily="34" charset="-122"/>
                <a:cs typeface="Segoe UI" pitchFamily="34" charset="-120"/>
              </a:rPr>
              <a:t>.</a:t>
            </a:r>
            <a:endParaRPr lang="en-US" sz="1300" dirty="0"/>
          </a:p>
        </p:txBody>
      </p:sp>
      <p:sp>
        <p:nvSpPr>
          <p:cNvPr id="25" name="Shape 23"/>
          <p:cNvSpPr/>
          <p:nvPr/>
        </p:nvSpPr>
        <p:spPr>
          <a:xfrm>
            <a:off x="4754880" y="2487168"/>
            <a:ext cx="1828800" cy="1417320"/>
          </a:xfrm>
          <a:prstGeom prst="rect">
            <a:avLst/>
          </a:prstGeom>
          <a:solidFill>
            <a:srgbClr val="EF4444">
              <a:alpha val="6000"/>
            </a:srgbClr>
          </a:solidFill>
          <a:ln w="12700">
            <a:solidFill>
              <a:srgbClr val="EF4444">
                <a:alpha val="30000"/>
              </a:srgbClr>
            </a:solidFill>
            <a:prstDash val="solid"/>
          </a:ln>
        </p:spPr>
      </p:sp>
      <p:sp>
        <p:nvSpPr>
          <p:cNvPr id="26" name="Text 24"/>
          <p:cNvSpPr/>
          <p:nvPr/>
        </p:nvSpPr>
        <p:spPr>
          <a:xfrm>
            <a:off x="4754880" y="2542032"/>
            <a:ext cx="1828800" cy="201168"/>
          </a:xfrm>
          <a:prstGeom prst="rect">
            <a:avLst/>
          </a:prstGeom>
          <a:noFill/>
          <a:ln/>
        </p:spPr>
        <p:txBody>
          <a:bodyPr wrap="square" lIns="0" tIns="0" rIns="0" bIns="0" rtlCol="0" anchor="ctr"/>
          <a:lstStyle/>
          <a:p>
            <a:pPr algn="ctr" indent="0" marL="0">
              <a:buNone/>
            </a:pPr>
            <a:r>
              <a:rPr lang="en-US" sz="1100" b="1" dirty="0">
                <a:solidFill>
                  <a:srgbClr val="EF4444"/>
                </a:solidFill>
                <a:latin typeface="Segoe UI" pitchFamily="34" charset="0"/>
                <a:ea typeface="Segoe UI" pitchFamily="34" charset="-122"/>
                <a:cs typeface="Segoe UI" pitchFamily="34" charset="-120"/>
              </a:rPr>
              <a:t>TODAY</a:t>
            </a:r>
            <a:endParaRPr lang="en-US" sz="1100" dirty="0"/>
          </a:p>
        </p:txBody>
      </p:sp>
      <p:sp>
        <p:nvSpPr>
          <p:cNvPr id="27" name="Shape 25"/>
          <p:cNvSpPr/>
          <p:nvPr/>
        </p:nvSpPr>
        <p:spPr>
          <a:xfrm>
            <a:off x="5120640" y="2788920"/>
            <a:ext cx="1097280" cy="1097280"/>
          </a:xfrm>
          <a:prstGeom prst="ellipse">
            <a:avLst/>
          </a:prstGeom>
          <a:solidFill>
            <a:srgbClr val="111827"/>
          </a:solidFill>
          <a:ln w="50800">
            <a:solidFill>
              <a:srgbClr val="EF4444"/>
            </a:solidFill>
            <a:prstDash val="solid"/>
          </a:ln>
        </p:spPr>
      </p:sp>
      <p:sp>
        <p:nvSpPr>
          <p:cNvPr id="28" name="Text 26"/>
          <p:cNvSpPr/>
          <p:nvPr/>
        </p:nvSpPr>
        <p:spPr>
          <a:xfrm>
            <a:off x="5120640" y="2788920"/>
            <a:ext cx="1097280" cy="1097280"/>
          </a:xfrm>
          <a:prstGeom prst="rect">
            <a:avLst/>
          </a:prstGeom>
          <a:noFill/>
          <a:ln/>
        </p:spPr>
        <p:txBody>
          <a:bodyPr wrap="square" lIns="0" tIns="0" rIns="0" bIns="0" rtlCol="0" anchor="ctr"/>
          <a:lstStyle/>
          <a:p>
            <a:pPr algn="ctr" indent="0" marL="0">
              <a:buNone/>
            </a:pPr>
            <a:r>
              <a:rPr lang="en-US" sz="2200" b="1" dirty="0">
                <a:solidFill>
                  <a:srgbClr val="EF4444"/>
                </a:solidFill>
                <a:latin typeface="Segoe UI" pitchFamily="34" charset="0"/>
                <a:ea typeface="Segoe UI" pitchFamily="34" charset="-122"/>
                <a:cs typeface="Segoe UI" pitchFamily="34" charset="-120"/>
              </a:rPr>
              <a:t>73%</a:t>
            </a:r>
            <a:endParaRPr lang="en-US" sz="2200" dirty="0"/>
          </a:p>
        </p:txBody>
      </p:sp>
      <p:sp>
        <p:nvSpPr>
          <p:cNvPr id="29" name="Text 27"/>
          <p:cNvSpPr/>
          <p:nvPr/>
        </p:nvSpPr>
        <p:spPr>
          <a:xfrm>
            <a:off x="4754880" y="3886200"/>
            <a:ext cx="1828800" cy="274320"/>
          </a:xfrm>
          <a:prstGeom prst="rect">
            <a:avLst/>
          </a:prstGeom>
          <a:noFill/>
          <a:ln/>
        </p:spPr>
        <p:txBody>
          <a:bodyPr wrap="square" lIns="0" tIns="0" rIns="0" bIns="0" rtlCol="0" anchor="ctr"/>
          <a:lstStyle/>
          <a:p>
            <a:pPr algn="ctr" indent="0" marL="0">
              <a:buNone/>
            </a:pPr>
            <a:r>
              <a:rPr lang="en-US" sz="900" dirty="0">
                <a:solidFill>
                  <a:srgbClr val="6B7B8D"/>
                </a:solidFill>
                <a:latin typeface="Segoe UI" pitchFamily="34" charset="0"/>
                <a:ea typeface="Segoe UI" pitchFamily="34" charset="-122"/>
                <a:cs typeface="Segoe UI" pitchFamily="34" charset="-120"/>
              </a:rPr>
              <a:t>Analyst time on false positives</a:t>
            </a:r>
            <a:endParaRPr lang="en-US" sz="900" dirty="0"/>
          </a:p>
        </p:txBody>
      </p:sp>
      <p:sp>
        <p:nvSpPr>
          <p:cNvPr id="30" name="Shape 28"/>
          <p:cNvSpPr/>
          <p:nvPr/>
        </p:nvSpPr>
        <p:spPr>
          <a:xfrm>
            <a:off x="6675120" y="2487168"/>
            <a:ext cx="2011680" cy="1417320"/>
          </a:xfrm>
          <a:prstGeom prst="rect">
            <a:avLst/>
          </a:prstGeom>
          <a:solidFill>
            <a:srgbClr val="22C55E">
              <a:alpha val="6000"/>
            </a:srgbClr>
          </a:solidFill>
          <a:ln w="12700">
            <a:solidFill>
              <a:srgbClr val="22C55E">
                <a:alpha val="30000"/>
              </a:srgbClr>
            </a:solidFill>
            <a:prstDash val="solid"/>
          </a:ln>
        </p:spPr>
      </p:sp>
      <p:sp>
        <p:nvSpPr>
          <p:cNvPr id="31" name="Text 29"/>
          <p:cNvSpPr/>
          <p:nvPr/>
        </p:nvSpPr>
        <p:spPr>
          <a:xfrm>
            <a:off x="6675120" y="2542032"/>
            <a:ext cx="2011680" cy="201168"/>
          </a:xfrm>
          <a:prstGeom prst="rect">
            <a:avLst/>
          </a:prstGeom>
          <a:noFill/>
          <a:ln/>
        </p:spPr>
        <p:txBody>
          <a:bodyPr wrap="square" lIns="0" tIns="0" rIns="0" bIns="0" rtlCol="0" anchor="ctr"/>
          <a:lstStyle/>
          <a:p>
            <a:pPr algn="ctr" indent="0" marL="0">
              <a:buNone/>
            </a:pPr>
            <a:r>
              <a:rPr lang="en-US" sz="1100" b="1" dirty="0">
                <a:solidFill>
                  <a:srgbClr val="22C55E"/>
                </a:solidFill>
                <a:latin typeface="Segoe UI" pitchFamily="34" charset="0"/>
                <a:ea typeface="Segoe UI" pitchFamily="34" charset="-122"/>
                <a:cs typeface="Segoe UI" pitchFamily="34" charset="-120"/>
              </a:rPr>
              <a:t>WITH AuroraAI</a:t>
            </a:r>
            <a:endParaRPr lang="en-US" sz="1100" dirty="0"/>
          </a:p>
        </p:txBody>
      </p:sp>
      <p:sp>
        <p:nvSpPr>
          <p:cNvPr id="32" name="Shape 30"/>
          <p:cNvSpPr/>
          <p:nvPr/>
        </p:nvSpPr>
        <p:spPr>
          <a:xfrm>
            <a:off x="7086600" y="2788920"/>
            <a:ext cx="1097280" cy="1097280"/>
          </a:xfrm>
          <a:prstGeom prst="ellipse">
            <a:avLst/>
          </a:prstGeom>
          <a:solidFill>
            <a:srgbClr val="111827"/>
          </a:solidFill>
          <a:ln w="50800">
            <a:solidFill>
              <a:srgbClr val="22C55E"/>
            </a:solidFill>
            <a:prstDash val="solid"/>
          </a:ln>
        </p:spPr>
      </p:sp>
      <p:sp>
        <p:nvSpPr>
          <p:cNvPr id="33" name="Text 31"/>
          <p:cNvSpPr/>
          <p:nvPr/>
        </p:nvSpPr>
        <p:spPr>
          <a:xfrm>
            <a:off x="7086600" y="2788920"/>
            <a:ext cx="1097280" cy="1097280"/>
          </a:xfrm>
          <a:prstGeom prst="rect">
            <a:avLst/>
          </a:prstGeom>
          <a:noFill/>
          <a:ln/>
        </p:spPr>
        <p:txBody>
          <a:bodyPr wrap="square" lIns="0" tIns="0" rIns="0" bIns="0" rtlCol="0" anchor="ctr"/>
          <a:lstStyle/>
          <a:p>
            <a:pPr algn="ctr" indent="0" marL="0">
              <a:buNone/>
            </a:pPr>
            <a:r>
              <a:rPr lang="en-US" sz="2200" b="1" dirty="0">
                <a:solidFill>
                  <a:srgbClr val="22C55E"/>
                </a:solidFill>
                <a:latin typeface="Segoe UI" pitchFamily="34" charset="0"/>
                <a:ea typeface="Segoe UI" pitchFamily="34" charset="-122"/>
                <a:cs typeface="Segoe UI" pitchFamily="34" charset="-120"/>
              </a:rPr>
              <a:t>17%</a:t>
            </a:r>
            <a:endParaRPr lang="en-US" sz="2200" dirty="0"/>
          </a:p>
        </p:txBody>
      </p:sp>
      <p:sp>
        <p:nvSpPr>
          <p:cNvPr id="34" name="Text 32"/>
          <p:cNvSpPr/>
          <p:nvPr/>
        </p:nvSpPr>
        <p:spPr>
          <a:xfrm>
            <a:off x="6675120" y="3886200"/>
            <a:ext cx="2011680" cy="274320"/>
          </a:xfrm>
          <a:prstGeom prst="rect">
            <a:avLst/>
          </a:prstGeom>
          <a:noFill/>
          <a:ln/>
        </p:spPr>
        <p:txBody>
          <a:bodyPr wrap="square" lIns="0" tIns="0" rIns="0" bIns="0" rtlCol="0" anchor="ctr"/>
          <a:lstStyle/>
          <a:p>
            <a:pPr algn="ctr" indent="0" marL="0">
              <a:buNone/>
            </a:pPr>
            <a:r>
              <a:rPr lang="en-US" sz="900" dirty="0">
                <a:solidFill>
                  <a:srgbClr val="6B7B8D"/>
                </a:solidFill>
                <a:latin typeface="Segoe UI" pitchFamily="34" charset="0"/>
                <a:ea typeface="Segoe UI" pitchFamily="34" charset="-122"/>
                <a:cs typeface="Segoe UI" pitchFamily="34" charset="-120"/>
              </a:rPr>
              <a:t>Analyst time on false positives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A"/>
        </a:solidFill>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algn="ctr" indent="0" marL="0">
              <a:buNone/>
            </a:pPr>
            <a:r>
              <a:rPr lang="en-US" sz="3600" b="1" dirty="0">
                <a:solidFill>
                  <a:srgbClr val="F4F6F8"/>
                </a:solidFill>
                <a:latin typeface="Segoe UI" pitchFamily="34" charset="0"/>
                <a:ea typeface="Segoe UI" pitchFamily="34" charset="-122"/>
                <a:cs typeface="Segoe UI" pitchFamily="34" charset="-120"/>
              </a:rPr>
              <a:t>What is </a:t>
            </a:r>
            <a:pPr algn="ctr" indent="0" marL="0">
              <a:buNone/>
            </a:pPr>
            <a:r>
              <a:rPr lang="en-US" sz="3600" b="1" dirty="0">
                <a:solidFill>
                  <a:srgbClr val="D4A843"/>
                </a:solidFill>
                <a:latin typeface="Segoe UI" pitchFamily="34" charset="0"/>
                <a:ea typeface="Segoe UI" pitchFamily="34" charset="-122"/>
                <a:cs typeface="Segoe UI" pitchFamily="34" charset="-120"/>
              </a:rPr>
              <a:t>AuroraAI</a:t>
            </a:r>
            <a:pPr algn="ctr" indent="0" marL="0">
              <a:buNone/>
            </a:pPr>
            <a:r>
              <a:rPr lang="en-US" sz="3600" b="1" dirty="0">
                <a:solidFill>
                  <a:srgbClr val="F4F6F8"/>
                </a:solidFill>
                <a:latin typeface="Segoe UI" pitchFamily="34" charset="0"/>
                <a:ea typeface="Segoe UI" pitchFamily="34" charset="-122"/>
                <a:cs typeface="Segoe UI" pitchFamily="34" charset="-120"/>
              </a:rPr>
              <a:t>?</a:t>
            </a:r>
            <a:endParaRPr lang="en-US" sz="3600" dirty="0"/>
          </a:p>
        </p:txBody>
      </p:sp>
      <p:sp>
        <p:nvSpPr>
          <p:cNvPr id="3" name="Shape 1"/>
          <p:cNvSpPr/>
          <p:nvPr/>
        </p:nvSpPr>
        <p:spPr>
          <a:xfrm>
            <a:off x="4238244" y="795528"/>
            <a:ext cx="667512" cy="32004"/>
          </a:xfrm>
          <a:prstGeom prst="rect">
            <a:avLst/>
          </a:prstGeom>
          <a:solidFill>
            <a:srgbClr val="D4A843"/>
          </a:solidFill>
          <a:ln w="12700">
            <a:solidFill>
              <a:srgbClr val="D4A843"/>
            </a:solidFill>
            <a:prstDash val="solid"/>
          </a:ln>
        </p:spPr>
      </p:sp>
      <p:sp>
        <p:nvSpPr>
          <p:cNvPr id="4" name="Text 2"/>
          <p:cNvSpPr/>
          <p:nvPr/>
        </p:nvSpPr>
        <p:spPr>
          <a:xfrm>
            <a:off x="457200" y="960120"/>
            <a:ext cx="8229600" cy="502920"/>
          </a:xfrm>
          <a:prstGeom prst="rect">
            <a:avLst/>
          </a:prstGeom>
          <a:noFill/>
          <a:ln/>
        </p:spPr>
        <p:txBody>
          <a:bodyPr wrap="square" lIns="0" tIns="0" rIns="0" bIns="0" rtlCol="0" anchor="ctr"/>
          <a:lstStyle/>
          <a:p>
            <a:pPr algn="ctr" indent="0" marL="0">
              <a:buNone/>
            </a:pPr>
            <a:r>
              <a:rPr lang="en-US" sz="1500" dirty="0">
                <a:solidFill>
                  <a:srgbClr val="B8C5D3"/>
                </a:solidFill>
                <a:latin typeface="Segoe UI" pitchFamily="34" charset="0"/>
                <a:ea typeface="Segoe UI" pitchFamily="34" charset="-122"/>
                <a:cs typeface="Segoe UI" pitchFamily="34" charset="-120"/>
              </a:rPr>
              <a:t>An </a:t>
            </a:r>
            <a:pPr algn="ctr" indent="0" marL="0">
              <a:buNone/>
            </a:pPr>
            <a:r>
              <a:rPr lang="en-US" sz="1500" b="1" dirty="0">
                <a:solidFill>
                  <a:srgbClr val="F0D080"/>
                </a:solidFill>
                <a:latin typeface="Segoe UI" pitchFamily="34" charset="0"/>
                <a:ea typeface="Segoe UI" pitchFamily="34" charset="-122"/>
                <a:cs typeface="Segoe UI" pitchFamily="34" charset="-120"/>
              </a:rPr>
              <a:t>end-to-end AI platform</a:t>
            </a:r>
            <a:pPr algn="ctr" indent="0" marL="0">
              <a:buNone/>
            </a:pPr>
            <a:r>
              <a:rPr lang="en-US" sz="1500" dirty="0">
                <a:solidFill>
                  <a:srgbClr val="B8C5D3"/>
                </a:solidFill>
                <a:latin typeface="Segoe UI" pitchFamily="34" charset="0"/>
                <a:ea typeface="Segoe UI" pitchFamily="34" charset="-122"/>
                <a:cs typeface="Segoe UI" pitchFamily="34" charset="-120"/>
              </a:rPr>
              <a:t> that processes Bridger sanctions alerts through a multi-agent pipeline, delivering structured recommendations to analysts.</a:t>
            </a:r>
            <a:endParaRPr lang="en-US" sz="1500" dirty="0"/>
          </a:p>
        </p:txBody>
      </p:sp>
      <p:sp>
        <p:nvSpPr>
          <p:cNvPr id="5" name="Shape 3"/>
          <p:cNvSpPr/>
          <p:nvPr/>
        </p:nvSpPr>
        <p:spPr>
          <a:xfrm>
            <a:off x="320040" y="1627632"/>
            <a:ext cx="2743200" cy="265176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6" name="Shape 4"/>
          <p:cNvSpPr/>
          <p:nvPr/>
        </p:nvSpPr>
        <p:spPr>
          <a:xfrm>
            <a:off x="1371600" y="1764792"/>
            <a:ext cx="640080" cy="640080"/>
          </a:xfrm>
          <a:prstGeom prst="ellipse">
            <a:avLst/>
          </a:prstGeom>
          <a:solidFill>
            <a:srgbClr val="D4A843">
              <a:alpha val="12000"/>
            </a:srgbClr>
          </a:solidFill>
          <a:ln w="12700">
            <a:solidFill>
              <a:srgbClr val="D4A843"/>
            </a:solidFill>
            <a:prstDash val="solid"/>
          </a:ln>
        </p:spPr>
      </p:sp>
      <p:sp>
        <p:nvSpPr>
          <p:cNvPr id="7" name="Text 5"/>
          <p:cNvSpPr/>
          <p:nvPr/>
        </p:nvSpPr>
        <p:spPr>
          <a:xfrm>
            <a:off x="1371600" y="1764792"/>
            <a:ext cx="640080" cy="640080"/>
          </a:xfrm>
          <a:prstGeom prst="rect">
            <a:avLst/>
          </a:prstGeom>
          <a:noFill/>
          <a:ln/>
        </p:spPr>
        <p:txBody>
          <a:bodyPr wrap="square" lIns="0" tIns="0" rIns="0" bIns="0" rtlCol="0" anchor="ctr"/>
          <a:lstStyle/>
          <a:p>
            <a:pPr algn="ctr" indent="0" marL="0">
              <a:buNone/>
            </a:pPr>
            <a:r>
              <a:rPr lang="en-US" sz="1600" b="1" dirty="0">
                <a:solidFill>
                  <a:srgbClr val="D4A843"/>
                </a:solidFill>
                <a:latin typeface="Segoe UI" pitchFamily="34" charset="0"/>
                <a:ea typeface="Segoe UI" pitchFamily="34" charset="-122"/>
                <a:cs typeface="Segoe UI" pitchFamily="34" charset="-120"/>
              </a:rPr>
              <a:t>AI</a:t>
            </a:r>
            <a:endParaRPr lang="en-US" sz="1600" dirty="0"/>
          </a:p>
        </p:txBody>
      </p:sp>
      <p:sp>
        <p:nvSpPr>
          <p:cNvPr id="8" name="Text 6"/>
          <p:cNvSpPr/>
          <p:nvPr/>
        </p:nvSpPr>
        <p:spPr>
          <a:xfrm>
            <a:off x="411480" y="2587752"/>
            <a:ext cx="2560320" cy="320040"/>
          </a:xfrm>
          <a:prstGeom prst="rect">
            <a:avLst/>
          </a:prstGeom>
          <a:noFill/>
          <a:ln/>
        </p:spPr>
        <p:txBody>
          <a:bodyPr wrap="square" lIns="0" tIns="0" rIns="0" bIns="0" rtlCol="0" anchor="ctr"/>
          <a:lstStyle/>
          <a:p>
            <a:pPr algn="ctr" indent="0" marL="0">
              <a:buNone/>
            </a:pPr>
            <a:r>
              <a:rPr lang="en-US" sz="1500" b="1" dirty="0">
                <a:solidFill>
                  <a:srgbClr val="D4A843"/>
                </a:solidFill>
                <a:latin typeface="Segoe UI" pitchFamily="34" charset="0"/>
                <a:ea typeface="Segoe UI" pitchFamily="34" charset="-122"/>
                <a:cs typeface="Segoe UI" pitchFamily="34" charset="-120"/>
              </a:rPr>
              <a:t>Multi-Agent AI Engine</a:t>
            </a:r>
            <a:endParaRPr lang="en-US" sz="1500" dirty="0"/>
          </a:p>
        </p:txBody>
      </p:sp>
      <p:sp>
        <p:nvSpPr>
          <p:cNvPr id="9" name="Text 7"/>
          <p:cNvSpPr/>
          <p:nvPr/>
        </p:nvSpPr>
        <p:spPr>
          <a:xfrm>
            <a:off x="457200" y="2999232"/>
            <a:ext cx="2468880" cy="1051560"/>
          </a:xfrm>
          <a:prstGeom prst="rect">
            <a:avLst/>
          </a:prstGeom>
          <a:noFill/>
          <a:ln/>
        </p:spPr>
        <p:txBody>
          <a:bodyPr wrap="square" lIns="0" tIns="0" rIns="0" bIns="0" rtlCol="0" anchor="t"/>
          <a:lstStyle/>
          <a:p>
            <a:pPr algn="ctr" indent="0" marL="0">
              <a:buNone/>
            </a:pPr>
            <a:r>
              <a:rPr lang="en-US" sz="1200" dirty="0">
                <a:solidFill>
                  <a:srgbClr val="B8C5D3"/>
                </a:solidFill>
                <a:latin typeface="Segoe UI" pitchFamily="34" charset="0"/>
                <a:ea typeface="Segoe UI" pitchFamily="34" charset="-122"/>
                <a:cs typeface="Segoe UI" pitchFamily="34" charset="-120"/>
              </a:rPr>
              <a:t>5 specialized AI agents work in sequence — analyzing, deciding, and quality-checking each alert.</a:t>
            </a:r>
            <a:endParaRPr lang="en-US" sz="1200" dirty="0"/>
          </a:p>
        </p:txBody>
      </p:sp>
      <p:sp>
        <p:nvSpPr>
          <p:cNvPr id="10" name="Shape 8"/>
          <p:cNvSpPr/>
          <p:nvPr/>
        </p:nvSpPr>
        <p:spPr>
          <a:xfrm>
            <a:off x="3246120" y="1627632"/>
            <a:ext cx="2743200" cy="265176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11" name="Shape 9"/>
          <p:cNvSpPr/>
          <p:nvPr/>
        </p:nvSpPr>
        <p:spPr>
          <a:xfrm>
            <a:off x="4297680" y="1764792"/>
            <a:ext cx="640080" cy="640080"/>
          </a:xfrm>
          <a:prstGeom prst="ellipse">
            <a:avLst/>
          </a:prstGeom>
          <a:solidFill>
            <a:srgbClr val="3B82F6">
              <a:alpha val="12000"/>
            </a:srgbClr>
          </a:solidFill>
          <a:ln w="12700">
            <a:solidFill>
              <a:srgbClr val="60A5FA"/>
            </a:solidFill>
            <a:prstDash val="solid"/>
          </a:ln>
        </p:spPr>
      </p:sp>
      <p:sp>
        <p:nvSpPr>
          <p:cNvPr id="12" name="Text 10"/>
          <p:cNvSpPr/>
          <p:nvPr/>
        </p:nvSpPr>
        <p:spPr>
          <a:xfrm>
            <a:off x="4297680" y="1764792"/>
            <a:ext cx="640080" cy="640080"/>
          </a:xfrm>
          <a:prstGeom prst="rect">
            <a:avLst/>
          </a:prstGeom>
          <a:noFill/>
          <a:ln/>
        </p:spPr>
        <p:txBody>
          <a:bodyPr wrap="square" lIns="0" tIns="0" rIns="0" bIns="0" rtlCol="0" anchor="ctr"/>
          <a:lstStyle/>
          <a:p>
            <a:pPr algn="ctr" indent="0" marL="0">
              <a:buNone/>
            </a:pPr>
            <a:r>
              <a:rPr lang="en-US" sz="1600" b="1" dirty="0">
                <a:solidFill>
                  <a:srgbClr val="60A5FA"/>
                </a:solidFill>
                <a:latin typeface="Segoe UI" pitchFamily="34" charset="0"/>
                <a:ea typeface="Segoe UI" pitchFamily="34" charset="-122"/>
                <a:cs typeface="Segoe UI" pitchFamily="34" charset="-120"/>
              </a:rPr>
              <a:t>DB</a:t>
            </a:r>
            <a:endParaRPr lang="en-US" sz="1600" dirty="0"/>
          </a:p>
        </p:txBody>
      </p:sp>
      <p:sp>
        <p:nvSpPr>
          <p:cNvPr id="13" name="Text 11"/>
          <p:cNvSpPr/>
          <p:nvPr/>
        </p:nvSpPr>
        <p:spPr>
          <a:xfrm>
            <a:off x="3337560" y="2587752"/>
            <a:ext cx="2560320" cy="320040"/>
          </a:xfrm>
          <a:prstGeom prst="rect">
            <a:avLst/>
          </a:prstGeom>
          <a:noFill/>
          <a:ln/>
        </p:spPr>
        <p:txBody>
          <a:bodyPr wrap="square" lIns="0" tIns="0" rIns="0" bIns="0" rtlCol="0" anchor="ctr"/>
          <a:lstStyle/>
          <a:p>
            <a:pPr algn="ctr" indent="0" marL="0">
              <a:buNone/>
            </a:pPr>
            <a:r>
              <a:rPr lang="en-US" sz="1500" b="1" dirty="0">
                <a:solidFill>
                  <a:srgbClr val="60A5FA"/>
                </a:solidFill>
                <a:latin typeface="Segoe UI" pitchFamily="34" charset="0"/>
                <a:ea typeface="Segoe UI" pitchFamily="34" charset="-122"/>
                <a:cs typeface="Segoe UI" pitchFamily="34" charset="-120"/>
              </a:rPr>
              <a:t>Oracle Persistence</a:t>
            </a:r>
            <a:endParaRPr lang="en-US" sz="1500" dirty="0"/>
          </a:p>
        </p:txBody>
      </p:sp>
      <p:sp>
        <p:nvSpPr>
          <p:cNvPr id="14" name="Text 12"/>
          <p:cNvSpPr/>
          <p:nvPr/>
        </p:nvSpPr>
        <p:spPr>
          <a:xfrm>
            <a:off x="3383280" y="2999232"/>
            <a:ext cx="2468880" cy="1051560"/>
          </a:xfrm>
          <a:prstGeom prst="rect">
            <a:avLst/>
          </a:prstGeom>
          <a:noFill/>
          <a:ln/>
        </p:spPr>
        <p:txBody>
          <a:bodyPr wrap="square" lIns="0" tIns="0" rIns="0" bIns="0" rtlCol="0" anchor="t"/>
          <a:lstStyle/>
          <a:p>
            <a:pPr algn="ctr" indent="0" marL="0">
              <a:buNone/>
            </a:pPr>
            <a:r>
              <a:rPr lang="en-US" sz="1200" dirty="0">
                <a:solidFill>
                  <a:srgbClr val="B8C5D3"/>
                </a:solidFill>
                <a:latin typeface="Segoe UI" pitchFamily="34" charset="0"/>
                <a:ea typeface="Segoe UI" pitchFamily="34" charset="-122"/>
                <a:cs typeface="Segoe UI" pitchFamily="34" charset="-120"/>
              </a:rPr>
              <a:t>Every decision, score, and rationale is persisted to Oracle — providing a complete audit trail for regulators.</a:t>
            </a:r>
            <a:endParaRPr lang="en-US" sz="1200" dirty="0"/>
          </a:p>
        </p:txBody>
      </p:sp>
      <p:sp>
        <p:nvSpPr>
          <p:cNvPr id="15" name="Shape 13"/>
          <p:cNvSpPr/>
          <p:nvPr/>
        </p:nvSpPr>
        <p:spPr>
          <a:xfrm>
            <a:off x="6172200" y="1627632"/>
            <a:ext cx="2743200" cy="265176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16" name="Shape 14"/>
          <p:cNvSpPr/>
          <p:nvPr/>
        </p:nvSpPr>
        <p:spPr>
          <a:xfrm>
            <a:off x="7223760" y="1764792"/>
            <a:ext cx="640080" cy="640080"/>
          </a:xfrm>
          <a:prstGeom prst="ellipse">
            <a:avLst/>
          </a:prstGeom>
          <a:solidFill>
            <a:srgbClr val="22C55E">
              <a:alpha val="12000"/>
            </a:srgbClr>
          </a:solidFill>
          <a:ln w="12700">
            <a:solidFill>
              <a:srgbClr val="22C55E"/>
            </a:solidFill>
            <a:prstDash val="solid"/>
          </a:ln>
        </p:spPr>
      </p:sp>
      <p:sp>
        <p:nvSpPr>
          <p:cNvPr id="17" name="Text 15"/>
          <p:cNvSpPr/>
          <p:nvPr/>
        </p:nvSpPr>
        <p:spPr>
          <a:xfrm>
            <a:off x="7223760" y="1764792"/>
            <a:ext cx="640080" cy="640080"/>
          </a:xfrm>
          <a:prstGeom prst="rect">
            <a:avLst/>
          </a:prstGeom>
          <a:noFill/>
          <a:ln/>
        </p:spPr>
        <p:txBody>
          <a:bodyPr wrap="square" lIns="0" tIns="0" rIns="0" bIns="0" rtlCol="0" anchor="ctr"/>
          <a:lstStyle/>
          <a:p>
            <a:pPr algn="ctr" indent="0" marL="0">
              <a:buNone/>
            </a:pPr>
            <a:r>
              <a:rPr lang="en-US" sz="1000" b="1" dirty="0">
                <a:solidFill>
                  <a:srgbClr val="22C55E"/>
                </a:solidFill>
                <a:latin typeface="Segoe UI" pitchFamily="34" charset="0"/>
                <a:ea typeface="Segoe UI" pitchFamily="34" charset="-122"/>
                <a:cs typeface="Segoe UI" pitchFamily="34" charset="-120"/>
              </a:rPr>
              <a:t>LOG</a:t>
            </a:r>
            <a:endParaRPr lang="en-US" sz="1000" dirty="0"/>
          </a:p>
        </p:txBody>
      </p:sp>
      <p:sp>
        <p:nvSpPr>
          <p:cNvPr id="18" name="Text 16"/>
          <p:cNvSpPr/>
          <p:nvPr/>
        </p:nvSpPr>
        <p:spPr>
          <a:xfrm>
            <a:off x="6263640" y="2587752"/>
            <a:ext cx="2560320" cy="320040"/>
          </a:xfrm>
          <a:prstGeom prst="rect">
            <a:avLst/>
          </a:prstGeom>
          <a:noFill/>
          <a:ln/>
        </p:spPr>
        <p:txBody>
          <a:bodyPr wrap="square" lIns="0" tIns="0" rIns="0" bIns="0" rtlCol="0" anchor="ctr"/>
          <a:lstStyle/>
          <a:p>
            <a:pPr algn="ctr" indent="0" marL="0">
              <a:buNone/>
            </a:pPr>
            <a:r>
              <a:rPr lang="en-US" sz="1500" b="1" dirty="0">
                <a:solidFill>
                  <a:srgbClr val="22C55E"/>
                </a:solidFill>
                <a:latin typeface="Segoe UI" pitchFamily="34" charset="0"/>
                <a:ea typeface="Segoe UI" pitchFamily="34" charset="-122"/>
                <a:cs typeface="Segoe UI" pitchFamily="34" charset="-120"/>
              </a:rPr>
              <a:t>Audit &amp; Reporting</a:t>
            </a:r>
            <a:endParaRPr lang="en-US" sz="1500" dirty="0"/>
          </a:p>
        </p:txBody>
      </p:sp>
      <p:sp>
        <p:nvSpPr>
          <p:cNvPr id="19" name="Text 17"/>
          <p:cNvSpPr/>
          <p:nvPr/>
        </p:nvSpPr>
        <p:spPr>
          <a:xfrm>
            <a:off x="6309360" y="2999232"/>
            <a:ext cx="2468880" cy="1051560"/>
          </a:xfrm>
          <a:prstGeom prst="rect">
            <a:avLst/>
          </a:prstGeom>
          <a:noFill/>
          <a:ln/>
        </p:spPr>
        <p:txBody>
          <a:bodyPr wrap="square" lIns="0" tIns="0" rIns="0" bIns="0" rtlCol="0" anchor="t"/>
          <a:lstStyle/>
          <a:p>
            <a:pPr algn="ctr" indent="0" marL="0">
              <a:buNone/>
            </a:pPr>
            <a:r>
              <a:rPr lang="en-US" sz="1200" dirty="0">
                <a:solidFill>
                  <a:srgbClr val="B8C5D3"/>
                </a:solidFill>
                <a:latin typeface="Segoe UI" pitchFamily="34" charset="0"/>
                <a:ea typeface="Segoe UI" pitchFamily="34" charset="-122"/>
                <a:cs typeface="Segoe UI" pitchFamily="34" charset="-120"/>
              </a:rPr>
              <a:t>Complete decision trail in Oracle — every recommendation, confidence score, and action is traceable.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A"/>
        </a:solidFill>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algn="ctr" indent="0" marL="0">
              <a:buNone/>
            </a:pPr>
            <a:r>
              <a:rPr lang="en-US" sz="3600" b="1" dirty="0">
                <a:solidFill>
                  <a:srgbClr val="F4F6F8"/>
                </a:solidFill>
                <a:latin typeface="Segoe UI" pitchFamily="34" charset="0"/>
                <a:ea typeface="Segoe UI" pitchFamily="34" charset="-122"/>
                <a:cs typeface="Segoe UI" pitchFamily="34" charset="-120"/>
              </a:rPr>
              <a:t>End-to-End </a:t>
            </a:r>
            <a:pPr algn="ctr" indent="0" marL="0">
              <a:buNone/>
            </a:pPr>
            <a:r>
              <a:rPr lang="en-US" sz="3600" b="1" dirty="0">
                <a:solidFill>
                  <a:srgbClr val="D4A843"/>
                </a:solidFill>
                <a:latin typeface="Segoe UI" pitchFamily="34" charset="0"/>
                <a:ea typeface="Segoe UI" pitchFamily="34" charset="-122"/>
                <a:cs typeface="Segoe UI" pitchFamily="34" charset="-120"/>
              </a:rPr>
              <a:t>Architecture</a:t>
            </a:r>
            <a:endParaRPr lang="en-US" sz="3600" dirty="0"/>
          </a:p>
        </p:txBody>
      </p:sp>
      <p:sp>
        <p:nvSpPr>
          <p:cNvPr id="3" name="Shape 1"/>
          <p:cNvSpPr/>
          <p:nvPr/>
        </p:nvSpPr>
        <p:spPr>
          <a:xfrm>
            <a:off x="4238244" y="795528"/>
            <a:ext cx="667512" cy="32004"/>
          </a:xfrm>
          <a:prstGeom prst="rect">
            <a:avLst/>
          </a:prstGeom>
          <a:solidFill>
            <a:srgbClr val="D4A843"/>
          </a:solidFill>
          <a:ln w="12700">
            <a:solidFill>
              <a:srgbClr val="D4A843"/>
            </a:solidFill>
            <a:prstDash val="solid"/>
          </a:ln>
        </p:spPr>
      </p:sp>
      <p:sp>
        <p:nvSpPr>
          <p:cNvPr id="4" name="Shape 2"/>
          <p:cNvSpPr/>
          <p:nvPr/>
        </p:nvSpPr>
        <p:spPr>
          <a:xfrm>
            <a:off x="1874520" y="1760220"/>
            <a:ext cx="210312" cy="0"/>
          </a:xfrm>
          <a:prstGeom prst="line">
            <a:avLst/>
          </a:prstGeom>
          <a:noFill/>
          <a:ln w="19050">
            <a:solidFill>
              <a:srgbClr val="4B5563"/>
            </a:solidFill>
            <a:prstDash val="sysDash"/>
          </a:ln>
        </p:spPr>
      </p:sp>
      <p:sp>
        <p:nvSpPr>
          <p:cNvPr id="5" name="Shape 3"/>
          <p:cNvSpPr/>
          <p:nvPr/>
        </p:nvSpPr>
        <p:spPr>
          <a:xfrm>
            <a:off x="274320" y="1005840"/>
            <a:ext cx="1572768" cy="1508760"/>
          </a:xfrm>
          <a:prstGeom prst="rect">
            <a:avLst/>
          </a:prstGeom>
          <a:solidFill>
            <a:srgbClr val="A78BFA">
              <a:alpha val="7000"/>
            </a:srgbClr>
          </a:solidFill>
          <a:ln w="19050">
            <a:solidFill>
              <a:srgbClr val="A78BFA"/>
            </a:solidFill>
            <a:prstDash val="solid"/>
          </a:ln>
        </p:spPr>
      </p:sp>
      <p:sp>
        <p:nvSpPr>
          <p:cNvPr id="6" name="Shape 4"/>
          <p:cNvSpPr/>
          <p:nvPr/>
        </p:nvSpPr>
        <p:spPr>
          <a:xfrm>
            <a:off x="1682496" y="1078992"/>
            <a:ext cx="91440" cy="91440"/>
          </a:xfrm>
          <a:prstGeom prst="ellipse">
            <a:avLst/>
          </a:prstGeom>
          <a:solidFill>
            <a:srgbClr val="A78BFA"/>
          </a:solidFill>
          <a:ln w="12700">
            <a:solidFill>
              <a:srgbClr val="A78BFA"/>
            </a:solidFill>
            <a:prstDash val="solid"/>
          </a:ln>
        </p:spPr>
      </p:sp>
      <p:sp>
        <p:nvSpPr>
          <p:cNvPr id="7" name="Text 5"/>
          <p:cNvSpPr/>
          <p:nvPr/>
        </p:nvSpPr>
        <p:spPr>
          <a:xfrm>
            <a:off x="274320" y="1097280"/>
            <a:ext cx="1572768" cy="201168"/>
          </a:xfrm>
          <a:prstGeom prst="rect">
            <a:avLst/>
          </a:prstGeom>
          <a:noFill/>
          <a:ln/>
        </p:spPr>
        <p:txBody>
          <a:bodyPr wrap="square" lIns="0" tIns="0" rIns="0" bIns="0" rtlCol="0" anchor="ctr"/>
          <a:lstStyle/>
          <a:p>
            <a:pPr algn="ctr" indent="0" marL="0">
              <a:buNone/>
            </a:pPr>
            <a:r>
              <a:rPr lang="en-US" sz="800" b="1" spc="100" kern="0" dirty="0">
                <a:solidFill>
                  <a:srgbClr val="A78BFA"/>
                </a:solidFill>
                <a:latin typeface="Segoe UI" pitchFamily="34" charset="0"/>
                <a:ea typeface="Segoe UI" pitchFamily="34" charset="-122"/>
                <a:cs typeface="Segoe UI" pitchFamily="34" charset="-120"/>
              </a:rPr>
              <a:t>DATA SOURCE</a:t>
            </a:r>
            <a:endParaRPr lang="en-US" sz="800" dirty="0"/>
          </a:p>
        </p:txBody>
      </p:sp>
      <p:sp>
        <p:nvSpPr>
          <p:cNvPr id="8" name="Text 6"/>
          <p:cNvSpPr/>
          <p:nvPr/>
        </p:nvSpPr>
        <p:spPr>
          <a:xfrm>
            <a:off x="320040" y="1353312"/>
            <a:ext cx="1481328" cy="502920"/>
          </a:xfrm>
          <a:prstGeom prst="rect">
            <a:avLst/>
          </a:prstGeom>
          <a:noFill/>
          <a:ln/>
        </p:spPr>
        <p:txBody>
          <a:bodyPr wrap="square" lIns="0" tIns="0" rIns="0" bIns="0" rtlCol="0" anchor="ctr"/>
          <a:lstStyle/>
          <a:p>
            <a:pPr algn="ctr" indent="0" marL="0">
              <a:buNone/>
            </a:pPr>
            <a:r>
              <a:rPr lang="en-US" sz="1200" b="1" dirty="0">
                <a:solidFill>
                  <a:srgbClr val="A78BFA"/>
                </a:solidFill>
                <a:latin typeface="Segoe UI" pitchFamily="34" charset="0"/>
                <a:ea typeface="Segoe UI" pitchFamily="34" charset="-122"/>
                <a:cs typeface="Segoe UI" pitchFamily="34" charset="-120"/>
              </a:rPr>
              <a:t>Bridger System</a:t>
            </a:r>
            <a:endParaRPr lang="en-US" sz="1200" dirty="0"/>
          </a:p>
        </p:txBody>
      </p:sp>
      <p:sp>
        <p:nvSpPr>
          <p:cNvPr id="9" name="Text 7"/>
          <p:cNvSpPr/>
          <p:nvPr/>
        </p:nvSpPr>
        <p:spPr>
          <a:xfrm>
            <a:off x="320040" y="1719072"/>
            <a:ext cx="1481328" cy="219456"/>
          </a:xfrm>
          <a:prstGeom prst="rect">
            <a:avLst/>
          </a:prstGeom>
          <a:noFill/>
          <a:ln/>
        </p:spPr>
        <p:txBody>
          <a:bodyPr wrap="square" lIns="0" tIns="0" rIns="0" bIns="0" rtlCol="0" anchor="ctr"/>
          <a:lstStyle/>
          <a:p>
            <a:pPr algn="ctr" indent="0" marL="0">
              <a:buNone/>
            </a:pPr>
            <a:r>
              <a:rPr lang="en-US" sz="950" dirty="0">
                <a:solidFill>
                  <a:srgbClr val="8899AA"/>
                </a:solidFill>
                <a:latin typeface="Segoe UI" pitchFamily="34" charset="0"/>
                <a:ea typeface="Segoe UI" pitchFamily="34" charset="-122"/>
                <a:cs typeface="Segoe UI" pitchFamily="34" charset="-120"/>
              </a:rPr>
              <a:t>Oracle Source DB</a:t>
            </a:r>
            <a:endParaRPr lang="en-US" sz="950" dirty="0"/>
          </a:p>
        </p:txBody>
      </p:sp>
      <p:sp>
        <p:nvSpPr>
          <p:cNvPr id="10" name="Text 8"/>
          <p:cNvSpPr/>
          <p:nvPr/>
        </p:nvSpPr>
        <p:spPr>
          <a:xfrm>
            <a:off x="320040" y="1956816"/>
            <a:ext cx="1481328" cy="219456"/>
          </a:xfrm>
          <a:prstGeom prst="rect">
            <a:avLst/>
          </a:prstGeom>
          <a:noFill/>
          <a:ln/>
        </p:spPr>
        <p:txBody>
          <a:bodyPr wrap="square" lIns="0" tIns="0" rIns="0" bIns="0" rtlCol="0" anchor="ctr"/>
          <a:lstStyle/>
          <a:p>
            <a:pPr algn="ctr" indent="0" marL="0">
              <a:buNone/>
            </a:pPr>
            <a:r>
              <a:rPr lang="en-US" sz="950" dirty="0">
                <a:solidFill>
                  <a:srgbClr val="8899AA"/>
                </a:solidFill>
                <a:latin typeface="Segoe UI" pitchFamily="34" charset="0"/>
                <a:ea typeface="Segoe UI" pitchFamily="34" charset="-122"/>
                <a:cs typeface="Segoe UI" pitchFamily="34" charset="-120"/>
              </a:rPr>
              <a:t>RCV_QSS_CONSUMP...</a:t>
            </a:r>
            <a:endParaRPr lang="en-US" sz="950" dirty="0"/>
          </a:p>
        </p:txBody>
      </p:sp>
      <p:sp>
        <p:nvSpPr>
          <p:cNvPr id="11" name="Shape 9"/>
          <p:cNvSpPr/>
          <p:nvPr/>
        </p:nvSpPr>
        <p:spPr>
          <a:xfrm>
            <a:off x="3685032" y="1760220"/>
            <a:ext cx="210312" cy="0"/>
          </a:xfrm>
          <a:prstGeom prst="line">
            <a:avLst/>
          </a:prstGeom>
          <a:noFill/>
          <a:ln w="19050">
            <a:solidFill>
              <a:srgbClr val="4B5563"/>
            </a:solidFill>
            <a:prstDash val="sysDash"/>
          </a:ln>
        </p:spPr>
      </p:sp>
      <p:sp>
        <p:nvSpPr>
          <p:cNvPr id="12" name="Shape 10"/>
          <p:cNvSpPr/>
          <p:nvPr/>
        </p:nvSpPr>
        <p:spPr>
          <a:xfrm>
            <a:off x="2084832" y="1005840"/>
            <a:ext cx="1572768" cy="1508760"/>
          </a:xfrm>
          <a:prstGeom prst="rect">
            <a:avLst/>
          </a:prstGeom>
          <a:solidFill>
            <a:srgbClr val="3B82F6">
              <a:alpha val="7000"/>
            </a:srgbClr>
          </a:solidFill>
          <a:ln w="19050">
            <a:solidFill>
              <a:srgbClr val="3B82F6"/>
            </a:solidFill>
            <a:prstDash val="solid"/>
          </a:ln>
        </p:spPr>
      </p:sp>
      <p:sp>
        <p:nvSpPr>
          <p:cNvPr id="13" name="Shape 11"/>
          <p:cNvSpPr/>
          <p:nvPr/>
        </p:nvSpPr>
        <p:spPr>
          <a:xfrm>
            <a:off x="3493008" y="1078992"/>
            <a:ext cx="91440" cy="91440"/>
          </a:xfrm>
          <a:prstGeom prst="ellipse">
            <a:avLst/>
          </a:prstGeom>
          <a:solidFill>
            <a:srgbClr val="3B82F6"/>
          </a:solidFill>
          <a:ln w="12700">
            <a:solidFill>
              <a:srgbClr val="3B82F6"/>
            </a:solidFill>
            <a:prstDash val="solid"/>
          </a:ln>
        </p:spPr>
      </p:sp>
      <p:sp>
        <p:nvSpPr>
          <p:cNvPr id="14" name="Text 12"/>
          <p:cNvSpPr/>
          <p:nvPr/>
        </p:nvSpPr>
        <p:spPr>
          <a:xfrm>
            <a:off x="2084832" y="1097280"/>
            <a:ext cx="1572768" cy="201168"/>
          </a:xfrm>
          <a:prstGeom prst="rect">
            <a:avLst/>
          </a:prstGeom>
          <a:noFill/>
          <a:ln/>
        </p:spPr>
        <p:txBody>
          <a:bodyPr wrap="square" lIns="0" tIns="0" rIns="0" bIns="0" rtlCol="0" anchor="ctr"/>
          <a:lstStyle/>
          <a:p>
            <a:pPr algn="ctr" indent="0" marL="0">
              <a:buNone/>
            </a:pPr>
            <a:r>
              <a:rPr lang="en-US" sz="800" b="1" spc="100" kern="0" dirty="0">
                <a:solidFill>
                  <a:srgbClr val="3B82F6"/>
                </a:solidFill>
                <a:latin typeface="Segoe UI" pitchFamily="34" charset="0"/>
                <a:ea typeface="Segoe UI" pitchFamily="34" charset="-122"/>
                <a:cs typeface="Segoe UI" pitchFamily="34" charset="-120"/>
              </a:rPr>
              <a:t>BACKEND API</a:t>
            </a:r>
            <a:endParaRPr lang="en-US" sz="800" dirty="0"/>
          </a:p>
        </p:txBody>
      </p:sp>
      <p:sp>
        <p:nvSpPr>
          <p:cNvPr id="15" name="Text 13"/>
          <p:cNvSpPr/>
          <p:nvPr/>
        </p:nvSpPr>
        <p:spPr>
          <a:xfrm>
            <a:off x="2130552" y="1353312"/>
            <a:ext cx="1481328" cy="502920"/>
          </a:xfrm>
          <a:prstGeom prst="rect">
            <a:avLst/>
          </a:prstGeom>
          <a:noFill/>
          <a:ln/>
        </p:spPr>
        <p:txBody>
          <a:bodyPr wrap="square" lIns="0" tIns="0" rIns="0" bIns="0" rtlCol="0" anchor="ctr"/>
          <a:lstStyle/>
          <a:p>
            <a:pPr algn="ctr" indent="0" marL="0">
              <a:buNone/>
            </a:pPr>
            <a:r>
              <a:rPr lang="en-US" sz="1200" b="1" dirty="0">
                <a:solidFill>
                  <a:srgbClr val="3B82F6"/>
                </a:solidFill>
                <a:latin typeface="Segoe UI" pitchFamily="34" charset="0"/>
                <a:ea typeface="Segoe UI" pitchFamily="34" charset="-122"/>
                <a:cs typeface="Segoe UI" pitchFamily="34" charset="-120"/>
              </a:rPr>
              <a:t>FastAPI Service</a:t>
            </a:r>
            <a:endParaRPr lang="en-US" sz="1200" dirty="0"/>
          </a:p>
        </p:txBody>
      </p:sp>
      <p:sp>
        <p:nvSpPr>
          <p:cNvPr id="16" name="Text 14"/>
          <p:cNvSpPr/>
          <p:nvPr/>
        </p:nvSpPr>
        <p:spPr>
          <a:xfrm>
            <a:off x="2130552" y="1719072"/>
            <a:ext cx="1481328" cy="219456"/>
          </a:xfrm>
          <a:prstGeom prst="rect">
            <a:avLst/>
          </a:prstGeom>
          <a:noFill/>
          <a:ln/>
        </p:spPr>
        <p:txBody>
          <a:bodyPr wrap="square" lIns="0" tIns="0" rIns="0" bIns="0" rtlCol="0" anchor="ctr"/>
          <a:lstStyle/>
          <a:p>
            <a:pPr algn="ctr" indent="0" marL="0">
              <a:buNone/>
            </a:pPr>
            <a:r>
              <a:rPr lang="en-US" sz="950" dirty="0">
                <a:solidFill>
                  <a:srgbClr val="8899AA"/>
                </a:solidFill>
                <a:latin typeface="Segoe UI" pitchFamily="34" charset="0"/>
                <a:ea typeface="Segoe UI" pitchFamily="34" charset="-122"/>
                <a:cs typeface="Segoe UI" pitchFamily="34" charset="-120"/>
              </a:rPr>
              <a:t>Batch Orchestration</a:t>
            </a:r>
            <a:endParaRPr lang="en-US" sz="950" dirty="0"/>
          </a:p>
        </p:txBody>
      </p:sp>
      <p:sp>
        <p:nvSpPr>
          <p:cNvPr id="17" name="Text 15"/>
          <p:cNvSpPr/>
          <p:nvPr/>
        </p:nvSpPr>
        <p:spPr>
          <a:xfrm>
            <a:off x="2130552" y="1956816"/>
            <a:ext cx="1481328" cy="219456"/>
          </a:xfrm>
          <a:prstGeom prst="rect">
            <a:avLst/>
          </a:prstGeom>
          <a:noFill/>
          <a:ln/>
        </p:spPr>
        <p:txBody>
          <a:bodyPr wrap="square" lIns="0" tIns="0" rIns="0" bIns="0" rtlCol="0" anchor="ctr"/>
          <a:lstStyle/>
          <a:p>
            <a:pPr algn="ctr" indent="0" marL="0">
              <a:buNone/>
            </a:pPr>
            <a:r>
              <a:rPr lang="en-US" sz="950" dirty="0">
                <a:solidFill>
                  <a:srgbClr val="8899AA"/>
                </a:solidFill>
                <a:latin typeface="Segoe UI" pitchFamily="34" charset="0"/>
                <a:ea typeface="Segoe UI" pitchFamily="34" charset="-122"/>
                <a:cs typeface="Segoe UI" pitchFamily="34" charset="-120"/>
              </a:rPr>
              <a:t>REST • Polling • Trigger</a:t>
            </a:r>
            <a:endParaRPr lang="en-US" sz="950" dirty="0"/>
          </a:p>
        </p:txBody>
      </p:sp>
      <p:sp>
        <p:nvSpPr>
          <p:cNvPr id="18" name="Shape 16"/>
          <p:cNvSpPr/>
          <p:nvPr/>
        </p:nvSpPr>
        <p:spPr>
          <a:xfrm>
            <a:off x="5495544" y="1760220"/>
            <a:ext cx="210312" cy="0"/>
          </a:xfrm>
          <a:prstGeom prst="line">
            <a:avLst/>
          </a:prstGeom>
          <a:noFill/>
          <a:ln w="19050">
            <a:solidFill>
              <a:srgbClr val="4B5563"/>
            </a:solidFill>
            <a:prstDash val="sysDash"/>
          </a:ln>
        </p:spPr>
      </p:sp>
      <p:sp>
        <p:nvSpPr>
          <p:cNvPr id="19" name="Shape 17"/>
          <p:cNvSpPr/>
          <p:nvPr/>
        </p:nvSpPr>
        <p:spPr>
          <a:xfrm>
            <a:off x="3895344" y="1005840"/>
            <a:ext cx="1572768" cy="1508760"/>
          </a:xfrm>
          <a:prstGeom prst="rect">
            <a:avLst/>
          </a:prstGeom>
          <a:solidFill>
            <a:srgbClr val="D4A843">
              <a:alpha val="7000"/>
            </a:srgbClr>
          </a:solidFill>
          <a:ln w="19050">
            <a:solidFill>
              <a:srgbClr val="D4A843"/>
            </a:solidFill>
            <a:prstDash val="solid"/>
          </a:ln>
        </p:spPr>
      </p:sp>
      <p:sp>
        <p:nvSpPr>
          <p:cNvPr id="20" name="Shape 18"/>
          <p:cNvSpPr/>
          <p:nvPr/>
        </p:nvSpPr>
        <p:spPr>
          <a:xfrm>
            <a:off x="5303520" y="1078992"/>
            <a:ext cx="91440" cy="91440"/>
          </a:xfrm>
          <a:prstGeom prst="ellipse">
            <a:avLst/>
          </a:prstGeom>
          <a:solidFill>
            <a:srgbClr val="D4A843"/>
          </a:solidFill>
          <a:ln w="12700">
            <a:solidFill>
              <a:srgbClr val="D4A843"/>
            </a:solidFill>
            <a:prstDash val="solid"/>
          </a:ln>
        </p:spPr>
      </p:sp>
      <p:sp>
        <p:nvSpPr>
          <p:cNvPr id="21" name="Text 19"/>
          <p:cNvSpPr/>
          <p:nvPr/>
        </p:nvSpPr>
        <p:spPr>
          <a:xfrm>
            <a:off x="3895344" y="1097280"/>
            <a:ext cx="1572768" cy="201168"/>
          </a:xfrm>
          <a:prstGeom prst="rect">
            <a:avLst/>
          </a:prstGeom>
          <a:noFill/>
          <a:ln/>
        </p:spPr>
        <p:txBody>
          <a:bodyPr wrap="square" lIns="0" tIns="0" rIns="0" bIns="0" rtlCol="0" anchor="ctr"/>
          <a:lstStyle/>
          <a:p>
            <a:pPr algn="ctr" indent="0" marL="0">
              <a:buNone/>
            </a:pPr>
            <a:r>
              <a:rPr lang="en-US" sz="800" b="1" spc="100" kern="0" dirty="0">
                <a:solidFill>
                  <a:srgbClr val="D4A843"/>
                </a:solidFill>
                <a:latin typeface="Segoe UI" pitchFamily="34" charset="0"/>
                <a:ea typeface="Segoe UI" pitchFamily="34" charset="-122"/>
                <a:cs typeface="Segoe UI" pitchFamily="34" charset="-120"/>
              </a:rPr>
              <a:t>AI ENGINE</a:t>
            </a:r>
            <a:endParaRPr lang="en-US" sz="800" dirty="0"/>
          </a:p>
        </p:txBody>
      </p:sp>
      <p:sp>
        <p:nvSpPr>
          <p:cNvPr id="22" name="Text 20"/>
          <p:cNvSpPr/>
          <p:nvPr/>
        </p:nvSpPr>
        <p:spPr>
          <a:xfrm>
            <a:off x="3941064" y="1353312"/>
            <a:ext cx="1481328" cy="502920"/>
          </a:xfrm>
          <a:prstGeom prst="rect">
            <a:avLst/>
          </a:prstGeom>
          <a:noFill/>
          <a:ln/>
        </p:spPr>
        <p:txBody>
          <a:bodyPr wrap="square" lIns="0" tIns="0" rIns="0" bIns="0" rtlCol="0" anchor="ctr"/>
          <a:lstStyle/>
          <a:p>
            <a:pPr algn="ctr" indent="0" marL="0">
              <a:buNone/>
            </a:pPr>
            <a:r>
              <a:rPr lang="en-US" sz="1200" b="1" dirty="0">
                <a:solidFill>
                  <a:srgbClr val="F0D080"/>
                </a:solidFill>
                <a:latin typeface="Segoe UI" pitchFamily="34" charset="0"/>
                <a:ea typeface="Segoe UI" pitchFamily="34" charset="-122"/>
                <a:cs typeface="Segoe UI" pitchFamily="34" charset="-120"/>
              </a:rPr>
              <a:t>5-Agent Pipeline</a:t>
            </a:r>
            <a:endParaRPr lang="en-US" sz="1200" dirty="0"/>
          </a:p>
        </p:txBody>
      </p:sp>
      <p:sp>
        <p:nvSpPr>
          <p:cNvPr id="23" name="Text 21"/>
          <p:cNvSpPr/>
          <p:nvPr/>
        </p:nvSpPr>
        <p:spPr>
          <a:xfrm>
            <a:off x="3941064" y="1719072"/>
            <a:ext cx="1481328" cy="219456"/>
          </a:xfrm>
          <a:prstGeom prst="rect">
            <a:avLst/>
          </a:prstGeom>
          <a:noFill/>
          <a:ln/>
        </p:spPr>
        <p:txBody>
          <a:bodyPr wrap="square" lIns="0" tIns="0" rIns="0" bIns="0" rtlCol="0" anchor="ctr"/>
          <a:lstStyle/>
          <a:p>
            <a:pPr algn="ctr" indent="0" marL="0">
              <a:buNone/>
            </a:pPr>
            <a:r>
              <a:rPr lang="en-US" sz="950" dirty="0">
                <a:solidFill>
                  <a:srgbClr val="8899AA"/>
                </a:solidFill>
                <a:latin typeface="Segoe UI" pitchFamily="34" charset="0"/>
                <a:ea typeface="Segoe UI" pitchFamily="34" charset="-122"/>
                <a:cs typeface="Segoe UI" pitchFamily="34" charset="-120"/>
              </a:rPr>
              <a:t>Eliza Cognitive Engine</a:t>
            </a:r>
            <a:endParaRPr lang="en-US" sz="950" dirty="0"/>
          </a:p>
        </p:txBody>
      </p:sp>
      <p:sp>
        <p:nvSpPr>
          <p:cNvPr id="24" name="Text 22"/>
          <p:cNvSpPr/>
          <p:nvPr/>
        </p:nvSpPr>
        <p:spPr>
          <a:xfrm>
            <a:off x="3941064" y="1956816"/>
            <a:ext cx="1481328" cy="219456"/>
          </a:xfrm>
          <a:prstGeom prst="rect">
            <a:avLst/>
          </a:prstGeom>
          <a:noFill/>
          <a:ln/>
        </p:spPr>
        <p:txBody>
          <a:bodyPr wrap="square" lIns="0" tIns="0" rIns="0" bIns="0" rtlCol="0" anchor="ctr"/>
          <a:lstStyle/>
          <a:p>
            <a:pPr algn="ctr" indent="0" marL="0">
              <a:buNone/>
            </a:pPr>
            <a:r>
              <a:rPr lang="en-US" sz="950" dirty="0">
                <a:solidFill>
                  <a:srgbClr val="8899AA"/>
                </a:solidFill>
                <a:latin typeface="Segoe UI" pitchFamily="34" charset="0"/>
                <a:ea typeface="Segoe UI" pitchFamily="34" charset="-122"/>
                <a:cs typeface="Segoe UI" pitchFamily="34" charset="-120"/>
              </a:rPr>
              <a:t>GPT-4 • Gemini • LLaMA</a:t>
            </a:r>
            <a:endParaRPr lang="en-US" sz="950" dirty="0"/>
          </a:p>
        </p:txBody>
      </p:sp>
      <p:sp>
        <p:nvSpPr>
          <p:cNvPr id="25" name="Shape 23"/>
          <p:cNvSpPr/>
          <p:nvPr/>
        </p:nvSpPr>
        <p:spPr>
          <a:xfrm>
            <a:off x="7306056" y="1760220"/>
            <a:ext cx="210312" cy="0"/>
          </a:xfrm>
          <a:prstGeom prst="line">
            <a:avLst/>
          </a:prstGeom>
          <a:noFill/>
          <a:ln w="19050">
            <a:solidFill>
              <a:srgbClr val="4B5563"/>
            </a:solidFill>
            <a:prstDash val="sysDash"/>
          </a:ln>
        </p:spPr>
      </p:sp>
      <p:sp>
        <p:nvSpPr>
          <p:cNvPr id="26" name="Shape 24"/>
          <p:cNvSpPr/>
          <p:nvPr/>
        </p:nvSpPr>
        <p:spPr>
          <a:xfrm>
            <a:off x="5705856" y="1005840"/>
            <a:ext cx="1572768" cy="1508760"/>
          </a:xfrm>
          <a:prstGeom prst="rect">
            <a:avLst/>
          </a:prstGeom>
          <a:solidFill>
            <a:srgbClr val="22C55E">
              <a:alpha val="7000"/>
            </a:srgbClr>
          </a:solidFill>
          <a:ln w="19050">
            <a:solidFill>
              <a:srgbClr val="22C55E"/>
            </a:solidFill>
            <a:prstDash val="solid"/>
          </a:ln>
        </p:spPr>
      </p:sp>
      <p:sp>
        <p:nvSpPr>
          <p:cNvPr id="27" name="Shape 25"/>
          <p:cNvSpPr/>
          <p:nvPr/>
        </p:nvSpPr>
        <p:spPr>
          <a:xfrm>
            <a:off x="7114032" y="1078992"/>
            <a:ext cx="91440" cy="91440"/>
          </a:xfrm>
          <a:prstGeom prst="ellipse">
            <a:avLst/>
          </a:prstGeom>
          <a:solidFill>
            <a:srgbClr val="22C55E"/>
          </a:solidFill>
          <a:ln w="12700">
            <a:solidFill>
              <a:srgbClr val="22C55E"/>
            </a:solidFill>
            <a:prstDash val="solid"/>
          </a:ln>
        </p:spPr>
      </p:sp>
      <p:sp>
        <p:nvSpPr>
          <p:cNvPr id="28" name="Text 26"/>
          <p:cNvSpPr/>
          <p:nvPr/>
        </p:nvSpPr>
        <p:spPr>
          <a:xfrm>
            <a:off x="5705856" y="1097280"/>
            <a:ext cx="1572768" cy="201168"/>
          </a:xfrm>
          <a:prstGeom prst="rect">
            <a:avLst/>
          </a:prstGeom>
          <a:noFill/>
          <a:ln/>
        </p:spPr>
        <p:txBody>
          <a:bodyPr wrap="square" lIns="0" tIns="0" rIns="0" bIns="0" rtlCol="0" anchor="ctr"/>
          <a:lstStyle/>
          <a:p>
            <a:pPr algn="ctr" indent="0" marL="0">
              <a:buNone/>
            </a:pPr>
            <a:r>
              <a:rPr lang="en-US" sz="800" b="1" spc="100" kern="0" dirty="0">
                <a:solidFill>
                  <a:srgbClr val="22C55E"/>
                </a:solidFill>
                <a:latin typeface="Segoe UI" pitchFamily="34" charset="0"/>
                <a:ea typeface="Segoe UI" pitchFamily="34" charset="-122"/>
                <a:cs typeface="Segoe UI" pitchFamily="34" charset="-120"/>
              </a:rPr>
              <a:t>PERSISTENCE</a:t>
            </a:r>
            <a:endParaRPr lang="en-US" sz="800" dirty="0"/>
          </a:p>
        </p:txBody>
      </p:sp>
      <p:sp>
        <p:nvSpPr>
          <p:cNvPr id="29" name="Text 27"/>
          <p:cNvSpPr/>
          <p:nvPr/>
        </p:nvSpPr>
        <p:spPr>
          <a:xfrm>
            <a:off x="5751576" y="1353312"/>
            <a:ext cx="1481328" cy="502920"/>
          </a:xfrm>
          <a:prstGeom prst="rect">
            <a:avLst/>
          </a:prstGeom>
          <a:noFill/>
          <a:ln/>
        </p:spPr>
        <p:txBody>
          <a:bodyPr wrap="square" lIns="0" tIns="0" rIns="0" bIns="0" rtlCol="0" anchor="ctr"/>
          <a:lstStyle/>
          <a:p>
            <a:pPr algn="ctr" indent="0" marL="0">
              <a:buNone/>
            </a:pPr>
            <a:r>
              <a:rPr lang="en-US" sz="1200" b="1" dirty="0">
                <a:solidFill>
                  <a:srgbClr val="22C55E"/>
                </a:solidFill>
                <a:latin typeface="Segoe UI" pitchFamily="34" charset="0"/>
                <a:ea typeface="Segoe UI" pitchFamily="34" charset="-122"/>
                <a:cs typeface="Segoe UI" pitchFamily="34" charset="-120"/>
              </a:rPr>
              <a:t>Oracle Target DB</a:t>
            </a:r>
            <a:endParaRPr lang="en-US" sz="1200" dirty="0"/>
          </a:p>
        </p:txBody>
      </p:sp>
      <p:sp>
        <p:nvSpPr>
          <p:cNvPr id="30" name="Text 28"/>
          <p:cNvSpPr/>
          <p:nvPr/>
        </p:nvSpPr>
        <p:spPr>
          <a:xfrm>
            <a:off x="5751576" y="1719072"/>
            <a:ext cx="1481328" cy="219456"/>
          </a:xfrm>
          <a:prstGeom prst="rect">
            <a:avLst/>
          </a:prstGeom>
          <a:noFill/>
          <a:ln/>
        </p:spPr>
        <p:txBody>
          <a:bodyPr wrap="square" lIns="0" tIns="0" rIns="0" bIns="0" rtlCol="0" anchor="ctr"/>
          <a:lstStyle/>
          <a:p>
            <a:pPr algn="ctr" indent="0" marL="0">
              <a:buNone/>
            </a:pPr>
            <a:r>
              <a:rPr lang="en-US" sz="950" dirty="0">
                <a:solidFill>
                  <a:srgbClr val="8899AA"/>
                </a:solidFill>
                <a:latin typeface="Segoe UI" pitchFamily="34" charset="0"/>
                <a:ea typeface="Segoe UI" pitchFamily="34" charset="-122"/>
                <a:cs typeface="Segoe UI" pitchFamily="34" charset="-120"/>
              </a:rPr>
              <a:t>QSS FPR Schema</a:t>
            </a:r>
            <a:endParaRPr lang="en-US" sz="950" dirty="0"/>
          </a:p>
        </p:txBody>
      </p:sp>
      <p:sp>
        <p:nvSpPr>
          <p:cNvPr id="31" name="Text 29"/>
          <p:cNvSpPr/>
          <p:nvPr/>
        </p:nvSpPr>
        <p:spPr>
          <a:xfrm>
            <a:off x="5751576" y="1956816"/>
            <a:ext cx="1481328" cy="219456"/>
          </a:xfrm>
          <a:prstGeom prst="rect">
            <a:avLst/>
          </a:prstGeom>
          <a:noFill/>
          <a:ln/>
        </p:spPr>
        <p:txBody>
          <a:bodyPr wrap="square" lIns="0" tIns="0" rIns="0" bIns="0" rtlCol="0" anchor="ctr"/>
          <a:lstStyle/>
          <a:p>
            <a:pPr algn="ctr" indent="0" marL="0">
              <a:buNone/>
            </a:pPr>
            <a:r>
              <a:rPr lang="en-US" sz="950" dirty="0">
                <a:solidFill>
                  <a:srgbClr val="8899AA"/>
                </a:solidFill>
                <a:latin typeface="Segoe UI" pitchFamily="34" charset="0"/>
                <a:ea typeface="Segoe UI" pitchFamily="34" charset="-122"/>
                <a:cs typeface="Segoe UI" pitchFamily="34" charset="-120"/>
              </a:rPr>
              <a:t>Batch • Alert • Hit</a:t>
            </a:r>
            <a:endParaRPr lang="en-US" sz="950" dirty="0"/>
          </a:p>
        </p:txBody>
      </p:sp>
      <p:sp>
        <p:nvSpPr>
          <p:cNvPr id="32" name="Shape 30"/>
          <p:cNvSpPr/>
          <p:nvPr/>
        </p:nvSpPr>
        <p:spPr>
          <a:xfrm>
            <a:off x="7516368" y="1005840"/>
            <a:ext cx="1572768" cy="1508760"/>
          </a:xfrm>
          <a:prstGeom prst="rect">
            <a:avLst/>
          </a:prstGeom>
          <a:solidFill>
            <a:srgbClr val="14B8A6">
              <a:alpha val="7000"/>
            </a:srgbClr>
          </a:solidFill>
          <a:ln w="19050">
            <a:solidFill>
              <a:srgbClr val="14B8A6"/>
            </a:solidFill>
            <a:prstDash val="solid"/>
          </a:ln>
        </p:spPr>
      </p:sp>
      <p:sp>
        <p:nvSpPr>
          <p:cNvPr id="33" name="Shape 31"/>
          <p:cNvSpPr/>
          <p:nvPr/>
        </p:nvSpPr>
        <p:spPr>
          <a:xfrm>
            <a:off x="8924544" y="1078992"/>
            <a:ext cx="91440" cy="91440"/>
          </a:xfrm>
          <a:prstGeom prst="ellipse">
            <a:avLst/>
          </a:prstGeom>
          <a:solidFill>
            <a:srgbClr val="14B8A6"/>
          </a:solidFill>
          <a:ln w="12700">
            <a:solidFill>
              <a:srgbClr val="14B8A6"/>
            </a:solidFill>
            <a:prstDash val="solid"/>
          </a:ln>
        </p:spPr>
      </p:sp>
      <p:sp>
        <p:nvSpPr>
          <p:cNvPr id="34" name="Text 32"/>
          <p:cNvSpPr/>
          <p:nvPr/>
        </p:nvSpPr>
        <p:spPr>
          <a:xfrm>
            <a:off x="7516368" y="1097280"/>
            <a:ext cx="1572768" cy="201168"/>
          </a:xfrm>
          <a:prstGeom prst="rect">
            <a:avLst/>
          </a:prstGeom>
          <a:noFill/>
          <a:ln/>
        </p:spPr>
        <p:txBody>
          <a:bodyPr wrap="square" lIns="0" tIns="0" rIns="0" bIns="0" rtlCol="0" anchor="ctr"/>
          <a:lstStyle/>
          <a:p>
            <a:pPr algn="ctr" indent="0" marL="0">
              <a:buNone/>
            </a:pPr>
            <a:r>
              <a:rPr lang="en-US" sz="800" b="1" spc="100" kern="0" dirty="0">
                <a:solidFill>
                  <a:srgbClr val="14B8A6"/>
                </a:solidFill>
                <a:latin typeface="Segoe UI" pitchFamily="34" charset="0"/>
                <a:ea typeface="Segoe UI" pitchFamily="34" charset="-122"/>
                <a:cs typeface="Segoe UI" pitchFamily="34" charset="-120"/>
              </a:rPr>
              <a:t>ANALYST UI</a:t>
            </a:r>
            <a:endParaRPr lang="en-US" sz="800" dirty="0"/>
          </a:p>
        </p:txBody>
      </p:sp>
      <p:sp>
        <p:nvSpPr>
          <p:cNvPr id="35" name="Text 33"/>
          <p:cNvSpPr/>
          <p:nvPr/>
        </p:nvSpPr>
        <p:spPr>
          <a:xfrm>
            <a:off x="7562088" y="1353312"/>
            <a:ext cx="1481328" cy="502920"/>
          </a:xfrm>
          <a:prstGeom prst="rect">
            <a:avLst/>
          </a:prstGeom>
          <a:noFill/>
          <a:ln/>
        </p:spPr>
        <p:txBody>
          <a:bodyPr wrap="square" lIns="0" tIns="0" rIns="0" bIns="0" rtlCol="0" anchor="ctr"/>
          <a:lstStyle/>
          <a:p>
            <a:pPr algn="ctr" indent="0" marL="0">
              <a:buNone/>
            </a:pPr>
            <a:r>
              <a:rPr lang="en-US" sz="1200" b="1" dirty="0">
                <a:solidFill>
                  <a:srgbClr val="14B8A6"/>
                </a:solidFill>
                <a:latin typeface="Segoe UI" pitchFamily="34" charset="0"/>
                <a:ea typeface="Segoe UI" pitchFamily="34" charset="-122"/>
                <a:cs typeface="Segoe UI" pitchFamily="34" charset="-120"/>
              </a:rPr>
              <a:t>Review Dashboard</a:t>
            </a:r>
            <a:endParaRPr lang="en-US" sz="1200" dirty="0"/>
          </a:p>
        </p:txBody>
      </p:sp>
      <p:sp>
        <p:nvSpPr>
          <p:cNvPr id="36" name="Text 34"/>
          <p:cNvSpPr/>
          <p:nvPr/>
        </p:nvSpPr>
        <p:spPr>
          <a:xfrm>
            <a:off x="7562088" y="1719072"/>
            <a:ext cx="1481328" cy="219456"/>
          </a:xfrm>
          <a:prstGeom prst="rect">
            <a:avLst/>
          </a:prstGeom>
          <a:noFill/>
          <a:ln/>
        </p:spPr>
        <p:txBody>
          <a:bodyPr wrap="square" lIns="0" tIns="0" rIns="0" bIns="0" rtlCol="0" anchor="ctr"/>
          <a:lstStyle/>
          <a:p>
            <a:pPr algn="ctr" indent="0" marL="0">
              <a:buNone/>
            </a:pPr>
            <a:r>
              <a:rPr lang="en-US" sz="950" dirty="0">
                <a:solidFill>
                  <a:srgbClr val="8899AA"/>
                </a:solidFill>
                <a:latin typeface="Segoe UI" pitchFamily="34" charset="0"/>
                <a:ea typeface="Segoe UI" pitchFamily="34" charset="-122"/>
                <a:cs typeface="Segoe UI" pitchFamily="34" charset="-120"/>
              </a:rPr>
              <a:t>Reports &amp; Decisions</a:t>
            </a:r>
            <a:endParaRPr lang="en-US" sz="950" dirty="0"/>
          </a:p>
        </p:txBody>
      </p:sp>
      <p:sp>
        <p:nvSpPr>
          <p:cNvPr id="37" name="Shape 35"/>
          <p:cNvSpPr/>
          <p:nvPr/>
        </p:nvSpPr>
        <p:spPr>
          <a:xfrm>
            <a:off x="274320" y="2788920"/>
            <a:ext cx="8595360" cy="1234440"/>
          </a:xfrm>
          <a:prstGeom prst="rect">
            <a:avLst/>
          </a:prstGeom>
          <a:solidFill>
            <a:srgbClr val="FFFFFF">
              <a:alpha val="3000"/>
            </a:srgbClr>
          </a:solidFill>
          <a:ln w="6350">
            <a:solidFill>
              <a:srgbClr val="FFFFFF">
                <a:alpha val="6000"/>
              </a:srgbClr>
            </a:solidFill>
            <a:prstDash val="solid"/>
          </a:ln>
        </p:spPr>
      </p:sp>
      <p:sp>
        <p:nvSpPr>
          <p:cNvPr id="38" name="Text 36"/>
          <p:cNvSpPr/>
          <p:nvPr/>
        </p:nvSpPr>
        <p:spPr>
          <a:xfrm>
            <a:off x="274320" y="2834640"/>
            <a:ext cx="8595360" cy="201168"/>
          </a:xfrm>
          <a:prstGeom prst="rect">
            <a:avLst/>
          </a:prstGeom>
          <a:noFill/>
          <a:ln/>
        </p:spPr>
        <p:txBody>
          <a:bodyPr wrap="square" lIns="0" tIns="0" rIns="0" bIns="0" rtlCol="0" anchor="ctr"/>
          <a:lstStyle/>
          <a:p>
            <a:pPr algn="ctr" indent="0" marL="0">
              <a:buNone/>
            </a:pPr>
            <a:r>
              <a:rPr lang="en-US" sz="900" b="1" spc="200" kern="0" dirty="0">
                <a:solidFill>
                  <a:srgbClr val="6B7B8D"/>
                </a:solidFill>
                <a:latin typeface="Segoe UI" pitchFamily="34" charset="0"/>
                <a:ea typeface="Segoe UI" pitchFamily="34" charset="-122"/>
                <a:cs typeface="Segoe UI" pitchFamily="34" charset="-120"/>
              </a:rPr>
              <a:t>INFRASTRUCTURE</a:t>
            </a:r>
            <a:endParaRPr lang="en-US" sz="900" dirty="0"/>
          </a:p>
        </p:txBody>
      </p:sp>
      <p:sp>
        <p:nvSpPr>
          <p:cNvPr id="39" name="Text 37"/>
          <p:cNvSpPr/>
          <p:nvPr/>
        </p:nvSpPr>
        <p:spPr>
          <a:xfrm>
            <a:off x="457200" y="3063240"/>
            <a:ext cx="2011680" cy="237744"/>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 BNY AppEngine</a:t>
            </a:r>
            <a:endParaRPr lang="en-US" sz="1000" dirty="0"/>
          </a:p>
        </p:txBody>
      </p:sp>
      <p:sp>
        <p:nvSpPr>
          <p:cNvPr id="40" name="Text 38"/>
          <p:cNvSpPr/>
          <p:nvPr/>
        </p:nvSpPr>
        <p:spPr>
          <a:xfrm>
            <a:off x="457200" y="3319272"/>
            <a:ext cx="2011680" cy="201168"/>
          </a:xfrm>
          <a:prstGeom prst="rect">
            <a:avLst/>
          </a:prstGeom>
          <a:noFill/>
          <a:ln/>
        </p:spPr>
        <p:txBody>
          <a:bodyPr wrap="square" lIns="0" tIns="0" rIns="0" bIns="0" rtlCol="0" anchor="ctr"/>
          <a:lstStyle/>
          <a:p>
            <a:pPr algn="ctr" indent="0" marL="0">
              <a:buNone/>
            </a:pPr>
            <a:r>
              <a:rPr lang="en-US" sz="800" dirty="0">
                <a:solidFill>
                  <a:srgbClr val="6B7B8D"/>
                </a:solidFill>
                <a:latin typeface="Segoe UI" pitchFamily="34" charset="0"/>
                <a:ea typeface="Segoe UI" pitchFamily="34" charset="-122"/>
                <a:cs typeface="Segoe UI" pitchFamily="34" charset="-120"/>
              </a:rPr>
              <a:t>Containerized • K8s</a:t>
            </a:r>
            <a:endParaRPr lang="en-US" sz="800" dirty="0"/>
          </a:p>
        </p:txBody>
      </p:sp>
      <p:sp>
        <p:nvSpPr>
          <p:cNvPr id="41" name="Text 39"/>
          <p:cNvSpPr/>
          <p:nvPr/>
        </p:nvSpPr>
        <p:spPr>
          <a:xfrm>
            <a:off x="2633472" y="3063240"/>
            <a:ext cx="2011680" cy="237744"/>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 BNY Eliza AI</a:t>
            </a:r>
            <a:endParaRPr lang="en-US" sz="1000" dirty="0"/>
          </a:p>
        </p:txBody>
      </p:sp>
      <p:sp>
        <p:nvSpPr>
          <p:cNvPr id="42" name="Text 40"/>
          <p:cNvSpPr/>
          <p:nvPr/>
        </p:nvSpPr>
        <p:spPr>
          <a:xfrm>
            <a:off x="2633472" y="3319272"/>
            <a:ext cx="2011680" cy="201168"/>
          </a:xfrm>
          <a:prstGeom prst="rect">
            <a:avLst/>
          </a:prstGeom>
          <a:noFill/>
          <a:ln/>
        </p:spPr>
        <p:txBody>
          <a:bodyPr wrap="square" lIns="0" tIns="0" rIns="0" bIns="0" rtlCol="0" anchor="ctr"/>
          <a:lstStyle/>
          <a:p>
            <a:pPr algn="ctr" indent="0" marL="0">
              <a:buNone/>
            </a:pPr>
            <a:r>
              <a:rPr lang="en-US" sz="800" dirty="0">
                <a:solidFill>
                  <a:srgbClr val="6B7B8D"/>
                </a:solidFill>
                <a:latin typeface="Segoe UI" pitchFamily="34" charset="0"/>
                <a:ea typeface="Segoe UI" pitchFamily="34" charset="-122"/>
                <a:cs typeface="Segoe UI" pitchFamily="34" charset="-120"/>
              </a:rPr>
              <a:t>Enterprise LLM Gateway</a:t>
            </a:r>
            <a:endParaRPr lang="en-US" sz="800" dirty="0"/>
          </a:p>
        </p:txBody>
      </p:sp>
      <p:sp>
        <p:nvSpPr>
          <p:cNvPr id="43" name="Text 41"/>
          <p:cNvSpPr/>
          <p:nvPr/>
        </p:nvSpPr>
        <p:spPr>
          <a:xfrm>
            <a:off x="4809744" y="3063240"/>
            <a:ext cx="2011680" cy="237744"/>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 Certificate Auth</a:t>
            </a:r>
            <a:endParaRPr lang="en-US" sz="1000" dirty="0"/>
          </a:p>
        </p:txBody>
      </p:sp>
      <p:sp>
        <p:nvSpPr>
          <p:cNvPr id="44" name="Text 42"/>
          <p:cNvSpPr/>
          <p:nvPr/>
        </p:nvSpPr>
        <p:spPr>
          <a:xfrm>
            <a:off x="4809744" y="3319272"/>
            <a:ext cx="2011680" cy="201168"/>
          </a:xfrm>
          <a:prstGeom prst="rect">
            <a:avLst/>
          </a:prstGeom>
          <a:noFill/>
          <a:ln/>
        </p:spPr>
        <p:txBody>
          <a:bodyPr wrap="square" lIns="0" tIns="0" rIns="0" bIns="0" rtlCol="0" anchor="ctr"/>
          <a:lstStyle/>
          <a:p>
            <a:pPr algn="ctr" indent="0" marL="0">
              <a:buNone/>
            </a:pPr>
            <a:r>
              <a:rPr lang="en-US" sz="800" dirty="0">
                <a:solidFill>
                  <a:srgbClr val="6B7B8D"/>
                </a:solidFill>
                <a:latin typeface="Segoe UI" pitchFamily="34" charset="0"/>
                <a:ea typeface="Segoe UI" pitchFamily="34" charset="-122"/>
                <a:cs typeface="Segoe UI" pitchFamily="34" charset="-120"/>
              </a:rPr>
              <a:t>JWT • mTLS • No PII</a:t>
            </a:r>
            <a:endParaRPr lang="en-US" sz="800" dirty="0"/>
          </a:p>
        </p:txBody>
      </p:sp>
      <p:sp>
        <p:nvSpPr>
          <p:cNvPr id="45" name="Text 43"/>
          <p:cNvSpPr/>
          <p:nvPr/>
        </p:nvSpPr>
        <p:spPr>
          <a:xfrm>
            <a:off x="6986016" y="3063240"/>
            <a:ext cx="2011680" cy="237744"/>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 Resilience</a:t>
            </a:r>
            <a:endParaRPr lang="en-US" sz="1000" dirty="0"/>
          </a:p>
        </p:txBody>
      </p:sp>
      <p:sp>
        <p:nvSpPr>
          <p:cNvPr id="46" name="Text 44"/>
          <p:cNvSpPr/>
          <p:nvPr/>
        </p:nvSpPr>
        <p:spPr>
          <a:xfrm>
            <a:off x="6986016" y="3319272"/>
            <a:ext cx="2011680" cy="201168"/>
          </a:xfrm>
          <a:prstGeom prst="rect">
            <a:avLst/>
          </a:prstGeom>
          <a:noFill/>
          <a:ln/>
        </p:spPr>
        <p:txBody>
          <a:bodyPr wrap="square" lIns="0" tIns="0" rIns="0" bIns="0" rtlCol="0" anchor="ctr"/>
          <a:lstStyle/>
          <a:p>
            <a:pPr algn="ctr" indent="0" marL="0">
              <a:buNone/>
            </a:pPr>
            <a:r>
              <a:rPr lang="en-US" sz="800" dirty="0">
                <a:solidFill>
                  <a:srgbClr val="6B7B8D"/>
                </a:solidFill>
                <a:latin typeface="Segoe UI" pitchFamily="34" charset="0"/>
                <a:ea typeface="Segoe UI" pitchFamily="34" charset="-122"/>
                <a:cs typeface="Segoe UI" pitchFamily="34" charset="-120"/>
              </a:rPr>
              <a:t>Circuit Breaker • Throttle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A"/>
        </a:solidFill>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algn="ctr" indent="0" marL="0">
              <a:buNone/>
            </a:pPr>
            <a:r>
              <a:rPr lang="en-US" sz="3600" b="1" dirty="0">
                <a:solidFill>
                  <a:srgbClr val="F4F6F8"/>
                </a:solidFill>
                <a:latin typeface="Segoe UI" pitchFamily="34" charset="0"/>
                <a:ea typeface="Segoe UI" pitchFamily="34" charset="-122"/>
                <a:cs typeface="Segoe UI" pitchFamily="34" charset="-120"/>
              </a:rPr>
              <a:t>Multi-Agent </a:t>
            </a:r>
            <a:pPr algn="ctr" indent="0" marL="0">
              <a:buNone/>
            </a:pPr>
            <a:r>
              <a:rPr lang="en-US" sz="3600" b="1" dirty="0">
                <a:solidFill>
                  <a:srgbClr val="D4A843"/>
                </a:solidFill>
                <a:latin typeface="Segoe UI" pitchFamily="34" charset="0"/>
                <a:ea typeface="Segoe UI" pitchFamily="34" charset="-122"/>
                <a:cs typeface="Segoe UI" pitchFamily="34" charset="-120"/>
              </a:rPr>
              <a:t>AI Pipeline</a:t>
            </a:r>
            <a:endParaRPr lang="en-US" sz="3600" dirty="0"/>
          </a:p>
        </p:txBody>
      </p:sp>
      <p:sp>
        <p:nvSpPr>
          <p:cNvPr id="3" name="Shape 1"/>
          <p:cNvSpPr/>
          <p:nvPr/>
        </p:nvSpPr>
        <p:spPr>
          <a:xfrm>
            <a:off x="4238244" y="795528"/>
            <a:ext cx="667512" cy="32004"/>
          </a:xfrm>
          <a:prstGeom prst="rect">
            <a:avLst/>
          </a:prstGeom>
          <a:solidFill>
            <a:srgbClr val="D4A843"/>
          </a:solidFill>
          <a:ln w="12700">
            <a:solidFill>
              <a:srgbClr val="D4A843"/>
            </a:solidFill>
            <a:prstDash val="solid"/>
          </a:ln>
        </p:spPr>
      </p:sp>
      <p:sp>
        <p:nvSpPr>
          <p:cNvPr id="4" name="Shape 2"/>
          <p:cNvSpPr/>
          <p:nvPr/>
        </p:nvSpPr>
        <p:spPr>
          <a:xfrm>
            <a:off x="1828800" y="1828800"/>
            <a:ext cx="365760" cy="0"/>
          </a:xfrm>
          <a:prstGeom prst="line">
            <a:avLst/>
          </a:prstGeom>
          <a:noFill/>
          <a:ln w="19050">
            <a:solidFill>
              <a:srgbClr val="4B5563"/>
            </a:solidFill>
            <a:prstDash val="sysDash"/>
          </a:ln>
        </p:spPr>
      </p:sp>
      <p:sp>
        <p:nvSpPr>
          <p:cNvPr id="5" name="Shape 3"/>
          <p:cNvSpPr/>
          <p:nvPr/>
        </p:nvSpPr>
        <p:spPr>
          <a:xfrm>
            <a:off x="274320" y="1005840"/>
            <a:ext cx="1536192" cy="1645920"/>
          </a:xfrm>
          <a:prstGeom prst="rect">
            <a:avLst/>
          </a:prstGeom>
          <a:solidFill>
            <a:srgbClr val="A78BFA">
              <a:alpha val="8000"/>
            </a:srgbClr>
          </a:solidFill>
          <a:ln w="19050">
            <a:solidFill>
              <a:srgbClr val="A78BFA"/>
            </a:solidFill>
            <a:prstDash val="solid"/>
          </a:ln>
        </p:spPr>
      </p:sp>
      <p:sp>
        <p:nvSpPr>
          <p:cNvPr id="6" name="Shape 4"/>
          <p:cNvSpPr/>
          <p:nvPr/>
        </p:nvSpPr>
        <p:spPr>
          <a:xfrm>
            <a:off x="1645920" y="1097280"/>
            <a:ext cx="91440" cy="91440"/>
          </a:xfrm>
          <a:prstGeom prst="ellipse">
            <a:avLst/>
          </a:prstGeom>
          <a:solidFill>
            <a:srgbClr val="A78BFA"/>
          </a:solidFill>
          <a:ln w="12700">
            <a:solidFill>
              <a:srgbClr val="A78BFA"/>
            </a:solidFill>
            <a:prstDash val="solid"/>
          </a:ln>
        </p:spPr>
      </p:sp>
      <p:sp>
        <p:nvSpPr>
          <p:cNvPr id="7" name="Text 5"/>
          <p:cNvSpPr/>
          <p:nvPr/>
        </p:nvSpPr>
        <p:spPr>
          <a:xfrm>
            <a:off x="274320" y="1078992"/>
            <a:ext cx="1536192" cy="201168"/>
          </a:xfrm>
          <a:prstGeom prst="rect">
            <a:avLst/>
          </a:prstGeom>
          <a:noFill/>
          <a:ln/>
        </p:spPr>
        <p:txBody>
          <a:bodyPr wrap="square" lIns="0" tIns="0" rIns="0" bIns="0" rtlCol="0" anchor="ctr"/>
          <a:lstStyle/>
          <a:p>
            <a:pPr algn="ctr" indent="0" marL="0">
              <a:buNone/>
            </a:pPr>
            <a:r>
              <a:rPr lang="en-US" sz="800" b="1" spc="100" kern="0" dirty="0">
                <a:solidFill>
                  <a:srgbClr val="6B7B8D"/>
                </a:solidFill>
                <a:latin typeface="Segoe UI" pitchFamily="34" charset="0"/>
                <a:ea typeface="Segoe UI" pitchFamily="34" charset="-122"/>
                <a:cs typeface="Segoe UI" pitchFamily="34" charset="-120"/>
              </a:rPr>
              <a:t>STEP 0</a:t>
            </a:r>
            <a:endParaRPr lang="en-US" sz="800" dirty="0"/>
          </a:p>
        </p:txBody>
      </p:sp>
      <p:sp>
        <p:nvSpPr>
          <p:cNvPr id="8" name="Text 6"/>
          <p:cNvSpPr/>
          <p:nvPr/>
        </p:nvSpPr>
        <p:spPr>
          <a:xfrm>
            <a:off x="320040" y="1325880"/>
            <a:ext cx="1444752" cy="292608"/>
          </a:xfrm>
          <a:prstGeom prst="rect">
            <a:avLst/>
          </a:prstGeom>
          <a:noFill/>
          <a:ln/>
        </p:spPr>
        <p:txBody>
          <a:bodyPr wrap="square" lIns="0" tIns="0" rIns="0" bIns="0" rtlCol="0" anchor="ctr"/>
          <a:lstStyle/>
          <a:p>
            <a:pPr algn="ctr" indent="0" marL="0">
              <a:buNone/>
            </a:pPr>
            <a:r>
              <a:rPr lang="en-US" sz="1400" b="1" dirty="0">
                <a:solidFill>
                  <a:srgbClr val="A78BFA"/>
                </a:solidFill>
                <a:latin typeface="Segoe UI" pitchFamily="34" charset="0"/>
                <a:ea typeface="Segoe UI" pitchFamily="34" charset="-122"/>
                <a:cs typeface="Segoe UI" pitchFamily="34" charset="-120"/>
              </a:rPr>
              <a:t>Pre-Processor</a:t>
            </a:r>
            <a:endParaRPr lang="en-US" sz="1400" dirty="0"/>
          </a:p>
        </p:txBody>
      </p:sp>
      <p:sp>
        <p:nvSpPr>
          <p:cNvPr id="9" name="Text 7"/>
          <p:cNvSpPr/>
          <p:nvPr/>
        </p:nvSpPr>
        <p:spPr>
          <a:xfrm>
            <a:off x="320040" y="1682496"/>
            <a:ext cx="1444752" cy="210312"/>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Parses &amp; structures</a:t>
            </a:r>
            <a:endParaRPr lang="en-US" sz="1000" dirty="0"/>
          </a:p>
        </p:txBody>
      </p:sp>
      <p:sp>
        <p:nvSpPr>
          <p:cNvPr id="10" name="Text 8"/>
          <p:cNvSpPr/>
          <p:nvPr/>
        </p:nvSpPr>
        <p:spPr>
          <a:xfrm>
            <a:off x="320040" y="1911096"/>
            <a:ext cx="1444752" cy="210312"/>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watchlist XML data</a:t>
            </a:r>
            <a:endParaRPr lang="en-US" sz="1000" dirty="0"/>
          </a:p>
        </p:txBody>
      </p:sp>
      <p:sp>
        <p:nvSpPr>
          <p:cNvPr id="11" name="Text 9"/>
          <p:cNvSpPr/>
          <p:nvPr/>
        </p:nvSpPr>
        <p:spPr>
          <a:xfrm>
            <a:off x="320040" y="2395728"/>
            <a:ext cx="1444752" cy="201168"/>
          </a:xfrm>
          <a:prstGeom prst="rect">
            <a:avLst/>
          </a:prstGeom>
          <a:noFill/>
          <a:ln/>
        </p:spPr>
        <p:txBody>
          <a:bodyPr wrap="square" lIns="0" tIns="0" rIns="0" bIns="0" rtlCol="0" anchor="ctr"/>
          <a:lstStyle/>
          <a:p>
            <a:pPr algn="ctr" indent="0" marL="0">
              <a:buNone/>
            </a:pPr>
            <a:r>
              <a:rPr lang="en-US" sz="900" i="1" dirty="0">
                <a:solidFill>
                  <a:srgbClr val="A78BFA"/>
                </a:solidFill>
                <a:latin typeface="Segoe UI" pitchFamily="34" charset="0"/>
                <a:ea typeface="Segoe UI" pitchFamily="34" charset="-122"/>
                <a:cs typeface="Segoe UI" pitchFamily="34" charset="-120"/>
              </a:rPr>
              <a:t>Gemini Flash</a:t>
            </a:r>
            <a:endParaRPr lang="en-US" sz="900" dirty="0"/>
          </a:p>
        </p:txBody>
      </p:sp>
      <p:sp>
        <p:nvSpPr>
          <p:cNvPr id="12" name="Shape 10"/>
          <p:cNvSpPr/>
          <p:nvPr/>
        </p:nvSpPr>
        <p:spPr>
          <a:xfrm>
            <a:off x="3566160" y="1828800"/>
            <a:ext cx="365760" cy="0"/>
          </a:xfrm>
          <a:prstGeom prst="line">
            <a:avLst/>
          </a:prstGeom>
          <a:noFill/>
          <a:ln w="19050">
            <a:solidFill>
              <a:srgbClr val="4B5563"/>
            </a:solidFill>
            <a:prstDash val="sysDash"/>
          </a:ln>
        </p:spPr>
      </p:sp>
      <p:sp>
        <p:nvSpPr>
          <p:cNvPr id="13" name="Shape 11"/>
          <p:cNvSpPr/>
          <p:nvPr/>
        </p:nvSpPr>
        <p:spPr>
          <a:xfrm>
            <a:off x="2011680" y="1005840"/>
            <a:ext cx="1536192" cy="1645920"/>
          </a:xfrm>
          <a:prstGeom prst="rect">
            <a:avLst/>
          </a:prstGeom>
          <a:solidFill>
            <a:srgbClr val="60A5FA">
              <a:alpha val="8000"/>
            </a:srgbClr>
          </a:solidFill>
          <a:ln w="19050">
            <a:solidFill>
              <a:srgbClr val="60A5FA"/>
            </a:solidFill>
            <a:prstDash val="solid"/>
          </a:ln>
        </p:spPr>
      </p:sp>
      <p:sp>
        <p:nvSpPr>
          <p:cNvPr id="14" name="Shape 12"/>
          <p:cNvSpPr/>
          <p:nvPr/>
        </p:nvSpPr>
        <p:spPr>
          <a:xfrm>
            <a:off x="3383280" y="1097280"/>
            <a:ext cx="91440" cy="91440"/>
          </a:xfrm>
          <a:prstGeom prst="ellipse">
            <a:avLst/>
          </a:prstGeom>
          <a:solidFill>
            <a:srgbClr val="60A5FA"/>
          </a:solidFill>
          <a:ln w="12700">
            <a:solidFill>
              <a:srgbClr val="60A5FA"/>
            </a:solidFill>
            <a:prstDash val="solid"/>
          </a:ln>
        </p:spPr>
      </p:sp>
      <p:sp>
        <p:nvSpPr>
          <p:cNvPr id="15" name="Text 13"/>
          <p:cNvSpPr/>
          <p:nvPr/>
        </p:nvSpPr>
        <p:spPr>
          <a:xfrm>
            <a:off x="2011680" y="1078992"/>
            <a:ext cx="1536192" cy="201168"/>
          </a:xfrm>
          <a:prstGeom prst="rect">
            <a:avLst/>
          </a:prstGeom>
          <a:noFill/>
          <a:ln/>
        </p:spPr>
        <p:txBody>
          <a:bodyPr wrap="square" lIns="0" tIns="0" rIns="0" bIns="0" rtlCol="0" anchor="ctr"/>
          <a:lstStyle/>
          <a:p>
            <a:pPr algn="ctr" indent="0" marL="0">
              <a:buNone/>
            </a:pPr>
            <a:r>
              <a:rPr lang="en-US" sz="800" b="1" spc="100" kern="0" dirty="0">
                <a:solidFill>
                  <a:srgbClr val="6B7B8D"/>
                </a:solidFill>
                <a:latin typeface="Segoe UI" pitchFamily="34" charset="0"/>
                <a:ea typeface="Segoe UI" pitchFamily="34" charset="-122"/>
                <a:cs typeface="Segoe UI" pitchFamily="34" charset="-120"/>
              </a:rPr>
              <a:t>STEP 1</a:t>
            </a:r>
            <a:endParaRPr lang="en-US" sz="800" dirty="0"/>
          </a:p>
        </p:txBody>
      </p:sp>
      <p:sp>
        <p:nvSpPr>
          <p:cNvPr id="16" name="Text 14"/>
          <p:cNvSpPr/>
          <p:nvPr/>
        </p:nvSpPr>
        <p:spPr>
          <a:xfrm>
            <a:off x="2057400" y="1325880"/>
            <a:ext cx="1444752" cy="292608"/>
          </a:xfrm>
          <a:prstGeom prst="rect">
            <a:avLst/>
          </a:prstGeom>
          <a:noFill/>
          <a:ln/>
        </p:spPr>
        <p:txBody>
          <a:bodyPr wrap="square" lIns="0" tIns="0" rIns="0" bIns="0" rtlCol="0" anchor="ctr"/>
          <a:lstStyle/>
          <a:p>
            <a:pPr algn="ctr" indent="0" marL="0">
              <a:buNone/>
            </a:pPr>
            <a:r>
              <a:rPr lang="en-US" sz="1400" b="1" dirty="0">
                <a:solidFill>
                  <a:srgbClr val="60A5FA"/>
                </a:solidFill>
                <a:latin typeface="Segoe UI" pitchFamily="34" charset="0"/>
                <a:ea typeface="Segoe UI" pitchFamily="34" charset="-122"/>
                <a:cs typeface="Segoe UI" pitchFamily="34" charset="-120"/>
              </a:rPr>
              <a:t>Analyzer</a:t>
            </a:r>
            <a:endParaRPr lang="en-US" sz="1400" dirty="0"/>
          </a:p>
        </p:txBody>
      </p:sp>
      <p:sp>
        <p:nvSpPr>
          <p:cNvPr id="17" name="Text 15"/>
          <p:cNvSpPr/>
          <p:nvPr/>
        </p:nvSpPr>
        <p:spPr>
          <a:xfrm>
            <a:off x="2057400" y="1682496"/>
            <a:ext cx="1444752" cy="210312"/>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Field-by-field</a:t>
            </a:r>
            <a:endParaRPr lang="en-US" sz="1000" dirty="0"/>
          </a:p>
        </p:txBody>
      </p:sp>
      <p:sp>
        <p:nvSpPr>
          <p:cNvPr id="18" name="Text 16"/>
          <p:cNvSpPr/>
          <p:nvPr/>
        </p:nvSpPr>
        <p:spPr>
          <a:xfrm>
            <a:off x="2057400" y="1911096"/>
            <a:ext cx="1444752" cy="210312"/>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comparison</a:t>
            </a:r>
            <a:endParaRPr lang="en-US" sz="1000" dirty="0"/>
          </a:p>
        </p:txBody>
      </p:sp>
      <p:sp>
        <p:nvSpPr>
          <p:cNvPr id="19" name="Text 17"/>
          <p:cNvSpPr/>
          <p:nvPr/>
        </p:nvSpPr>
        <p:spPr>
          <a:xfrm>
            <a:off x="2057400" y="2395728"/>
            <a:ext cx="1444752" cy="201168"/>
          </a:xfrm>
          <a:prstGeom prst="rect">
            <a:avLst/>
          </a:prstGeom>
          <a:noFill/>
          <a:ln/>
        </p:spPr>
        <p:txBody>
          <a:bodyPr wrap="square" lIns="0" tIns="0" rIns="0" bIns="0" rtlCol="0" anchor="ctr"/>
          <a:lstStyle/>
          <a:p>
            <a:pPr algn="ctr" indent="0" marL="0">
              <a:buNone/>
            </a:pPr>
            <a:r>
              <a:rPr lang="en-US" sz="900" i="1" dirty="0">
                <a:solidFill>
                  <a:srgbClr val="60A5FA"/>
                </a:solidFill>
                <a:latin typeface="Segoe UI" pitchFamily="34" charset="0"/>
                <a:ea typeface="Segoe UI" pitchFamily="34" charset="-122"/>
                <a:cs typeface="Segoe UI" pitchFamily="34" charset="-120"/>
              </a:rPr>
              <a:t>Gemini Flash</a:t>
            </a:r>
            <a:endParaRPr lang="en-US" sz="900" dirty="0"/>
          </a:p>
        </p:txBody>
      </p:sp>
      <p:sp>
        <p:nvSpPr>
          <p:cNvPr id="20" name="Shape 18"/>
          <p:cNvSpPr/>
          <p:nvPr/>
        </p:nvSpPr>
        <p:spPr>
          <a:xfrm>
            <a:off x="5303520" y="1828800"/>
            <a:ext cx="365760" cy="0"/>
          </a:xfrm>
          <a:prstGeom prst="line">
            <a:avLst/>
          </a:prstGeom>
          <a:noFill/>
          <a:ln w="19050">
            <a:solidFill>
              <a:srgbClr val="4B5563"/>
            </a:solidFill>
            <a:prstDash val="sysDash"/>
          </a:ln>
        </p:spPr>
      </p:sp>
      <p:sp>
        <p:nvSpPr>
          <p:cNvPr id="21" name="Shape 19"/>
          <p:cNvSpPr/>
          <p:nvPr/>
        </p:nvSpPr>
        <p:spPr>
          <a:xfrm>
            <a:off x="3749040" y="1005840"/>
            <a:ext cx="1536192" cy="1645920"/>
          </a:xfrm>
          <a:prstGeom prst="rect">
            <a:avLst/>
          </a:prstGeom>
          <a:solidFill>
            <a:srgbClr val="D4A843">
              <a:alpha val="8000"/>
            </a:srgbClr>
          </a:solidFill>
          <a:ln w="19050">
            <a:solidFill>
              <a:srgbClr val="D4A843"/>
            </a:solidFill>
            <a:prstDash val="solid"/>
          </a:ln>
        </p:spPr>
      </p:sp>
      <p:sp>
        <p:nvSpPr>
          <p:cNvPr id="22" name="Shape 20"/>
          <p:cNvSpPr/>
          <p:nvPr/>
        </p:nvSpPr>
        <p:spPr>
          <a:xfrm>
            <a:off x="5120640" y="1097280"/>
            <a:ext cx="91440" cy="91440"/>
          </a:xfrm>
          <a:prstGeom prst="ellipse">
            <a:avLst/>
          </a:prstGeom>
          <a:solidFill>
            <a:srgbClr val="D4A843"/>
          </a:solidFill>
          <a:ln w="12700">
            <a:solidFill>
              <a:srgbClr val="D4A843"/>
            </a:solidFill>
            <a:prstDash val="solid"/>
          </a:ln>
        </p:spPr>
      </p:sp>
      <p:sp>
        <p:nvSpPr>
          <p:cNvPr id="23" name="Text 21"/>
          <p:cNvSpPr/>
          <p:nvPr/>
        </p:nvSpPr>
        <p:spPr>
          <a:xfrm>
            <a:off x="3749040" y="1078992"/>
            <a:ext cx="1536192" cy="201168"/>
          </a:xfrm>
          <a:prstGeom prst="rect">
            <a:avLst/>
          </a:prstGeom>
          <a:noFill/>
          <a:ln/>
        </p:spPr>
        <p:txBody>
          <a:bodyPr wrap="square" lIns="0" tIns="0" rIns="0" bIns="0" rtlCol="0" anchor="ctr"/>
          <a:lstStyle/>
          <a:p>
            <a:pPr algn="ctr" indent="0" marL="0">
              <a:buNone/>
            </a:pPr>
            <a:r>
              <a:rPr lang="en-US" sz="800" b="1" spc="100" kern="0" dirty="0">
                <a:solidFill>
                  <a:srgbClr val="6B7B8D"/>
                </a:solidFill>
                <a:latin typeface="Segoe UI" pitchFamily="34" charset="0"/>
                <a:ea typeface="Segoe UI" pitchFamily="34" charset="-122"/>
                <a:cs typeface="Segoe UI" pitchFamily="34" charset="-120"/>
              </a:rPr>
              <a:t>STEP 2</a:t>
            </a:r>
            <a:endParaRPr lang="en-US" sz="800" dirty="0"/>
          </a:p>
        </p:txBody>
      </p:sp>
      <p:sp>
        <p:nvSpPr>
          <p:cNvPr id="24" name="Text 22"/>
          <p:cNvSpPr/>
          <p:nvPr/>
        </p:nvSpPr>
        <p:spPr>
          <a:xfrm>
            <a:off x="3794760" y="1325880"/>
            <a:ext cx="1444752" cy="292608"/>
          </a:xfrm>
          <a:prstGeom prst="rect">
            <a:avLst/>
          </a:prstGeom>
          <a:noFill/>
          <a:ln/>
        </p:spPr>
        <p:txBody>
          <a:bodyPr wrap="square" lIns="0" tIns="0" rIns="0" bIns="0" rtlCol="0" anchor="ctr"/>
          <a:lstStyle/>
          <a:p>
            <a:pPr algn="ctr" indent="0" marL="0">
              <a:buNone/>
            </a:pPr>
            <a:r>
              <a:rPr lang="en-US" sz="1400" b="1" dirty="0">
                <a:solidFill>
                  <a:srgbClr val="D4A843"/>
                </a:solidFill>
                <a:latin typeface="Segoe UI" pitchFamily="34" charset="0"/>
                <a:ea typeface="Segoe UI" pitchFamily="34" charset="-122"/>
                <a:cs typeface="Segoe UI" pitchFamily="34" charset="-120"/>
              </a:rPr>
              <a:t>Maker</a:t>
            </a:r>
            <a:endParaRPr lang="en-US" sz="1400" dirty="0"/>
          </a:p>
        </p:txBody>
      </p:sp>
      <p:sp>
        <p:nvSpPr>
          <p:cNvPr id="25" name="Text 23"/>
          <p:cNvSpPr/>
          <p:nvPr/>
        </p:nvSpPr>
        <p:spPr>
          <a:xfrm>
            <a:off x="3794760" y="1682496"/>
            <a:ext cx="1444752" cy="210312"/>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Decision Engine</a:t>
            </a:r>
            <a:endParaRPr lang="en-US" sz="1000" dirty="0"/>
          </a:p>
        </p:txBody>
      </p:sp>
      <p:sp>
        <p:nvSpPr>
          <p:cNvPr id="26" name="Text 24"/>
          <p:cNvSpPr/>
          <p:nvPr/>
        </p:nvSpPr>
        <p:spPr>
          <a:xfrm>
            <a:off x="3794760" y="1911096"/>
            <a:ext cx="1444752" cy="210312"/>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TM / FF / Review</a:t>
            </a:r>
            <a:endParaRPr lang="en-US" sz="1000" dirty="0"/>
          </a:p>
        </p:txBody>
      </p:sp>
      <p:sp>
        <p:nvSpPr>
          <p:cNvPr id="27" name="Text 25"/>
          <p:cNvSpPr/>
          <p:nvPr/>
        </p:nvSpPr>
        <p:spPr>
          <a:xfrm>
            <a:off x="3794760" y="2395728"/>
            <a:ext cx="1444752" cy="201168"/>
          </a:xfrm>
          <a:prstGeom prst="rect">
            <a:avLst/>
          </a:prstGeom>
          <a:noFill/>
          <a:ln/>
        </p:spPr>
        <p:txBody>
          <a:bodyPr wrap="square" lIns="0" tIns="0" rIns="0" bIns="0" rtlCol="0" anchor="ctr"/>
          <a:lstStyle/>
          <a:p>
            <a:pPr algn="ctr" indent="0" marL="0">
              <a:buNone/>
            </a:pPr>
            <a:r>
              <a:rPr lang="en-US" sz="900" i="1" dirty="0">
                <a:solidFill>
                  <a:srgbClr val="D4A843"/>
                </a:solidFill>
                <a:latin typeface="Segoe UI" pitchFamily="34" charset="0"/>
                <a:ea typeface="Segoe UI" pitchFamily="34" charset="-122"/>
                <a:cs typeface="Segoe UI" pitchFamily="34" charset="-120"/>
              </a:rPr>
              <a:t>Gemini Flash</a:t>
            </a:r>
            <a:endParaRPr lang="en-US" sz="900" dirty="0"/>
          </a:p>
        </p:txBody>
      </p:sp>
      <p:sp>
        <p:nvSpPr>
          <p:cNvPr id="28" name="Shape 26"/>
          <p:cNvSpPr/>
          <p:nvPr/>
        </p:nvSpPr>
        <p:spPr>
          <a:xfrm>
            <a:off x="7040880" y="1828800"/>
            <a:ext cx="365760" cy="0"/>
          </a:xfrm>
          <a:prstGeom prst="line">
            <a:avLst/>
          </a:prstGeom>
          <a:noFill/>
          <a:ln w="19050">
            <a:solidFill>
              <a:srgbClr val="4B5563"/>
            </a:solidFill>
            <a:prstDash val="sysDash"/>
          </a:ln>
        </p:spPr>
      </p:sp>
      <p:sp>
        <p:nvSpPr>
          <p:cNvPr id="29" name="Shape 27"/>
          <p:cNvSpPr/>
          <p:nvPr/>
        </p:nvSpPr>
        <p:spPr>
          <a:xfrm>
            <a:off x="5486400" y="1005840"/>
            <a:ext cx="1536192" cy="1645920"/>
          </a:xfrm>
          <a:prstGeom prst="rect">
            <a:avLst/>
          </a:prstGeom>
          <a:solidFill>
            <a:srgbClr val="22C55E">
              <a:alpha val="8000"/>
            </a:srgbClr>
          </a:solidFill>
          <a:ln w="19050">
            <a:solidFill>
              <a:srgbClr val="22C55E"/>
            </a:solidFill>
            <a:prstDash val="solid"/>
          </a:ln>
        </p:spPr>
      </p:sp>
      <p:sp>
        <p:nvSpPr>
          <p:cNvPr id="30" name="Shape 28"/>
          <p:cNvSpPr/>
          <p:nvPr/>
        </p:nvSpPr>
        <p:spPr>
          <a:xfrm>
            <a:off x="6858000" y="1097280"/>
            <a:ext cx="91440" cy="91440"/>
          </a:xfrm>
          <a:prstGeom prst="ellipse">
            <a:avLst/>
          </a:prstGeom>
          <a:solidFill>
            <a:srgbClr val="22C55E"/>
          </a:solidFill>
          <a:ln w="12700">
            <a:solidFill>
              <a:srgbClr val="22C55E"/>
            </a:solidFill>
            <a:prstDash val="solid"/>
          </a:ln>
        </p:spPr>
      </p:sp>
      <p:sp>
        <p:nvSpPr>
          <p:cNvPr id="31" name="Text 29"/>
          <p:cNvSpPr/>
          <p:nvPr/>
        </p:nvSpPr>
        <p:spPr>
          <a:xfrm>
            <a:off x="5486400" y="1078992"/>
            <a:ext cx="1536192" cy="201168"/>
          </a:xfrm>
          <a:prstGeom prst="rect">
            <a:avLst/>
          </a:prstGeom>
          <a:noFill/>
          <a:ln/>
        </p:spPr>
        <p:txBody>
          <a:bodyPr wrap="square" lIns="0" tIns="0" rIns="0" bIns="0" rtlCol="0" anchor="ctr"/>
          <a:lstStyle/>
          <a:p>
            <a:pPr algn="ctr" indent="0" marL="0">
              <a:buNone/>
            </a:pPr>
            <a:r>
              <a:rPr lang="en-US" sz="800" b="1" spc="100" kern="0" dirty="0">
                <a:solidFill>
                  <a:srgbClr val="6B7B8D"/>
                </a:solidFill>
                <a:latin typeface="Segoe UI" pitchFamily="34" charset="0"/>
                <a:ea typeface="Segoe UI" pitchFamily="34" charset="-122"/>
                <a:cs typeface="Segoe UI" pitchFamily="34" charset="-120"/>
              </a:rPr>
              <a:t>STEP 3</a:t>
            </a:r>
            <a:endParaRPr lang="en-US" sz="800" dirty="0"/>
          </a:p>
        </p:txBody>
      </p:sp>
      <p:sp>
        <p:nvSpPr>
          <p:cNvPr id="32" name="Text 30"/>
          <p:cNvSpPr/>
          <p:nvPr/>
        </p:nvSpPr>
        <p:spPr>
          <a:xfrm>
            <a:off x="5532120" y="1325880"/>
            <a:ext cx="1444752" cy="292608"/>
          </a:xfrm>
          <a:prstGeom prst="rect">
            <a:avLst/>
          </a:prstGeom>
          <a:noFill/>
          <a:ln/>
        </p:spPr>
        <p:txBody>
          <a:bodyPr wrap="square" lIns="0" tIns="0" rIns="0" bIns="0" rtlCol="0" anchor="ctr"/>
          <a:lstStyle/>
          <a:p>
            <a:pPr algn="ctr" indent="0" marL="0">
              <a:buNone/>
            </a:pPr>
            <a:r>
              <a:rPr lang="en-US" sz="1400" b="1" dirty="0">
                <a:solidFill>
                  <a:srgbClr val="22C55E"/>
                </a:solidFill>
                <a:latin typeface="Segoe UI" pitchFamily="34" charset="0"/>
                <a:ea typeface="Segoe UI" pitchFamily="34" charset="-122"/>
                <a:cs typeface="Segoe UI" pitchFamily="34" charset="-120"/>
              </a:rPr>
              <a:t>Checker</a:t>
            </a:r>
            <a:endParaRPr lang="en-US" sz="1400" dirty="0"/>
          </a:p>
        </p:txBody>
      </p:sp>
      <p:sp>
        <p:nvSpPr>
          <p:cNvPr id="33" name="Text 31"/>
          <p:cNvSpPr/>
          <p:nvPr/>
        </p:nvSpPr>
        <p:spPr>
          <a:xfrm>
            <a:off x="5532120" y="1682496"/>
            <a:ext cx="1444752" cy="210312"/>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Independent</a:t>
            </a:r>
            <a:endParaRPr lang="en-US" sz="1000" dirty="0"/>
          </a:p>
        </p:txBody>
      </p:sp>
      <p:sp>
        <p:nvSpPr>
          <p:cNvPr id="34" name="Text 32"/>
          <p:cNvSpPr/>
          <p:nvPr/>
        </p:nvSpPr>
        <p:spPr>
          <a:xfrm>
            <a:off x="5532120" y="1911096"/>
            <a:ext cx="1444752" cy="210312"/>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QA Validation</a:t>
            </a:r>
            <a:endParaRPr lang="en-US" sz="1000" dirty="0"/>
          </a:p>
        </p:txBody>
      </p:sp>
      <p:sp>
        <p:nvSpPr>
          <p:cNvPr id="35" name="Text 33"/>
          <p:cNvSpPr/>
          <p:nvPr/>
        </p:nvSpPr>
        <p:spPr>
          <a:xfrm>
            <a:off x="5532120" y="2395728"/>
            <a:ext cx="1444752" cy="201168"/>
          </a:xfrm>
          <a:prstGeom prst="rect">
            <a:avLst/>
          </a:prstGeom>
          <a:noFill/>
          <a:ln/>
        </p:spPr>
        <p:txBody>
          <a:bodyPr wrap="square" lIns="0" tIns="0" rIns="0" bIns="0" rtlCol="0" anchor="ctr"/>
          <a:lstStyle/>
          <a:p>
            <a:pPr algn="ctr" indent="0" marL="0">
              <a:buNone/>
            </a:pPr>
            <a:r>
              <a:rPr lang="en-US" sz="900" i="1" dirty="0">
                <a:solidFill>
                  <a:srgbClr val="22C55E"/>
                </a:solidFill>
                <a:latin typeface="Segoe UI" pitchFamily="34" charset="0"/>
                <a:ea typeface="Segoe UI" pitchFamily="34" charset="-122"/>
                <a:cs typeface="Segoe UI" pitchFamily="34" charset="-120"/>
              </a:rPr>
              <a:t>GPT-4.1</a:t>
            </a:r>
            <a:endParaRPr lang="en-US" sz="900" dirty="0"/>
          </a:p>
        </p:txBody>
      </p:sp>
      <p:sp>
        <p:nvSpPr>
          <p:cNvPr id="36" name="Shape 34"/>
          <p:cNvSpPr/>
          <p:nvPr/>
        </p:nvSpPr>
        <p:spPr>
          <a:xfrm>
            <a:off x="7223760" y="1005840"/>
            <a:ext cx="1536192" cy="1645920"/>
          </a:xfrm>
          <a:prstGeom prst="rect">
            <a:avLst/>
          </a:prstGeom>
          <a:solidFill>
            <a:srgbClr val="14B8A6">
              <a:alpha val="8000"/>
            </a:srgbClr>
          </a:solidFill>
          <a:ln w="19050">
            <a:solidFill>
              <a:srgbClr val="14B8A6"/>
            </a:solidFill>
            <a:prstDash val="solid"/>
          </a:ln>
        </p:spPr>
      </p:sp>
      <p:sp>
        <p:nvSpPr>
          <p:cNvPr id="37" name="Shape 35"/>
          <p:cNvSpPr/>
          <p:nvPr/>
        </p:nvSpPr>
        <p:spPr>
          <a:xfrm>
            <a:off x="8595360" y="1097280"/>
            <a:ext cx="91440" cy="91440"/>
          </a:xfrm>
          <a:prstGeom prst="ellipse">
            <a:avLst/>
          </a:prstGeom>
          <a:solidFill>
            <a:srgbClr val="14B8A6"/>
          </a:solidFill>
          <a:ln w="12700">
            <a:solidFill>
              <a:srgbClr val="14B8A6"/>
            </a:solidFill>
            <a:prstDash val="solid"/>
          </a:ln>
        </p:spPr>
      </p:sp>
      <p:sp>
        <p:nvSpPr>
          <p:cNvPr id="38" name="Text 36"/>
          <p:cNvSpPr/>
          <p:nvPr/>
        </p:nvSpPr>
        <p:spPr>
          <a:xfrm>
            <a:off x="7223760" y="1078992"/>
            <a:ext cx="1536192" cy="201168"/>
          </a:xfrm>
          <a:prstGeom prst="rect">
            <a:avLst/>
          </a:prstGeom>
          <a:noFill/>
          <a:ln/>
        </p:spPr>
        <p:txBody>
          <a:bodyPr wrap="square" lIns="0" tIns="0" rIns="0" bIns="0" rtlCol="0" anchor="ctr"/>
          <a:lstStyle/>
          <a:p>
            <a:pPr algn="ctr" indent="0" marL="0">
              <a:buNone/>
            </a:pPr>
            <a:r>
              <a:rPr lang="en-US" sz="800" b="1" spc="100" kern="0" dirty="0">
                <a:solidFill>
                  <a:srgbClr val="6B7B8D"/>
                </a:solidFill>
                <a:latin typeface="Segoe UI" pitchFamily="34" charset="0"/>
                <a:ea typeface="Segoe UI" pitchFamily="34" charset="-122"/>
                <a:cs typeface="Segoe UI" pitchFamily="34" charset="-120"/>
              </a:rPr>
              <a:t>STEP 4</a:t>
            </a:r>
            <a:endParaRPr lang="en-US" sz="800" dirty="0"/>
          </a:p>
        </p:txBody>
      </p:sp>
      <p:sp>
        <p:nvSpPr>
          <p:cNvPr id="39" name="Text 37"/>
          <p:cNvSpPr/>
          <p:nvPr/>
        </p:nvSpPr>
        <p:spPr>
          <a:xfrm>
            <a:off x="7269480" y="1325880"/>
            <a:ext cx="1444752" cy="292608"/>
          </a:xfrm>
          <a:prstGeom prst="rect">
            <a:avLst/>
          </a:prstGeom>
          <a:noFill/>
          <a:ln/>
        </p:spPr>
        <p:txBody>
          <a:bodyPr wrap="square" lIns="0" tIns="0" rIns="0" bIns="0" rtlCol="0" anchor="ctr"/>
          <a:lstStyle/>
          <a:p>
            <a:pPr algn="ctr" indent="0" marL="0">
              <a:buNone/>
            </a:pPr>
            <a:r>
              <a:rPr lang="en-US" sz="1400" b="1" dirty="0">
                <a:solidFill>
                  <a:srgbClr val="14B8A6"/>
                </a:solidFill>
                <a:latin typeface="Segoe UI" pitchFamily="34" charset="0"/>
                <a:ea typeface="Segoe UI" pitchFamily="34" charset="-122"/>
                <a:cs typeface="Segoe UI" pitchFamily="34" charset="-120"/>
              </a:rPr>
              <a:t>Consolidator</a:t>
            </a:r>
            <a:endParaRPr lang="en-US" sz="1400" dirty="0"/>
          </a:p>
        </p:txBody>
      </p:sp>
      <p:sp>
        <p:nvSpPr>
          <p:cNvPr id="40" name="Text 38"/>
          <p:cNvSpPr/>
          <p:nvPr/>
        </p:nvSpPr>
        <p:spPr>
          <a:xfrm>
            <a:off x="7269480" y="1682496"/>
            <a:ext cx="1444752" cy="210312"/>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Alert-level</a:t>
            </a:r>
            <a:endParaRPr lang="en-US" sz="1000" dirty="0"/>
          </a:p>
        </p:txBody>
      </p:sp>
      <p:sp>
        <p:nvSpPr>
          <p:cNvPr id="41" name="Text 39"/>
          <p:cNvSpPr/>
          <p:nvPr/>
        </p:nvSpPr>
        <p:spPr>
          <a:xfrm>
            <a:off x="7269480" y="1911096"/>
            <a:ext cx="1444752" cy="210312"/>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recommendation</a:t>
            </a:r>
            <a:endParaRPr lang="en-US" sz="1000" dirty="0"/>
          </a:p>
        </p:txBody>
      </p:sp>
      <p:sp>
        <p:nvSpPr>
          <p:cNvPr id="42" name="Text 40"/>
          <p:cNvSpPr/>
          <p:nvPr/>
        </p:nvSpPr>
        <p:spPr>
          <a:xfrm>
            <a:off x="7269480" y="2395728"/>
            <a:ext cx="1444752" cy="201168"/>
          </a:xfrm>
          <a:prstGeom prst="rect">
            <a:avLst/>
          </a:prstGeom>
          <a:noFill/>
          <a:ln/>
        </p:spPr>
        <p:txBody>
          <a:bodyPr wrap="square" lIns="0" tIns="0" rIns="0" bIns="0" rtlCol="0" anchor="ctr"/>
          <a:lstStyle/>
          <a:p>
            <a:pPr algn="ctr" indent="0" marL="0">
              <a:buNone/>
            </a:pPr>
            <a:r>
              <a:rPr lang="en-US" sz="900" i="1" dirty="0">
                <a:solidFill>
                  <a:srgbClr val="14B8A6"/>
                </a:solidFill>
                <a:latin typeface="Segoe UI" pitchFamily="34" charset="0"/>
                <a:ea typeface="Segoe UI" pitchFamily="34" charset="-122"/>
                <a:cs typeface="Segoe UI" pitchFamily="34" charset="-120"/>
              </a:rPr>
              <a:t>Gemini Flash</a:t>
            </a:r>
            <a:endParaRPr lang="en-US" sz="900" dirty="0"/>
          </a:p>
        </p:txBody>
      </p:sp>
      <p:sp>
        <p:nvSpPr>
          <p:cNvPr id="43" name="Shape 41"/>
          <p:cNvSpPr/>
          <p:nvPr/>
        </p:nvSpPr>
        <p:spPr>
          <a:xfrm>
            <a:off x="320040" y="2852928"/>
            <a:ext cx="4160520" cy="109728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44" name="Shape 42"/>
          <p:cNvSpPr/>
          <p:nvPr/>
        </p:nvSpPr>
        <p:spPr>
          <a:xfrm>
            <a:off x="320040" y="2852928"/>
            <a:ext cx="50292" cy="1097280"/>
          </a:xfrm>
          <a:prstGeom prst="rect">
            <a:avLst/>
          </a:prstGeom>
          <a:solidFill>
            <a:srgbClr val="D4A843"/>
          </a:solidFill>
          <a:ln w="12700">
            <a:solidFill>
              <a:srgbClr val="D4A843"/>
            </a:solidFill>
            <a:prstDash val="solid"/>
          </a:ln>
        </p:spPr>
      </p:sp>
      <p:sp>
        <p:nvSpPr>
          <p:cNvPr id="45" name="Text 43"/>
          <p:cNvSpPr/>
          <p:nvPr/>
        </p:nvSpPr>
        <p:spPr>
          <a:xfrm>
            <a:off x="475488" y="2907792"/>
            <a:ext cx="3840480" cy="256032"/>
          </a:xfrm>
          <a:prstGeom prst="rect">
            <a:avLst/>
          </a:prstGeom>
          <a:noFill/>
          <a:ln/>
        </p:spPr>
        <p:txBody>
          <a:bodyPr wrap="square" lIns="0" tIns="0" rIns="0" bIns="0" rtlCol="0" anchor="ctr"/>
          <a:lstStyle/>
          <a:p>
            <a:pPr indent="0" marL="0">
              <a:buNone/>
            </a:pPr>
            <a:r>
              <a:rPr lang="en-US" sz="1400" b="1" dirty="0">
                <a:solidFill>
                  <a:srgbClr val="D4A843"/>
                </a:solidFill>
                <a:latin typeface="Segoe UI" pitchFamily="34" charset="0"/>
                <a:ea typeface="Segoe UI" pitchFamily="34" charset="-122"/>
                <a:cs typeface="Segoe UI" pitchFamily="34" charset="-120"/>
              </a:rPr>
              <a:t>Maker-Checker Pattern</a:t>
            </a:r>
            <a:endParaRPr lang="en-US" sz="1400" dirty="0"/>
          </a:p>
        </p:txBody>
      </p:sp>
      <p:sp>
        <p:nvSpPr>
          <p:cNvPr id="46" name="Text 44"/>
          <p:cNvSpPr/>
          <p:nvPr/>
        </p:nvSpPr>
        <p:spPr>
          <a:xfrm>
            <a:off x="475488" y="3200400"/>
            <a:ext cx="3840480" cy="685800"/>
          </a:xfrm>
          <a:prstGeom prst="rect">
            <a:avLst/>
          </a:prstGeom>
          <a:noFill/>
          <a:ln/>
        </p:spPr>
        <p:txBody>
          <a:bodyPr wrap="square" lIns="0" tIns="0" rIns="0" bIns="0" rtlCol="0" anchor="t"/>
          <a:lstStyle/>
          <a:p>
            <a:pPr indent="0" marL="0">
              <a:buNone/>
            </a:pPr>
            <a:r>
              <a:rPr lang="en-US" sz="1200" b="1" dirty="0">
                <a:solidFill>
                  <a:srgbClr val="F0D080"/>
                </a:solidFill>
                <a:latin typeface="Segoe UI" pitchFamily="34" charset="0"/>
                <a:ea typeface="Segoe UI" pitchFamily="34" charset="-122"/>
                <a:cs typeface="Segoe UI" pitchFamily="34" charset="-120"/>
              </a:rPr>
              <a:t>Maker</a:t>
            </a:r>
            <a:pPr indent="0" marL="0">
              <a:buNone/>
            </a:pPr>
            <a:r>
              <a:rPr lang="en-US" sz="1200" dirty="0">
                <a:solidFill>
                  <a:srgbClr val="B8C5D3"/>
                </a:solidFill>
                <a:latin typeface="Segoe UI" pitchFamily="34" charset="0"/>
                <a:ea typeface="Segoe UI" pitchFamily="34" charset="-122"/>
                <a:cs typeface="Segoe UI" pitchFamily="34" charset="-120"/>
              </a:rPr>
              <a:t> proposes a decision; </a:t>
            </a:r>
            <a:pPr indent="0" marL="0">
              <a:buNone/>
            </a:pPr>
            <a:r>
              <a:rPr lang="en-US" sz="1200" b="1" dirty="0">
                <a:solidFill>
                  <a:srgbClr val="F0D080"/>
                </a:solidFill>
                <a:latin typeface="Segoe UI" pitchFamily="34" charset="0"/>
                <a:ea typeface="Segoe UI" pitchFamily="34" charset="-122"/>
                <a:cs typeface="Segoe UI" pitchFamily="34" charset="-120"/>
              </a:rPr>
              <a:t>Checker</a:t>
            </a:r>
            <a:pPr indent="0" marL="0">
              <a:buNone/>
            </a:pPr>
            <a:r>
              <a:rPr lang="en-US" sz="1200" dirty="0">
                <a:solidFill>
                  <a:srgbClr val="B8C5D3"/>
                </a:solidFill>
                <a:latin typeface="Segoe UI" pitchFamily="34" charset="0"/>
                <a:ea typeface="Segoe UI" pitchFamily="34" charset="-122"/>
                <a:cs typeface="Segoe UI" pitchFamily="34" charset="-120"/>
              </a:rPr>
              <a:t> (different AI model) independently validates. Disagreements flagged for human review.</a:t>
            </a:r>
            <a:endParaRPr lang="en-US" sz="1200" dirty="0"/>
          </a:p>
        </p:txBody>
      </p:sp>
      <p:sp>
        <p:nvSpPr>
          <p:cNvPr id="47" name="Shape 45"/>
          <p:cNvSpPr/>
          <p:nvPr/>
        </p:nvSpPr>
        <p:spPr>
          <a:xfrm>
            <a:off x="4663440" y="2852928"/>
            <a:ext cx="4160520" cy="109728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48" name="Shape 46"/>
          <p:cNvSpPr/>
          <p:nvPr/>
        </p:nvSpPr>
        <p:spPr>
          <a:xfrm>
            <a:off x="4663440" y="2852928"/>
            <a:ext cx="50292" cy="1097280"/>
          </a:xfrm>
          <a:prstGeom prst="rect">
            <a:avLst/>
          </a:prstGeom>
          <a:solidFill>
            <a:srgbClr val="3B82F6"/>
          </a:solidFill>
          <a:ln w="12700">
            <a:solidFill>
              <a:srgbClr val="3B82F6"/>
            </a:solidFill>
            <a:prstDash val="solid"/>
          </a:ln>
        </p:spPr>
      </p:sp>
      <p:sp>
        <p:nvSpPr>
          <p:cNvPr id="49" name="Text 47"/>
          <p:cNvSpPr/>
          <p:nvPr/>
        </p:nvSpPr>
        <p:spPr>
          <a:xfrm>
            <a:off x="4818888" y="2907792"/>
            <a:ext cx="3840480" cy="256032"/>
          </a:xfrm>
          <a:prstGeom prst="rect">
            <a:avLst/>
          </a:prstGeom>
          <a:noFill/>
          <a:ln/>
        </p:spPr>
        <p:txBody>
          <a:bodyPr wrap="square" lIns="0" tIns="0" rIns="0" bIns="0" rtlCol="0" anchor="ctr"/>
          <a:lstStyle/>
          <a:p>
            <a:pPr indent="0" marL="0">
              <a:buNone/>
            </a:pPr>
            <a:r>
              <a:rPr lang="en-US" sz="1400" b="1" dirty="0">
                <a:solidFill>
                  <a:srgbClr val="60A5FA"/>
                </a:solidFill>
                <a:latin typeface="Segoe UI" pitchFamily="34" charset="0"/>
                <a:ea typeface="Segoe UI" pitchFamily="34" charset="-122"/>
                <a:cs typeface="Segoe UI" pitchFamily="34" charset="-120"/>
              </a:rPr>
              <a:t>Alert-Level Consolidation</a:t>
            </a:r>
            <a:endParaRPr lang="en-US" sz="1400" dirty="0"/>
          </a:p>
        </p:txBody>
      </p:sp>
      <p:sp>
        <p:nvSpPr>
          <p:cNvPr id="50" name="Text 48"/>
          <p:cNvSpPr/>
          <p:nvPr/>
        </p:nvSpPr>
        <p:spPr>
          <a:xfrm>
            <a:off x="4818888" y="3200400"/>
            <a:ext cx="3840480" cy="685800"/>
          </a:xfrm>
          <a:prstGeom prst="rect">
            <a:avLst/>
          </a:prstGeom>
          <a:noFill/>
          <a:ln/>
        </p:spPr>
        <p:txBody>
          <a:bodyPr wrap="square" lIns="0" tIns="0" rIns="0" bIns="0" rtlCol="0" anchor="t"/>
          <a:lstStyle/>
          <a:p>
            <a:pPr indent="0" marL="0">
              <a:buNone/>
            </a:pPr>
            <a:r>
              <a:rPr lang="en-US" sz="1200" dirty="0">
                <a:solidFill>
                  <a:srgbClr val="B8C5D3"/>
                </a:solidFill>
                <a:latin typeface="Segoe UI" pitchFamily="34" charset="0"/>
                <a:ea typeface="Segoe UI" pitchFamily="34" charset="-122"/>
                <a:cs typeface="Segoe UI" pitchFamily="34" charset="-120"/>
              </a:rPr>
              <a:t>One alert may have multiple hits. </a:t>
            </a:r>
            <a:pPr indent="0" marL="0">
              <a:buNone/>
            </a:pPr>
            <a:r>
              <a:rPr lang="en-US" sz="1200" b="1" dirty="0">
                <a:solidFill>
                  <a:srgbClr val="F0D080"/>
                </a:solidFill>
                <a:latin typeface="Segoe UI" pitchFamily="34" charset="0"/>
                <a:ea typeface="Segoe UI" pitchFamily="34" charset="-122"/>
                <a:cs typeface="Segoe UI" pitchFamily="34" charset="-120"/>
              </a:rPr>
              <a:t>Consolidator</a:t>
            </a:r>
            <a:pPr indent="0" marL="0">
              <a:buNone/>
            </a:pPr>
            <a:r>
              <a:rPr lang="en-US" sz="1200" dirty="0">
                <a:solidFill>
                  <a:srgbClr val="B8C5D3"/>
                </a:solidFill>
                <a:latin typeface="Segoe UI" pitchFamily="34" charset="0"/>
                <a:ea typeface="Segoe UI" pitchFamily="34" charset="-122"/>
                <a:cs typeface="Segoe UI" pitchFamily="34" charset="-120"/>
              </a:rPr>
              <a:t> aggregates all hit-level decisions into one alert-level recommendation.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A"/>
        </a:solidFill>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algn="ctr" indent="0" marL="0">
              <a:buNone/>
            </a:pPr>
            <a:r>
              <a:rPr lang="en-US" sz="3600" b="1" dirty="0">
                <a:solidFill>
                  <a:srgbClr val="F4F6F8"/>
                </a:solidFill>
                <a:latin typeface="Segoe UI" pitchFamily="34" charset="0"/>
                <a:ea typeface="Segoe UI" pitchFamily="34" charset="-122"/>
                <a:cs typeface="Segoe UI" pitchFamily="34" charset="-120"/>
              </a:rPr>
              <a:t>User </a:t>
            </a:r>
            <a:pPr algn="ctr" indent="0" marL="0">
              <a:buNone/>
            </a:pPr>
            <a:r>
              <a:rPr lang="en-US" sz="3600" b="1" dirty="0">
                <a:solidFill>
                  <a:srgbClr val="D4A843"/>
                </a:solidFill>
                <a:latin typeface="Segoe UI" pitchFamily="34" charset="0"/>
                <a:ea typeface="Segoe UI" pitchFamily="34" charset="-122"/>
                <a:cs typeface="Segoe UI" pitchFamily="34" charset="-120"/>
              </a:rPr>
              <a:t>Interaction Flow</a:t>
            </a:r>
            <a:endParaRPr lang="en-US" sz="3600" dirty="0"/>
          </a:p>
        </p:txBody>
      </p:sp>
      <p:sp>
        <p:nvSpPr>
          <p:cNvPr id="3" name="Shape 1"/>
          <p:cNvSpPr/>
          <p:nvPr/>
        </p:nvSpPr>
        <p:spPr>
          <a:xfrm>
            <a:off x="4238244" y="795528"/>
            <a:ext cx="667512" cy="32004"/>
          </a:xfrm>
          <a:prstGeom prst="rect">
            <a:avLst/>
          </a:prstGeom>
          <a:solidFill>
            <a:srgbClr val="D4A843"/>
          </a:solidFill>
          <a:ln w="12700">
            <a:solidFill>
              <a:srgbClr val="D4A843"/>
            </a:solidFill>
            <a:prstDash val="solid"/>
          </a:ln>
        </p:spPr>
      </p:sp>
      <p:sp>
        <p:nvSpPr>
          <p:cNvPr id="4" name="Shape 2"/>
          <p:cNvSpPr/>
          <p:nvPr/>
        </p:nvSpPr>
        <p:spPr>
          <a:xfrm>
            <a:off x="228600" y="1051560"/>
            <a:ext cx="1920240" cy="914400"/>
          </a:xfrm>
          <a:prstGeom prst="rect">
            <a:avLst/>
          </a:prstGeom>
          <a:solidFill>
            <a:srgbClr val="D4A843">
              <a:alpha val="7000"/>
            </a:srgbClr>
          </a:solidFill>
          <a:ln w="19050">
            <a:solidFill>
              <a:srgbClr val="D4A843"/>
            </a:solidFill>
            <a:prstDash val="solid"/>
          </a:ln>
        </p:spPr>
      </p:sp>
      <p:sp>
        <p:nvSpPr>
          <p:cNvPr id="5" name="Text 3"/>
          <p:cNvSpPr/>
          <p:nvPr/>
        </p:nvSpPr>
        <p:spPr>
          <a:xfrm>
            <a:off x="274320" y="1124712"/>
            <a:ext cx="1828800" cy="274320"/>
          </a:xfrm>
          <a:prstGeom prst="rect">
            <a:avLst/>
          </a:prstGeom>
          <a:noFill/>
          <a:ln/>
        </p:spPr>
        <p:txBody>
          <a:bodyPr wrap="square" lIns="0" tIns="0" rIns="0" bIns="0" rtlCol="0" anchor="ctr"/>
          <a:lstStyle/>
          <a:p>
            <a:pPr algn="ctr" indent="0" marL="0">
              <a:buNone/>
            </a:pPr>
            <a:r>
              <a:rPr lang="en-US" sz="1200" b="1" dirty="0">
                <a:solidFill>
                  <a:srgbClr val="D4A843"/>
                </a:solidFill>
                <a:latin typeface="Segoe UI" pitchFamily="34" charset="0"/>
                <a:ea typeface="Segoe UI" pitchFamily="34" charset="-122"/>
                <a:cs typeface="Segoe UI" pitchFamily="34" charset="-120"/>
              </a:rPr>
              <a:t>🔗 Bridger System</a:t>
            </a:r>
            <a:endParaRPr lang="en-US" sz="1200" dirty="0"/>
          </a:p>
        </p:txBody>
      </p:sp>
      <p:sp>
        <p:nvSpPr>
          <p:cNvPr id="6" name="Text 4"/>
          <p:cNvSpPr/>
          <p:nvPr/>
        </p:nvSpPr>
        <p:spPr>
          <a:xfrm>
            <a:off x="274320" y="1435608"/>
            <a:ext cx="1828800" cy="201168"/>
          </a:xfrm>
          <a:prstGeom prst="rect">
            <a:avLst/>
          </a:prstGeom>
          <a:noFill/>
          <a:ln/>
        </p:spPr>
        <p:txBody>
          <a:bodyPr wrap="square" lIns="0" tIns="0" rIns="0" bIns="0" rtlCol="0" anchor="ctr"/>
          <a:lstStyle/>
          <a:p>
            <a:pPr algn="ctr" indent="0" marL="0">
              <a:buNone/>
            </a:pPr>
            <a:r>
              <a:rPr lang="en-US" sz="900" dirty="0">
                <a:solidFill>
                  <a:srgbClr val="8899AA"/>
                </a:solidFill>
                <a:latin typeface="Segoe UI" pitchFamily="34" charset="0"/>
                <a:ea typeface="Segoe UI" pitchFamily="34" charset="-122"/>
                <a:cs typeface="Segoe UI" pitchFamily="34" charset="-120"/>
              </a:rPr>
              <a:t>Sanctions screening</a:t>
            </a:r>
            <a:endParaRPr lang="en-US" sz="900" dirty="0"/>
          </a:p>
        </p:txBody>
      </p:sp>
      <p:sp>
        <p:nvSpPr>
          <p:cNvPr id="7" name="Text 5"/>
          <p:cNvSpPr/>
          <p:nvPr/>
        </p:nvSpPr>
        <p:spPr>
          <a:xfrm>
            <a:off x="274320" y="1655064"/>
            <a:ext cx="1828800" cy="201168"/>
          </a:xfrm>
          <a:prstGeom prst="rect">
            <a:avLst/>
          </a:prstGeom>
          <a:noFill/>
          <a:ln/>
        </p:spPr>
        <p:txBody>
          <a:bodyPr wrap="square" lIns="0" tIns="0" rIns="0" bIns="0" rtlCol="0" anchor="ctr"/>
          <a:lstStyle/>
          <a:p>
            <a:pPr algn="ctr" indent="0" marL="0">
              <a:buNone/>
            </a:pPr>
            <a:r>
              <a:rPr lang="en-US" sz="900" dirty="0">
                <a:solidFill>
                  <a:srgbClr val="8899AA"/>
                </a:solidFill>
                <a:latin typeface="Segoe UI" pitchFamily="34" charset="0"/>
                <a:ea typeface="Segoe UI" pitchFamily="34" charset="-122"/>
                <a:cs typeface="Segoe UI" pitchFamily="34" charset="-120"/>
              </a:rPr>
              <a:t>Alert source</a:t>
            </a:r>
            <a:endParaRPr lang="en-US" sz="900" dirty="0"/>
          </a:p>
        </p:txBody>
      </p:sp>
      <p:sp>
        <p:nvSpPr>
          <p:cNvPr id="8" name="Shape 6"/>
          <p:cNvSpPr/>
          <p:nvPr/>
        </p:nvSpPr>
        <p:spPr>
          <a:xfrm>
            <a:off x="2148840" y="1508760"/>
            <a:ext cx="164592" cy="0"/>
          </a:xfrm>
          <a:prstGeom prst="line">
            <a:avLst/>
          </a:prstGeom>
          <a:noFill/>
          <a:ln w="19050">
            <a:solidFill>
              <a:srgbClr val="4B5563"/>
            </a:solidFill>
            <a:prstDash val="solid"/>
          </a:ln>
        </p:spPr>
      </p:sp>
      <p:sp>
        <p:nvSpPr>
          <p:cNvPr id="9" name="Shape 7"/>
          <p:cNvSpPr/>
          <p:nvPr/>
        </p:nvSpPr>
        <p:spPr>
          <a:xfrm>
            <a:off x="2276856" y="1472184"/>
            <a:ext cx="36576" cy="73152"/>
          </a:xfrm>
          <a:prstGeom prst="rect">
            <a:avLst/>
          </a:prstGeom>
          <a:solidFill>
            <a:srgbClr val="4B5563"/>
          </a:solidFill>
          <a:ln w="12700">
            <a:solidFill>
              <a:srgbClr val="4B5563"/>
            </a:solidFill>
            <a:prstDash val="solid"/>
          </a:ln>
        </p:spPr>
      </p:sp>
      <p:sp>
        <p:nvSpPr>
          <p:cNvPr id="10" name="Shape 8"/>
          <p:cNvSpPr/>
          <p:nvPr/>
        </p:nvSpPr>
        <p:spPr>
          <a:xfrm>
            <a:off x="2313432" y="1051560"/>
            <a:ext cx="1920240" cy="914400"/>
          </a:xfrm>
          <a:prstGeom prst="rect">
            <a:avLst/>
          </a:prstGeom>
          <a:solidFill>
            <a:srgbClr val="D4A843">
              <a:alpha val="7000"/>
            </a:srgbClr>
          </a:solidFill>
          <a:ln w="19050">
            <a:solidFill>
              <a:srgbClr val="D4A843"/>
            </a:solidFill>
            <a:prstDash val="solid"/>
          </a:ln>
        </p:spPr>
      </p:sp>
      <p:sp>
        <p:nvSpPr>
          <p:cNvPr id="11" name="Text 9"/>
          <p:cNvSpPr/>
          <p:nvPr/>
        </p:nvSpPr>
        <p:spPr>
          <a:xfrm>
            <a:off x="2359152" y="1124712"/>
            <a:ext cx="1828800" cy="274320"/>
          </a:xfrm>
          <a:prstGeom prst="rect">
            <a:avLst/>
          </a:prstGeom>
          <a:noFill/>
          <a:ln/>
        </p:spPr>
        <p:txBody>
          <a:bodyPr wrap="square" lIns="0" tIns="0" rIns="0" bIns="0" rtlCol="0" anchor="ctr"/>
          <a:lstStyle/>
          <a:p>
            <a:pPr algn="ctr" indent="0" marL="0">
              <a:buNone/>
            </a:pPr>
            <a:r>
              <a:rPr lang="en-US" sz="1200" b="1" dirty="0">
                <a:solidFill>
                  <a:srgbClr val="D4A843"/>
                </a:solidFill>
                <a:latin typeface="Segoe UI" pitchFamily="34" charset="0"/>
                <a:ea typeface="Segoe UI" pitchFamily="34" charset="-122"/>
                <a:cs typeface="Segoe UI" pitchFamily="34" charset="-120"/>
              </a:rPr>
              <a:t>⚡ AuroraAI Batch Engine</a:t>
            </a:r>
            <a:endParaRPr lang="en-US" sz="1200" dirty="0"/>
          </a:p>
        </p:txBody>
      </p:sp>
      <p:sp>
        <p:nvSpPr>
          <p:cNvPr id="12" name="Text 10"/>
          <p:cNvSpPr/>
          <p:nvPr/>
        </p:nvSpPr>
        <p:spPr>
          <a:xfrm>
            <a:off x="2359152" y="1435608"/>
            <a:ext cx="1828800" cy="201168"/>
          </a:xfrm>
          <a:prstGeom prst="rect">
            <a:avLst/>
          </a:prstGeom>
          <a:noFill/>
          <a:ln/>
        </p:spPr>
        <p:txBody>
          <a:bodyPr wrap="square" lIns="0" tIns="0" rIns="0" bIns="0" rtlCol="0" anchor="ctr"/>
          <a:lstStyle/>
          <a:p>
            <a:pPr algn="ctr" indent="0" marL="0">
              <a:buNone/>
            </a:pPr>
            <a:r>
              <a:rPr lang="en-US" sz="900" dirty="0">
                <a:solidFill>
                  <a:srgbClr val="8899AA"/>
                </a:solidFill>
                <a:latin typeface="Segoe UI" pitchFamily="34" charset="0"/>
                <a:ea typeface="Segoe UI" pitchFamily="34" charset="-122"/>
                <a:cs typeface="Segoe UI" pitchFamily="34" charset="-120"/>
              </a:rPr>
              <a:t>Scheduled polling</a:t>
            </a:r>
            <a:endParaRPr lang="en-US" sz="900" dirty="0"/>
          </a:p>
        </p:txBody>
      </p:sp>
      <p:sp>
        <p:nvSpPr>
          <p:cNvPr id="13" name="Text 11"/>
          <p:cNvSpPr/>
          <p:nvPr/>
        </p:nvSpPr>
        <p:spPr>
          <a:xfrm>
            <a:off x="2359152" y="1655064"/>
            <a:ext cx="1828800" cy="201168"/>
          </a:xfrm>
          <a:prstGeom prst="rect">
            <a:avLst/>
          </a:prstGeom>
          <a:noFill/>
          <a:ln/>
        </p:spPr>
        <p:txBody>
          <a:bodyPr wrap="square" lIns="0" tIns="0" rIns="0" bIns="0" rtlCol="0" anchor="ctr"/>
          <a:lstStyle/>
          <a:p>
            <a:pPr algn="ctr" indent="0" marL="0">
              <a:buNone/>
            </a:pPr>
            <a:r>
              <a:rPr lang="en-US" sz="900" dirty="0">
                <a:solidFill>
                  <a:srgbClr val="8899AA"/>
                </a:solidFill>
                <a:latin typeface="Segoe UI" pitchFamily="34" charset="0"/>
                <a:ea typeface="Segoe UI" pitchFamily="34" charset="-122"/>
                <a:cs typeface="Segoe UI" pitchFamily="34" charset="-120"/>
              </a:rPr>
              <a:t>FastAPI + Celery</a:t>
            </a:r>
            <a:endParaRPr lang="en-US" sz="900" dirty="0"/>
          </a:p>
        </p:txBody>
      </p:sp>
      <p:sp>
        <p:nvSpPr>
          <p:cNvPr id="14" name="Shape 12"/>
          <p:cNvSpPr/>
          <p:nvPr/>
        </p:nvSpPr>
        <p:spPr>
          <a:xfrm>
            <a:off x="4233672" y="1508760"/>
            <a:ext cx="164592" cy="0"/>
          </a:xfrm>
          <a:prstGeom prst="line">
            <a:avLst/>
          </a:prstGeom>
          <a:noFill/>
          <a:ln w="19050">
            <a:solidFill>
              <a:srgbClr val="4B5563"/>
            </a:solidFill>
            <a:prstDash val="solid"/>
          </a:ln>
        </p:spPr>
      </p:sp>
      <p:sp>
        <p:nvSpPr>
          <p:cNvPr id="15" name="Shape 13"/>
          <p:cNvSpPr/>
          <p:nvPr/>
        </p:nvSpPr>
        <p:spPr>
          <a:xfrm>
            <a:off x="4361688" y="1472184"/>
            <a:ext cx="36576" cy="73152"/>
          </a:xfrm>
          <a:prstGeom prst="rect">
            <a:avLst/>
          </a:prstGeom>
          <a:solidFill>
            <a:srgbClr val="4B5563"/>
          </a:solidFill>
          <a:ln w="12700">
            <a:solidFill>
              <a:srgbClr val="4B5563"/>
            </a:solidFill>
            <a:prstDash val="solid"/>
          </a:ln>
        </p:spPr>
      </p:sp>
      <p:sp>
        <p:nvSpPr>
          <p:cNvPr id="16" name="Shape 14"/>
          <p:cNvSpPr/>
          <p:nvPr/>
        </p:nvSpPr>
        <p:spPr>
          <a:xfrm>
            <a:off x="4398264" y="1051560"/>
            <a:ext cx="1920240" cy="914400"/>
          </a:xfrm>
          <a:prstGeom prst="rect">
            <a:avLst/>
          </a:prstGeom>
          <a:solidFill>
            <a:srgbClr val="D4A843">
              <a:alpha val="7000"/>
            </a:srgbClr>
          </a:solidFill>
          <a:ln w="19050">
            <a:solidFill>
              <a:srgbClr val="D4A843"/>
            </a:solidFill>
            <a:prstDash val="solid"/>
          </a:ln>
        </p:spPr>
      </p:sp>
      <p:sp>
        <p:nvSpPr>
          <p:cNvPr id="17" name="Text 15"/>
          <p:cNvSpPr/>
          <p:nvPr/>
        </p:nvSpPr>
        <p:spPr>
          <a:xfrm>
            <a:off x="4443984" y="1124712"/>
            <a:ext cx="1828800" cy="274320"/>
          </a:xfrm>
          <a:prstGeom prst="rect">
            <a:avLst/>
          </a:prstGeom>
          <a:noFill/>
          <a:ln/>
        </p:spPr>
        <p:txBody>
          <a:bodyPr wrap="square" lIns="0" tIns="0" rIns="0" bIns="0" rtlCol="0" anchor="ctr"/>
          <a:lstStyle/>
          <a:p>
            <a:pPr algn="ctr" indent="0" marL="0">
              <a:buNone/>
            </a:pPr>
            <a:r>
              <a:rPr lang="en-US" sz="1200" b="1" dirty="0">
                <a:solidFill>
                  <a:srgbClr val="D4A843"/>
                </a:solidFill>
                <a:latin typeface="Segoe UI" pitchFamily="34" charset="0"/>
                <a:ea typeface="Segoe UI" pitchFamily="34" charset="-122"/>
                <a:cs typeface="Segoe UI" pitchFamily="34" charset="-120"/>
              </a:rPr>
              <a:t>🤖 AI Agent Pipeline</a:t>
            </a:r>
            <a:endParaRPr lang="en-US" sz="1200" dirty="0"/>
          </a:p>
        </p:txBody>
      </p:sp>
      <p:sp>
        <p:nvSpPr>
          <p:cNvPr id="18" name="Text 16"/>
          <p:cNvSpPr/>
          <p:nvPr/>
        </p:nvSpPr>
        <p:spPr>
          <a:xfrm>
            <a:off x="4443984" y="1435608"/>
            <a:ext cx="1828800" cy="201168"/>
          </a:xfrm>
          <a:prstGeom prst="rect">
            <a:avLst/>
          </a:prstGeom>
          <a:noFill/>
          <a:ln/>
        </p:spPr>
        <p:txBody>
          <a:bodyPr wrap="square" lIns="0" tIns="0" rIns="0" bIns="0" rtlCol="0" anchor="ctr"/>
          <a:lstStyle/>
          <a:p>
            <a:pPr algn="ctr" indent="0" marL="0">
              <a:buNone/>
            </a:pPr>
            <a:r>
              <a:rPr lang="en-US" sz="900" dirty="0">
                <a:solidFill>
                  <a:srgbClr val="8899AA"/>
                </a:solidFill>
                <a:latin typeface="Segoe UI" pitchFamily="34" charset="0"/>
                <a:ea typeface="Segoe UI" pitchFamily="34" charset="-122"/>
                <a:cs typeface="Segoe UI" pitchFamily="34" charset="-120"/>
              </a:rPr>
              <a:t>5-agent analysis</a:t>
            </a:r>
            <a:endParaRPr lang="en-US" sz="900" dirty="0"/>
          </a:p>
        </p:txBody>
      </p:sp>
      <p:sp>
        <p:nvSpPr>
          <p:cNvPr id="19" name="Text 17"/>
          <p:cNvSpPr/>
          <p:nvPr/>
        </p:nvSpPr>
        <p:spPr>
          <a:xfrm>
            <a:off x="4443984" y="1655064"/>
            <a:ext cx="1828800" cy="201168"/>
          </a:xfrm>
          <a:prstGeom prst="rect">
            <a:avLst/>
          </a:prstGeom>
          <a:noFill/>
          <a:ln/>
        </p:spPr>
        <p:txBody>
          <a:bodyPr wrap="square" lIns="0" tIns="0" rIns="0" bIns="0" rtlCol="0" anchor="ctr"/>
          <a:lstStyle/>
          <a:p>
            <a:pPr algn="ctr" indent="0" marL="0">
              <a:buNone/>
            </a:pPr>
            <a:r>
              <a:rPr lang="en-US" sz="900" dirty="0">
                <a:solidFill>
                  <a:srgbClr val="8899AA"/>
                </a:solidFill>
                <a:latin typeface="Segoe UI" pitchFamily="34" charset="0"/>
                <a:ea typeface="Segoe UI" pitchFamily="34" charset="-122"/>
                <a:cs typeface="Segoe UI" pitchFamily="34" charset="-120"/>
              </a:rPr>
              <a:t>Maker-Checker</a:t>
            </a:r>
            <a:endParaRPr lang="en-US" sz="900" dirty="0"/>
          </a:p>
        </p:txBody>
      </p:sp>
      <p:sp>
        <p:nvSpPr>
          <p:cNvPr id="20" name="Shape 18"/>
          <p:cNvSpPr/>
          <p:nvPr/>
        </p:nvSpPr>
        <p:spPr>
          <a:xfrm>
            <a:off x="6318504" y="1508760"/>
            <a:ext cx="164592" cy="0"/>
          </a:xfrm>
          <a:prstGeom prst="line">
            <a:avLst/>
          </a:prstGeom>
          <a:noFill/>
          <a:ln w="19050">
            <a:solidFill>
              <a:srgbClr val="4B5563"/>
            </a:solidFill>
            <a:prstDash val="solid"/>
          </a:ln>
        </p:spPr>
      </p:sp>
      <p:sp>
        <p:nvSpPr>
          <p:cNvPr id="21" name="Shape 19"/>
          <p:cNvSpPr/>
          <p:nvPr/>
        </p:nvSpPr>
        <p:spPr>
          <a:xfrm>
            <a:off x="6446520" y="1472184"/>
            <a:ext cx="36576" cy="73152"/>
          </a:xfrm>
          <a:prstGeom prst="rect">
            <a:avLst/>
          </a:prstGeom>
          <a:solidFill>
            <a:srgbClr val="4B5563"/>
          </a:solidFill>
          <a:ln w="12700">
            <a:solidFill>
              <a:srgbClr val="4B5563"/>
            </a:solidFill>
            <a:prstDash val="solid"/>
          </a:ln>
        </p:spPr>
      </p:sp>
      <p:sp>
        <p:nvSpPr>
          <p:cNvPr id="22" name="Shape 20"/>
          <p:cNvSpPr/>
          <p:nvPr/>
        </p:nvSpPr>
        <p:spPr>
          <a:xfrm>
            <a:off x="6483096" y="1051560"/>
            <a:ext cx="1920240" cy="914400"/>
          </a:xfrm>
          <a:prstGeom prst="rect">
            <a:avLst/>
          </a:prstGeom>
          <a:solidFill>
            <a:srgbClr val="22C55E">
              <a:alpha val="7000"/>
            </a:srgbClr>
          </a:solidFill>
          <a:ln w="19050">
            <a:solidFill>
              <a:srgbClr val="22C55E"/>
            </a:solidFill>
            <a:prstDash val="solid"/>
          </a:ln>
        </p:spPr>
      </p:sp>
      <p:sp>
        <p:nvSpPr>
          <p:cNvPr id="23" name="Text 21"/>
          <p:cNvSpPr/>
          <p:nvPr/>
        </p:nvSpPr>
        <p:spPr>
          <a:xfrm>
            <a:off x="6528816" y="1124712"/>
            <a:ext cx="1828800" cy="274320"/>
          </a:xfrm>
          <a:prstGeom prst="rect">
            <a:avLst/>
          </a:prstGeom>
          <a:noFill/>
          <a:ln/>
        </p:spPr>
        <p:txBody>
          <a:bodyPr wrap="square" lIns="0" tIns="0" rIns="0" bIns="0" rtlCol="0" anchor="ctr"/>
          <a:lstStyle/>
          <a:p>
            <a:pPr algn="ctr" indent="0" marL="0">
              <a:buNone/>
            </a:pPr>
            <a:r>
              <a:rPr lang="en-US" sz="1200" b="1" dirty="0">
                <a:solidFill>
                  <a:srgbClr val="22C55E"/>
                </a:solidFill>
                <a:latin typeface="Segoe UI" pitchFamily="34" charset="0"/>
                <a:ea typeface="Segoe UI" pitchFamily="34" charset="-122"/>
                <a:cs typeface="Segoe UI" pitchFamily="34" charset="-120"/>
              </a:rPr>
              <a:t>💾 Oracle Results</a:t>
            </a:r>
            <a:endParaRPr lang="en-US" sz="1200" dirty="0"/>
          </a:p>
        </p:txBody>
      </p:sp>
      <p:sp>
        <p:nvSpPr>
          <p:cNvPr id="24" name="Text 22"/>
          <p:cNvSpPr/>
          <p:nvPr/>
        </p:nvSpPr>
        <p:spPr>
          <a:xfrm>
            <a:off x="6528816" y="1435608"/>
            <a:ext cx="1828800" cy="201168"/>
          </a:xfrm>
          <a:prstGeom prst="rect">
            <a:avLst/>
          </a:prstGeom>
          <a:noFill/>
          <a:ln/>
        </p:spPr>
        <p:txBody>
          <a:bodyPr wrap="square" lIns="0" tIns="0" rIns="0" bIns="0" rtlCol="0" anchor="ctr"/>
          <a:lstStyle/>
          <a:p>
            <a:pPr algn="ctr" indent="0" marL="0">
              <a:buNone/>
            </a:pPr>
            <a:r>
              <a:rPr lang="en-US" sz="900" dirty="0">
                <a:solidFill>
                  <a:srgbClr val="8899AA"/>
                </a:solidFill>
                <a:latin typeface="Segoe UI" pitchFamily="34" charset="0"/>
                <a:ea typeface="Segoe UI" pitchFamily="34" charset="-122"/>
                <a:cs typeface="Segoe UI" pitchFamily="34" charset="-120"/>
              </a:rPr>
              <a:t>Decisions persisted</a:t>
            </a:r>
            <a:endParaRPr lang="en-US" sz="900" dirty="0"/>
          </a:p>
        </p:txBody>
      </p:sp>
      <p:sp>
        <p:nvSpPr>
          <p:cNvPr id="25" name="Text 23"/>
          <p:cNvSpPr/>
          <p:nvPr/>
        </p:nvSpPr>
        <p:spPr>
          <a:xfrm>
            <a:off x="6528816" y="1655064"/>
            <a:ext cx="1828800" cy="201168"/>
          </a:xfrm>
          <a:prstGeom prst="rect">
            <a:avLst/>
          </a:prstGeom>
          <a:noFill/>
          <a:ln/>
        </p:spPr>
        <p:txBody>
          <a:bodyPr wrap="square" lIns="0" tIns="0" rIns="0" bIns="0" rtlCol="0" anchor="ctr"/>
          <a:lstStyle/>
          <a:p>
            <a:pPr algn="ctr" indent="0" marL="0">
              <a:buNone/>
            </a:pPr>
            <a:r>
              <a:rPr lang="en-US" sz="900" dirty="0">
                <a:solidFill>
                  <a:srgbClr val="8899AA"/>
                </a:solidFill>
                <a:latin typeface="Segoe UI" pitchFamily="34" charset="0"/>
                <a:ea typeface="Segoe UI" pitchFamily="34" charset="-122"/>
                <a:cs typeface="Segoe UI" pitchFamily="34" charset="-120"/>
              </a:rPr>
              <a:t>Hit &amp; alert level</a:t>
            </a:r>
            <a:endParaRPr lang="en-US" sz="900" dirty="0"/>
          </a:p>
        </p:txBody>
      </p:sp>
      <p:sp>
        <p:nvSpPr>
          <p:cNvPr id="26" name="Shape 24"/>
          <p:cNvSpPr/>
          <p:nvPr/>
        </p:nvSpPr>
        <p:spPr>
          <a:xfrm>
            <a:off x="7406640" y="1965960"/>
            <a:ext cx="0" cy="320040"/>
          </a:xfrm>
          <a:prstGeom prst="line">
            <a:avLst/>
          </a:prstGeom>
          <a:noFill/>
          <a:ln w="19050">
            <a:solidFill>
              <a:srgbClr val="4B5563"/>
            </a:solidFill>
            <a:prstDash val="solid"/>
          </a:ln>
        </p:spPr>
      </p:sp>
      <p:sp>
        <p:nvSpPr>
          <p:cNvPr id="27" name="Shape 25"/>
          <p:cNvSpPr/>
          <p:nvPr/>
        </p:nvSpPr>
        <p:spPr>
          <a:xfrm>
            <a:off x="5358384" y="2286000"/>
            <a:ext cx="2048256" cy="0"/>
          </a:xfrm>
          <a:prstGeom prst="line">
            <a:avLst/>
          </a:prstGeom>
          <a:noFill/>
          <a:ln w="19050">
            <a:solidFill>
              <a:srgbClr val="4B5563"/>
            </a:solidFill>
            <a:prstDash val="solid"/>
          </a:ln>
        </p:spPr>
      </p:sp>
      <p:sp>
        <p:nvSpPr>
          <p:cNvPr id="28" name="Shape 26"/>
          <p:cNvSpPr/>
          <p:nvPr/>
        </p:nvSpPr>
        <p:spPr>
          <a:xfrm>
            <a:off x="4398264" y="2377440"/>
            <a:ext cx="1920240" cy="914400"/>
          </a:xfrm>
          <a:prstGeom prst="rect">
            <a:avLst/>
          </a:prstGeom>
          <a:solidFill>
            <a:srgbClr val="D4A843">
              <a:alpha val="7000"/>
            </a:srgbClr>
          </a:solidFill>
          <a:ln w="19050">
            <a:solidFill>
              <a:srgbClr val="D4A843"/>
            </a:solidFill>
            <a:prstDash val="solid"/>
          </a:ln>
        </p:spPr>
      </p:sp>
      <p:sp>
        <p:nvSpPr>
          <p:cNvPr id="29" name="Text 27"/>
          <p:cNvSpPr/>
          <p:nvPr/>
        </p:nvSpPr>
        <p:spPr>
          <a:xfrm>
            <a:off x="4443984" y="2450592"/>
            <a:ext cx="1828800" cy="274320"/>
          </a:xfrm>
          <a:prstGeom prst="rect">
            <a:avLst/>
          </a:prstGeom>
          <a:noFill/>
          <a:ln/>
        </p:spPr>
        <p:txBody>
          <a:bodyPr wrap="square" lIns="0" tIns="0" rIns="0" bIns="0" rtlCol="0" anchor="ctr"/>
          <a:lstStyle/>
          <a:p>
            <a:pPr algn="ctr" indent="0" marL="0">
              <a:buNone/>
            </a:pPr>
            <a:r>
              <a:rPr lang="en-US" sz="1200" b="1" dirty="0">
                <a:solidFill>
                  <a:srgbClr val="D4A843"/>
                </a:solidFill>
                <a:latin typeface="Segoe UI" pitchFamily="34" charset="0"/>
                <a:ea typeface="Segoe UI" pitchFamily="34" charset="-122"/>
                <a:cs typeface="Segoe UI" pitchFamily="34" charset="-120"/>
              </a:rPr>
              <a:t>📄 Review Dashboard</a:t>
            </a:r>
            <a:endParaRPr lang="en-US" sz="1200" dirty="0"/>
          </a:p>
        </p:txBody>
      </p:sp>
      <p:sp>
        <p:nvSpPr>
          <p:cNvPr id="30" name="Text 28"/>
          <p:cNvSpPr/>
          <p:nvPr/>
        </p:nvSpPr>
        <p:spPr>
          <a:xfrm>
            <a:off x="4443984" y="2779776"/>
            <a:ext cx="1828800" cy="201168"/>
          </a:xfrm>
          <a:prstGeom prst="rect">
            <a:avLst/>
          </a:prstGeom>
          <a:noFill/>
          <a:ln/>
        </p:spPr>
        <p:txBody>
          <a:bodyPr wrap="square" lIns="0" tIns="0" rIns="0" bIns="0" rtlCol="0" anchor="ctr"/>
          <a:lstStyle/>
          <a:p>
            <a:pPr algn="ctr" indent="0" marL="0">
              <a:buNone/>
            </a:pPr>
            <a:r>
              <a:rPr lang="en-US" sz="900" dirty="0">
                <a:solidFill>
                  <a:srgbClr val="8899AA"/>
                </a:solidFill>
                <a:latin typeface="Segoe UI" pitchFamily="34" charset="0"/>
                <a:ea typeface="Segoe UI" pitchFamily="34" charset="-122"/>
                <a:cs typeface="Segoe UI" pitchFamily="34" charset="-120"/>
              </a:rPr>
              <a:t>AI rec + evidence</a:t>
            </a:r>
            <a:endParaRPr lang="en-US" sz="900" dirty="0"/>
          </a:p>
        </p:txBody>
      </p:sp>
      <p:sp>
        <p:nvSpPr>
          <p:cNvPr id="31" name="Shape 29"/>
          <p:cNvSpPr/>
          <p:nvPr/>
        </p:nvSpPr>
        <p:spPr>
          <a:xfrm>
            <a:off x="5358384" y="2286000"/>
            <a:ext cx="0" cy="91440"/>
          </a:xfrm>
          <a:prstGeom prst="line">
            <a:avLst/>
          </a:prstGeom>
          <a:noFill/>
          <a:ln w="19050">
            <a:solidFill>
              <a:srgbClr val="4B5563"/>
            </a:solidFill>
            <a:prstDash val="solid"/>
          </a:ln>
        </p:spPr>
      </p:sp>
      <p:sp>
        <p:nvSpPr>
          <p:cNvPr id="32" name="Shape 30"/>
          <p:cNvSpPr/>
          <p:nvPr/>
        </p:nvSpPr>
        <p:spPr>
          <a:xfrm>
            <a:off x="4398264" y="2834640"/>
            <a:ext cx="-256032" cy="0"/>
          </a:xfrm>
          <a:prstGeom prst="line">
            <a:avLst/>
          </a:prstGeom>
          <a:noFill/>
          <a:ln w="19050">
            <a:solidFill>
              <a:srgbClr val="4B5563"/>
            </a:solidFill>
            <a:prstDash val="solid"/>
          </a:ln>
        </p:spPr>
      </p:sp>
      <p:sp>
        <p:nvSpPr>
          <p:cNvPr id="33" name="Shape 31"/>
          <p:cNvSpPr/>
          <p:nvPr/>
        </p:nvSpPr>
        <p:spPr>
          <a:xfrm>
            <a:off x="2313432" y="2377440"/>
            <a:ext cx="1920240" cy="914400"/>
          </a:xfrm>
          <a:prstGeom prst="rect">
            <a:avLst/>
          </a:prstGeom>
          <a:solidFill>
            <a:srgbClr val="3B82F6">
              <a:alpha val="8000"/>
            </a:srgbClr>
          </a:solidFill>
          <a:ln w="19050">
            <a:solidFill>
              <a:srgbClr val="3B82F6"/>
            </a:solidFill>
            <a:prstDash val="solid"/>
          </a:ln>
        </p:spPr>
      </p:sp>
      <p:sp>
        <p:nvSpPr>
          <p:cNvPr id="34" name="Text 32"/>
          <p:cNvSpPr/>
          <p:nvPr/>
        </p:nvSpPr>
        <p:spPr>
          <a:xfrm>
            <a:off x="2359152" y="2450592"/>
            <a:ext cx="1828800" cy="274320"/>
          </a:xfrm>
          <a:prstGeom prst="rect">
            <a:avLst/>
          </a:prstGeom>
          <a:noFill/>
          <a:ln/>
        </p:spPr>
        <p:txBody>
          <a:bodyPr wrap="square" lIns="0" tIns="0" rIns="0" bIns="0" rtlCol="0" anchor="ctr"/>
          <a:lstStyle/>
          <a:p>
            <a:pPr algn="ctr" indent="0" marL="0">
              <a:buNone/>
            </a:pPr>
            <a:r>
              <a:rPr lang="en-US" sz="1200" b="1" dirty="0">
                <a:solidFill>
                  <a:srgbClr val="60A5FA"/>
                </a:solidFill>
                <a:latin typeface="Segoe UI" pitchFamily="34" charset="0"/>
                <a:ea typeface="Segoe UI" pitchFamily="34" charset="-122"/>
                <a:cs typeface="Segoe UI" pitchFamily="34" charset="-120"/>
              </a:rPr>
              <a:t>👤 QSS Analyst</a:t>
            </a:r>
            <a:endParaRPr lang="en-US" sz="1200" dirty="0"/>
          </a:p>
        </p:txBody>
      </p:sp>
      <p:sp>
        <p:nvSpPr>
          <p:cNvPr id="35" name="Text 33"/>
          <p:cNvSpPr/>
          <p:nvPr/>
        </p:nvSpPr>
        <p:spPr>
          <a:xfrm>
            <a:off x="2359152" y="2779776"/>
            <a:ext cx="1828800" cy="201168"/>
          </a:xfrm>
          <a:prstGeom prst="rect">
            <a:avLst/>
          </a:prstGeom>
          <a:noFill/>
          <a:ln/>
        </p:spPr>
        <p:txBody>
          <a:bodyPr wrap="square" lIns="0" tIns="0" rIns="0" bIns="0" rtlCol="0" anchor="ctr"/>
          <a:lstStyle/>
          <a:p>
            <a:pPr algn="ctr" indent="0" marL="0">
              <a:buNone/>
            </a:pPr>
            <a:r>
              <a:rPr lang="en-US" sz="900" dirty="0">
                <a:solidFill>
                  <a:srgbClr val="8899AA"/>
                </a:solidFill>
                <a:latin typeface="Segoe UI" pitchFamily="34" charset="0"/>
                <a:ea typeface="Segoe UI" pitchFamily="34" charset="-122"/>
                <a:cs typeface="Segoe UI" pitchFamily="34" charset="-120"/>
              </a:rPr>
              <a:t>Reviews  •  Decides</a:t>
            </a:r>
            <a:endParaRPr lang="en-US" sz="900" dirty="0"/>
          </a:p>
        </p:txBody>
      </p:sp>
      <p:sp>
        <p:nvSpPr>
          <p:cNvPr id="36" name="Shape 34"/>
          <p:cNvSpPr/>
          <p:nvPr/>
        </p:nvSpPr>
        <p:spPr>
          <a:xfrm>
            <a:off x="2313432" y="3337560"/>
            <a:ext cx="4005072" cy="201168"/>
          </a:xfrm>
          <a:prstGeom prst="rect">
            <a:avLst/>
          </a:prstGeom>
          <a:solidFill>
            <a:srgbClr val="D4A843">
              <a:alpha val="7000"/>
            </a:srgbClr>
          </a:solidFill>
          <a:ln w="12700">
            <a:solidFill>
              <a:srgbClr val="D4A843"/>
            </a:solidFill>
            <a:prstDash val="solid"/>
          </a:ln>
        </p:spPr>
      </p:sp>
      <p:sp>
        <p:nvSpPr>
          <p:cNvPr id="37" name="Text 35"/>
          <p:cNvSpPr/>
          <p:nvPr/>
        </p:nvSpPr>
        <p:spPr>
          <a:xfrm>
            <a:off x="2359152" y="3337560"/>
            <a:ext cx="3913632" cy="201168"/>
          </a:xfrm>
          <a:prstGeom prst="rect">
            <a:avLst/>
          </a:prstGeom>
          <a:noFill/>
          <a:ln/>
        </p:spPr>
        <p:txBody>
          <a:bodyPr wrap="square" lIns="0" tIns="0" rIns="0" bIns="0" rtlCol="0" anchor="ctr"/>
          <a:lstStyle/>
          <a:p>
            <a:pPr algn="ctr" indent="0" marL="0">
              <a:buNone/>
            </a:pPr>
            <a:r>
              <a:rPr lang="en-US" sz="950" b="1" dirty="0">
                <a:solidFill>
                  <a:srgbClr val="D4A843"/>
                </a:solidFill>
                <a:latin typeface="Segoe UI" pitchFamily="34" charset="0"/>
                <a:ea typeface="Segoe UI" pitchFamily="34" charset="-122"/>
                <a:cs typeface="Segoe UI" pitchFamily="34" charset="-120"/>
              </a:rPr>
              <a:t>Human-in-the-Loop — AI assists, Analyst decides</a:t>
            </a:r>
            <a:endParaRPr lang="en-US" sz="950" dirty="0"/>
          </a:p>
        </p:txBody>
      </p:sp>
      <p:sp>
        <p:nvSpPr>
          <p:cNvPr id="38" name="Shape 36"/>
          <p:cNvSpPr/>
          <p:nvPr/>
        </p:nvSpPr>
        <p:spPr>
          <a:xfrm>
            <a:off x="320040" y="3611880"/>
            <a:ext cx="2743200" cy="123444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39" name="Text 37"/>
          <p:cNvSpPr/>
          <p:nvPr/>
        </p:nvSpPr>
        <p:spPr>
          <a:xfrm>
            <a:off x="411480" y="3675888"/>
            <a:ext cx="411480" cy="411480"/>
          </a:xfrm>
          <a:prstGeom prst="rect">
            <a:avLst/>
          </a:prstGeom>
          <a:noFill/>
          <a:ln/>
        </p:spPr>
        <p:txBody>
          <a:bodyPr wrap="square" lIns="0" tIns="0" rIns="0" bIns="0" rtlCol="0" anchor="ctr"/>
          <a:lstStyle/>
          <a:p>
            <a:pPr algn="ctr" indent="0" marL="0">
              <a:buNone/>
            </a:pPr>
            <a:r>
              <a:rPr lang="en-US" sz="2400" b="1" dirty="0">
                <a:solidFill>
                  <a:srgbClr val="60A5FA"/>
                </a:solidFill>
                <a:latin typeface="Segoe UI" pitchFamily="34" charset="0"/>
                <a:ea typeface="Segoe UI" pitchFamily="34" charset="-122"/>
                <a:cs typeface="Segoe UI" pitchFamily="34" charset="-120"/>
              </a:rPr>
              <a:t>1</a:t>
            </a:r>
            <a:endParaRPr lang="en-US" sz="2400" dirty="0"/>
          </a:p>
        </p:txBody>
      </p:sp>
      <p:sp>
        <p:nvSpPr>
          <p:cNvPr id="40" name="Text 38"/>
          <p:cNvSpPr/>
          <p:nvPr/>
        </p:nvSpPr>
        <p:spPr>
          <a:xfrm>
            <a:off x="914400" y="3675888"/>
            <a:ext cx="2011680" cy="256032"/>
          </a:xfrm>
          <a:prstGeom prst="rect">
            <a:avLst/>
          </a:prstGeom>
          <a:noFill/>
          <a:ln/>
        </p:spPr>
        <p:txBody>
          <a:bodyPr wrap="square" lIns="0" tIns="0" rIns="0" bIns="0" rtlCol="0" anchor="ctr"/>
          <a:lstStyle/>
          <a:p>
            <a:pPr indent="0" marL="0">
              <a:buNone/>
            </a:pPr>
            <a:r>
              <a:rPr lang="en-US" sz="1300" b="1" dirty="0">
                <a:solidFill>
                  <a:srgbClr val="60A5FA"/>
                </a:solidFill>
                <a:latin typeface="Segoe UI" pitchFamily="34" charset="0"/>
                <a:ea typeface="Segoe UI" pitchFamily="34" charset="-122"/>
                <a:cs typeface="Segoe UI" pitchFamily="34" charset="-120"/>
              </a:rPr>
              <a:t>Alerts Ingested</a:t>
            </a:r>
            <a:endParaRPr lang="en-US" sz="1300" dirty="0"/>
          </a:p>
        </p:txBody>
      </p:sp>
      <p:sp>
        <p:nvSpPr>
          <p:cNvPr id="41" name="Text 39"/>
          <p:cNvSpPr/>
          <p:nvPr/>
        </p:nvSpPr>
        <p:spPr>
          <a:xfrm>
            <a:off x="457200" y="4096512"/>
            <a:ext cx="2468880" cy="594360"/>
          </a:xfrm>
          <a:prstGeom prst="rect">
            <a:avLst/>
          </a:prstGeom>
          <a:noFill/>
          <a:ln/>
        </p:spPr>
        <p:txBody>
          <a:bodyPr wrap="square" lIns="0" tIns="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Batch engine pulls alerts via scheduled poll or API trigger</a:t>
            </a:r>
            <a:endParaRPr lang="en-US" sz="1100" dirty="0"/>
          </a:p>
        </p:txBody>
      </p:sp>
      <p:sp>
        <p:nvSpPr>
          <p:cNvPr id="42" name="Shape 40"/>
          <p:cNvSpPr/>
          <p:nvPr/>
        </p:nvSpPr>
        <p:spPr>
          <a:xfrm>
            <a:off x="3246120" y="3611880"/>
            <a:ext cx="2743200" cy="123444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43" name="Text 41"/>
          <p:cNvSpPr/>
          <p:nvPr/>
        </p:nvSpPr>
        <p:spPr>
          <a:xfrm>
            <a:off x="3337560" y="3675888"/>
            <a:ext cx="411480" cy="411480"/>
          </a:xfrm>
          <a:prstGeom prst="rect">
            <a:avLst/>
          </a:prstGeom>
          <a:noFill/>
          <a:ln/>
        </p:spPr>
        <p:txBody>
          <a:bodyPr wrap="square" lIns="0" tIns="0" rIns="0" bIns="0" rtlCol="0" anchor="ctr"/>
          <a:lstStyle/>
          <a:p>
            <a:pPr algn="ctr" indent="0" marL="0">
              <a:buNone/>
            </a:pPr>
            <a:r>
              <a:rPr lang="en-US" sz="2400" b="1" dirty="0">
                <a:solidFill>
                  <a:srgbClr val="D4A843"/>
                </a:solidFill>
                <a:latin typeface="Segoe UI" pitchFamily="34" charset="0"/>
                <a:ea typeface="Segoe UI" pitchFamily="34" charset="-122"/>
                <a:cs typeface="Segoe UI" pitchFamily="34" charset="-120"/>
              </a:rPr>
              <a:t>2</a:t>
            </a:r>
            <a:endParaRPr lang="en-US" sz="2400" dirty="0"/>
          </a:p>
        </p:txBody>
      </p:sp>
      <p:sp>
        <p:nvSpPr>
          <p:cNvPr id="44" name="Text 42"/>
          <p:cNvSpPr/>
          <p:nvPr/>
        </p:nvSpPr>
        <p:spPr>
          <a:xfrm>
            <a:off x="3840480" y="3675888"/>
            <a:ext cx="2011680" cy="256032"/>
          </a:xfrm>
          <a:prstGeom prst="rect">
            <a:avLst/>
          </a:prstGeom>
          <a:noFill/>
          <a:ln/>
        </p:spPr>
        <p:txBody>
          <a:bodyPr wrap="square" lIns="0" tIns="0" rIns="0" bIns="0" rtlCol="0" anchor="ctr"/>
          <a:lstStyle/>
          <a:p>
            <a:pPr indent="0" marL="0">
              <a:buNone/>
            </a:pPr>
            <a:r>
              <a:rPr lang="en-US" sz="1300" b="1" dirty="0">
                <a:solidFill>
                  <a:srgbClr val="D4A843"/>
                </a:solidFill>
                <a:latin typeface="Segoe UI" pitchFamily="34" charset="0"/>
                <a:ea typeface="Segoe UI" pitchFamily="34" charset="-122"/>
                <a:cs typeface="Segoe UI" pitchFamily="34" charset="-120"/>
              </a:rPr>
              <a:t>AI Recommends</a:t>
            </a:r>
            <a:endParaRPr lang="en-US" sz="1300" dirty="0"/>
          </a:p>
        </p:txBody>
      </p:sp>
      <p:sp>
        <p:nvSpPr>
          <p:cNvPr id="45" name="Text 43"/>
          <p:cNvSpPr/>
          <p:nvPr/>
        </p:nvSpPr>
        <p:spPr>
          <a:xfrm>
            <a:off x="3383280" y="4096512"/>
            <a:ext cx="2468880" cy="594360"/>
          </a:xfrm>
          <a:prstGeom prst="rect">
            <a:avLst/>
          </a:prstGeom>
          <a:noFill/>
          <a:ln/>
        </p:spPr>
        <p:txBody>
          <a:bodyPr wrap="square" lIns="0" tIns="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5-agent pipeline produces decision with confidence &amp; rationale</a:t>
            </a:r>
            <a:endParaRPr lang="en-US" sz="1100" dirty="0"/>
          </a:p>
        </p:txBody>
      </p:sp>
      <p:sp>
        <p:nvSpPr>
          <p:cNvPr id="46" name="Shape 44"/>
          <p:cNvSpPr/>
          <p:nvPr/>
        </p:nvSpPr>
        <p:spPr>
          <a:xfrm>
            <a:off x="6172200" y="3611880"/>
            <a:ext cx="2743200" cy="123444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47" name="Text 45"/>
          <p:cNvSpPr/>
          <p:nvPr/>
        </p:nvSpPr>
        <p:spPr>
          <a:xfrm>
            <a:off x="6263640" y="3675888"/>
            <a:ext cx="411480" cy="411480"/>
          </a:xfrm>
          <a:prstGeom prst="rect">
            <a:avLst/>
          </a:prstGeom>
          <a:noFill/>
          <a:ln/>
        </p:spPr>
        <p:txBody>
          <a:bodyPr wrap="square" lIns="0" tIns="0" rIns="0" bIns="0" rtlCol="0" anchor="ctr"/>
          <a:lstStyle/>
          <a:p>
            <a:pPr algn="ctr" indent="0" marL="0">
              <a:buNone/>
            </a:pPr>
            <a:r>
              <a:rPr lang="en-US" sz="2400" b="1" dirty="0">
                <a:solidFill>
                  <a:srgbClr val="22C55E"/>
                </a:solidFill>
                <a:latin typeface="Segoe UI" pitchFamily="34" charset="0"/>
                <a:ea typeface="Segoe UI" pitchFamily="34" charset="-122"/>
                <a:cs typeface="Segoe UI" pitchFamily="34" charset="-120"/>
              </a:rPr>
              <a:t>3</a:t>
            </a:r>
            <a:endParaRPr lang="en-US" sz="2400" dirty="0"/>
          </a:p>
        </p:txBody>
      </p:sp>
      <p:sp>
        <p:nvSpPr>
          <p:cNvPr id="48" name="Text 46"/>
          <p:cNvSpPr/>
          <p:nvPr/>
        </p:nvSpPr>
        <p:spPr>
          <a:xfrm>
            <a:off x="6766560" y="3675888"/>
            <a:ext cx="2011680" cy="256032"/>
          </a:xfrm>
          <a:prstGeom prst="rect">
            <a:avLst/>
          </a:prstGeom>
          <a:noFill/>
          <a:ln/>
        </p:spPr>
        <p:txBody>
          <a:bodyPr wrap="square" lIns="0" tIns="0" rIns="0" bIns="0" rtlCol="0" anchor="ctr"/>
          <a:lstStyle/>
          <a:p>
            <a:pPr indent="0" marL="0">
              <a:buNone/>
            </a:pPr>
            <a:r>
              <a:rPr lang="en-US" sz="1300" b="1" dirty="0">
                <a:solidFill>
                  <a:srgbClr val="22C55E"/>
                </a:solidFill>
                <a:latin typeface="Segoe UI" pitchFamily="34" charset="0"/>
                <a:ea typeface="Segoe UI" pitchFamily="34" charset="-122"/>
                <a:cs typeface="Segoe UI" pitchFamily="34" charset="-120"/>
              </a:rPr>
              <a:t>Analyst Decides</a:t>
            </a:r>
            <a:endParaRPr lang="en-US" sz="1300" dirty="0"/>
          </a:p>
        </p:txBody>
      </p:sp>
      <p:sp>
        <p:nvSpPr>
          <p:cNvPr id="49" name="Text 47"/>
          <p:cNvSpPr/>
          <p:nvPr/>
        </p:nvSpPr>
        <p:spPr>
          <a:xfrm>
            <a:off x="6309360" y="4096512"/>
            <a:ext cx="2468880" cy="594360"/>
          </a:xfrm>
          <a:prstGeom prst="rect">
            <a:avLst/>
          </a:prstGeom>
          <a:noFill/>
          <a:ln/>
        </p:spPr>
        <p:txBody>
          <a:bodyPr wrap="square" lIns="0" tIns="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Accepts or overrides AI recommendation, submits final decision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A"/>
        </a:solidFill>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algn="ctr" indent="0" marL="0">
              <a:buNone/>
            </a:pPr>
            <a:r>
              <a:rPr lang="en-US" sz="3200" b="1" dirty="0">
                <a:solidFill>
                  <a:srgbClr val="F4F6F8"/>
                </a:solidFill>
                <a:latin typeface="Segoe UI" pitchFamily="34" charset="0"/>
                <a:ea typeface="Segoe UI" pitchFamily="34" charset="-122"/>
                <a:cs typeface="Segoe UI" pitchFamily="34" charset="-120"/>
              </a:rPr>
              <a:t>How AuroraAI Helps the </a:t>
            </a:r>
            <a:pPr algn="ctr" indent="0" marL="0">
              <a:buNone/>
            </a:pPr>
            <a:r>
              <a:rPr lang="en-US" sz="3200" b="1" dirty="0">
                <a:solidFill>
                  <a:srgbClr val="D4A843"/>
                </a:solidFill>
                <a:latin typeface="Segoe UI" pitchFamily="34" charset="0"/>
                <a:ea typeface="Segoe UI" pitchFamily="34" charset="-122"/>
                <a:cs typeface="Segoe UI" pitchFamily="34" charset="-120"/>
              </a:rPr>
              <a:t>Analyst</a:t>
            </a:r>
            <a:endParaRPr lang="en-US" sz="3200" dirty="0"/>
          </a:p>
        </p:txBody>
      </p:sp>
      <p:sp>
        <p:nvSpPr>
          <p:cNvPr id="3" name="Shape 1"/>
          <p:cNvSpPr/>
          <p:nvPr/>
        </p:nvSpPr>
        <p:spPr>
          <a:xfrm>
            <a:off x="4238244" y="758952"/>
            <a:ext cx="667512" cy="32004"/>
          </a:xfrm>
          <a:prstGeom prst="rect">
            <a:avLst/>
          </a:prstGeom>
          <a:solidFill>
            <a:srgbClr val="D4A843"/>
          </a:solidFill>
          <a:ln w="12700">
            <a:solidFill>
              <a:srgbClr val="D4A843"/>
            </a:solidFill>
            <a:prstDash val="solid"/>
          </a:ln>
        </p:spPr>
      </p:sp>
      <p:sp>
        <p:nvSpPr>
          <p:cNvPr id="4" name="Shape 2"/>
          <p:cNvSpPr/>
          <p:nvPr/>
        </p:nvSpPr>
        <p:spPr>
          <a:xfrm>
            <a:off x="320040" y="960120"/>
            <a:ext cx="4160520" cy="274320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5" name="Shape 3"/>
          <p:cNvSpPr/>
          <p:nvPr/>
        </p:nvSpPr>
        <p:spPr>
          <a:xfrm>
            <a:off x="320040" y="960120"/>
            <a:ext cx="50292" cy="2743200"/>
          </a:xfrm>
          <a:prstGeom prst="rect">
            <a:avLst/>
          </a:prstGeom>
          <a:solidFill>
            <a:srgbClr val="D4A843"/>
          </a:solidFill>
          <a:ln w="12700">
            <a:solidFill>
              <a:srgbClr val="D4A843"/>
            </a:solidFill>
            <a:prstDash val="solid"/>
          </a:ln>
        </p:spPr>
      </p:sp>
      <p:sp>
        <p:nvSpPr>
          <p:cNvPr id="6" name="Text 4"/>
          <p:cNvSpPr/>
          <p:nvPr/>
        </p:nvSpPr>
        <p:spPr>
          <a:xfrm>
            <a:off x="475488" y="1024128"/>
            <a:ext cx="3840480" cy="292608"/>
          </a:xfrm>
          <a:prstGeom prst="rect">
            <a:avLst/>
          </a:prstGeom>
          <a:noFill/>
          <a:ln/>
        </p:spPr>
        <p:txBody>
          <a:bodyPr wrap="square" lIns="0" tIns="0" rIns="0" bIns="0" rtlCol="0" anchor="ctr"/>
          <a:lstStyle/>
          <a:p>
            <a:pPr indent="0" marL="0">
              <a:buNone/>
            </a:pPr>
            <a:r>
              <a:rPr lang="en-US" sz="1500" b="1" dirty="0">
                <a:solidFill>
                  <a:srgbClr val="D4A843"/>
                </a:solidFill>
                <a:latin typeface="Segoe UI" pitchFamily="34" charset="0"/>
                <a:ea typeface="Segoe UI" pitchFamily="34" charset="-122"/>
                <a:cs typeface="Segoe UI" pitchFamily="34" charset="-120"/>
              </a:rPr>
              <a:t>⏱ Dramatic Time Savings</a:t>
            </a:r>
            <a:endParaRPr lang="en-US" sz="1500" dirty="0"/>
          </a:p>
        </p:txBody>
      </p:sp>
      <p:sp>
        <p:nvSpPr>
          <p:cNvPr id="7" name="Shape 5"/>
          <p:cNvSpPr/>
          <p:nvPr/>
        </p:nvSpPr>
        <p:spPr>
          <a:xfrm>
            <a:off x="502920" y="1417320"/>
            <a:ext cx="1691640" cy="868680"/>
          </a:xfrm>
          <a:prstGeom prst="rect">
            <a:avLst/>
          </a:prstGeom>
          <a:solidFill>
            <a:srgbClr val="111827"/>
          </a:solidFill>
          <a:ln w="3810">
            <a:solidFill>
              <a:srgbClr val="FFFFFF">
                <a:alpha val="10000"/>
              </a:srgbClr>
            </a:solidFill>
            <a:prstDash val="solid"/>
          </a:ln>
        </p:spPr>
      </p:sp>
      <p:sp>
        <p:nvSpPr>
          <p:cNvPr id="8" name="Text 6"/>
          <p:cNvSpPr/>
          <p:nvPr/>
        </p:nvSpPr>
        <p:spPr>
          <a:xfrm>
            <a:off x="502920" y="1508760"/>
            <a:ext cx="1691640" cy="521208"/>
          </a:xfrm>
          <a:prstGeom prst="rect">
            <a:avLst/>
          </a:prstGeom>
          <a:noFill/>
          <a:ln/>
        </p:spPr>
        <p:txBody>
          <a:bodyPr wrap="square" lIns="0" tIns="0" rIns="0" bIns="0" rtlCol="0" anchor="b"/>
          <a:lstStyle/>
          <a:p>
            <a:pPr algn="ctr" indent="0" marL="0">
              <a:buNone/>
            </a:pPr>
            <a:r>
              <a:rPr lang="en-US" sz="3400" b="1" dirty="0">
                <a:solidFill>
                  <a:srgbClr val="D4A843"/>
                </a:solidFill>
                <a:latin typeface="Segoe UI" pitchFamily="34" charset="0"/>
                <a:ea typeface="Segoe UI" pitchFamily="34" charset="-122"/>
                <a:cs typeface="Segoe UI" pitchFamily="34" charset="-120"/>
              </a:rPr>
              <a:t>80%</a:t>
            </a:r>
            <a:endParaRPr lang="en-US" sz="3400" dirty="0"/>
          </a:p>
        </p:txBody>
      </p:sp>
      <p:sp>
        <p:nvSpPr>
          <p:cNvPr id="9" name="Text 7"/>
          <p:cNvSpPr/>
          <p:nvPr/>
        </p:nvSpPr>
        <p:spPr>
          <a:xfrm>
            <a:off x="502920" y="1984248"/>
            <a:ext cx="1691640" cy="304038"/>
          </a:xfrm>
          <a:prstGeom prst="rect">
            <a:avLst/>
          </a:prstGeom>
          <a:noFill/>
          <a:ln/>
        </p:spPr>
        <p:txBody>
          <a:bodyPr wrap="square" lIns="0" tIns="0" rIns="0" bIns="0" rtlCol="0" anchor="ctr"/>
          <a:lstStyle/>
          <a:p>
            <a:pPr algn="ctr" indent="0" marL="0">
              <a:buNone/>
            </a:pPr>
            <a:r>
              <a:rPr lang="en-US" sz="900" spc="100" kern="0" dirty="0">
                <a:solidFill>
                  <a:srgbClr val="6B7B8D"/>
                </a:solidFill>
                <a:latin typeface="Segoe UI" pitchFamily="34" charset="0"/>
                <a:ea typeface="Segoe UI" pitchFamily="34" charset="-122"/>
                <a:cs typeface="Segoe UI" pitchFamily="34" charset="-120"/>
              </a:rPr>
              <a:t>TIME REDUCTION</a:t>
            </a:r>
            <a:endParaRPr lang="en-US" sz="900" dirty="0"/>
          </a:p>
        </p:txBody>
      </p:sp>
      <p:sp>
        <p:nvSpPr>
          <p:cNvPr id="10" name="Shape 8"/>
          <p:cNvSpPr/>
          <p:nvPr/>
        </p:nvSpPr>
        <p:spPr>
          <a:xfrm>
            <a:off x="2286000" y="1417320"/>
            <a:ext cx="1691640" cy="868680"/>
          </a:xfrm>
          <a:prstGeom prst="rect">
            <a:avLst/>
          </a:prstGeom>
          <a:solidFill>
            <a:srgbClr val="111827"/>
          </a:solidFill>
          <a:ln w="3810">
            <a:solidFill>
              <a:srgbClr val="FFFFFF">
                <a:alpha val="10000"/>
              </a:srgbClr>
            </a:solidFill>
            <a:prstDash val="solid"/>
          </a:ln>
        </p:spPr>
      </p:sp>
      <p:sp>
        <p:nvSpPr>
          <p:cNvPr id="11" name="Text 9"/>
          <p:cNvSpPr/>
          <p:nvPr/>
        </p:nvSpPr>
        <p:spPr>
          <a:xfrm>
            <a:off x="2286000" y="1508760"/>
            <a:ext cx="1691640" cy="521208"/>
          </a:xfrm>
          <a:prstGeom prst="rect">
            <a:avLst/>
          </a:prstGeom>
          <a:noFill/>
          <a:ln/>
        </p:spPr>
        <p:txBody>
          <a:bodyPr wrap="square" lIns="0" tIns="0" rIns="0" bIns="0" rtlCol="0" anchor="b"/>
          <a:lstStyle/>
          <a:p>
            <a:pPr algn="ctr" indent="0" marL="0">
              <a:buNone/>
            </a:pPr>
            <a:r>
              <a:rPr lang="en-US" sz="3400" b="1" dirty="0">
                <a:solidFill>
                  <a:srgbClr val="D4A843"/>
                </a:solidFill>
                <a:latin typeface="Segoe UI" pitchFamily="34" charset="0"/>
                <a:ea typeface="Segoe UI" pitchFamily="34" charset="-122"/>
                <a:cs typeface="Segoe UI" pitchFamily="34" charset="-120"/>
              </a:rPr>
              <a:t>4×</a:t>
            </a:r>
            <a:endParaRPr lang="en-US" sz="3400" dirty="0"/>
          </a:p>
        </p:txBody>
      </p:sp>
      <p:sp>
        <p:nvSpPr>
          <p:cNvPr id="12" name="Text 10"/>
          <p:cNvSpPr/>
          <p:nvPr/>
        </p:nvSpPr>
        <p:spPr>
          <a:xfrm>
            <a:off x="2286000" y="1984248"/>
            <a:ext cx="1691640" cy="304038"/>
          </a:xfrm>
          <a:prstGeom prst="rect">
            <a:avLst/>
          </a:prstGeom>
          <a:noFill/>
          <a:ln/>
        </p:spPr>
        <p:txBody>
          <a:bodyPr wrap="square" lIns="0" tIns="0" rIns="0" bIns="0" rtlCol="0" anchor="ctr"/>
          <a:lstStyle/>
          <a:p>
            <a:pPr algn="ctr" indent="0" marL="0">
              <a:buNone/>
            </a:pPr>
            <a:r>
              <a:rPr lang="en-US" sz="900" spc="100" kern="0" dirty="0">
                <a:solidFill>
                  <a:srgbClr val="6B7B8D"/>
                </a:solidFill>
                <a:latin typeface="Segoe UI" pitchFamily="34" charset="0"/>
                <a:ea typeface="Segoe UI" pitchFamily="34" charset="-122"/>
                <a:cs typeface="Segoe UI" pitchFamily="34" charset="-120"/>
              </a:rPr>
              <a:t>THROUGHPUT GAIN</a:t>
            </a:r>
            <a:endParaRPr lang="en-US" sz="900" dirty="0"/>
          </a:p>
        </p:txBody>
      </p:sp>
      <p:sp>
        <p:nvSpPr>
          <p:cNvPr id="13" name="Text 11"/>
          <p:cNvSpPr/>
          <p:nvPr/>
        </p:nvSpPr>
        <p:spPr>
          <a:xfrm>
            <a:off x="475488" y="2377440"/>
            <a:ext cx="3749040" cy="777240"/>
          </a:xfrm>
          <a:prstGeom prst="rect">
            <a:avLst/>
          </a:prstGeom>
          <a:noFill/>
          <a:ln/>
        </p:spPr>
        <p:txBody>
          <a:bodyPr wrap="square" lIns="0" tIns="0" rIns="0" bIns="0" rtlCol="0" anchor="ctr"/>
          <a:lstStyle/>
          <a:p>
            <a:pPr marL="342900" indent="-342900">
              <a:spcAft>
                <a:spcPts val="300"/>
              </a:spcAft>
              <a:buSzPct val="100000"/>
              <a:buChar char="•"/>
            </a:pPr>
            <a:r>
              <a:rPr lang="en-US" sz="1300" dirty="0">
                <a:solidFill>
                  <a:srgbClr val="B8C5D3"/>
                </a:solidFill>
                <a:latin typeface="Segoe UI" pitchFamily="34" charset="0"/>
                <a:ea typeface="Segoe UI" pitchFamily="34" charset="-122"/>
                <a:cs typeface="Segoe UI" pitchFamily="34" charset="-120"/>
              </a:rPr>
              <a:t>Review time: 15–30 min → 3–5 min per alert</a:t>
            </a:r>
            <a:endParaRPr lang="en-US" sz="1300" dirty="0"/>
          </a:p>
          <a:p>
            <a:pPr marL="342900" indent="-342900">
              <a:spcAft>
                <a:spcPts val="300"/>
              </a:spcAft>
              <a:buSzPct val="100000"/>
              <a:buChar char="•"/>
            </a:pPr>
            <a:r>
              <a:rPr lang="en-US" sz="1300" dirty="0">
                <a:solidFill>
                  <a:srgbClr val="B8C5D3"/>
                </a:solidFill>
                <a:latin typeface="Segoe UI" pitchFamily="34" charset="0"/>
                <a:ea typeface="Segoe UI" pitchFamily="34" charset="-122"/>
                <a:cs typeface="Segoe UI" pitchFamily="34" charset="-120"/>
              </a:rPr>
              <a:t>3–4× daily throughput increase</a:t>
            </a:r>
            <a:endParaRPr lang="en-US" sz="1300" dirty="0"/>
          </a:p>
          <a:p>
            <a:pPr marL="342900" indent="-342900">
              <a:spcAft>
                <a:spcPts val="300"/>
              </a:spcAft>
              <a:buSzPct val="100000"/>
              <a:buChar char="•"/>
            </a:pPr>
            <a:r>
              <a:rPr lang="en-US" sz="1300" dirty="0">
                <a:solidFill>
                  <a:srgbClr val="B8C5D3"/>
                </a:solidFill>
                <a:latin typeface="Segoe UI" pitchFamily="34" charset="0"/>
                <a:ea typeface="Segoe UI" pitchFamily="34" charset="-122"/>
                <a:cs typeface="Segoe UI" pitchFamily="34" charset="-120"/>
              </a:rPr>
              <a:t>Immediate structured AI summary on load</a:t>
            </a:r>
            <a:endParaRPr lang="en-US" sz="1300" dirty="0"/>
          </a:p>
        </p:txBody>
      </p:sp>
      <p:sp>
        <p:nvSpPr>
          <p:cNvPr id="14" name="Shape 12"/>
          <p:cNvSpPr/>
          <p:nvPr/>
        </p:nvSpPr>
        <p:spPr>
          <a:xfrm>
            <a:off x="4663440" y="960120"/>
            <a:ext cx="4160520" cy="274320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15" name="Text 13"/>
          <p:cNvSpPr/>
          <p:nvPr/>
        </p:nvSpPr>
        <p:spPr>
          <a:xfrm>
            <a:off x="4818888" y="1024128"/>
            <a:ext cx="3840480" cy="292608"/>
          </a:xfrm>
          <a:prstGeom prst="rect">
            <a:avLst/>
          </a:prstGeom>
          <a:noFill/>
          <a:ln/>
        </p:spPr>
        <p:txBody>
          <a:bodyPr wrap="square" lIns="0" tIns="0" rIns="0" bIns="0" rtlCol="0" anchor="ctr"/>
          <a:lstStyle/>
          <a:p>
            <a:pPr indent="0" marL="0">
              <a:buNone/>
            </a:pPr>
            <a:r>
              <a:rPr lang="en-US" sz="1500" b="1" dirty="0">
                <a:solidFill>
                  <a:srgbClr val="60A5FA"/>
                </a:solidFill>
                <a:latin typeface="Segoe UI" pitchFamily="34" charset="0"/>
                <a:ea typeface="Segoe UI" pitchFamily="34" charset="-122"/>
                <a:cs typeface="Segoe UI" pitchFamily="34" charset="-120"/>
              </a:rPr>
              <a:t>Before vs. After</a:t>
            </a:r>
            <a:endParaRPr lang="en-US" sz="1500" dirty="0"/>
          </a:p>
        </p:txBody>
      </p:sp>
      <p:sp>
        <p:nvSpPr>
          <p:cNvPr id="16" name="Shape 14"/>
          <p:cNvSpPr/>
          <p:nvPr/>
        </p:nvSpPr>
        <p:spPr>
          <a:xfrm>
            <a:off x="4818888" y="1371600"/>
            <a:ext cx="3840480" cy="274320"/>
          </a:xfrm>
          <a:prstGeom prst="rect">
            <a:avLst/>
          </a:prstGeom>
          <a:solidFill>
            <a:srgbClr val="D4A843">
              <a:alpha val="12000"/>
            </a:srgbClr>
          </a:solidFill>
          <a:ln w="12700">
            <a:solidFill>
              <a:srgbClr val="D4A843"/>
            </a:solidFill>
            <a:prstDash val="solid"/>
          </a:ln>
        </p:spPr>
      </p:sp>
      <p:sp>
        <p:nvSpPr>
          <p:cNvPr id="17" name="Text 15"/>
          <p:cNvSpPr/>
          <p:nvPr/>
        </p:nvSpPr>
        <p:spPr>
          <a:xfrm>
            <a:off x="4818888" y="1371600"/>
            <a:ext cx="1645920" cy="274320"/>
          </a:xfrm>
          <a:prstGeom prst="rect">
            <a:avLst/>
          </a:prstGeom>
          <a:noFill/>
          <a:ln/>
        </p:spPr>
        <p:txBody>
          <a:bodyPr wrap="square" lIns="0" tIns="38100" rIns="0" bIns="0" rtlCol="0" anchor="ctr"/>
          <a:lstStyle/>
          <a:p>
            <a:pPr indent="0" marL="0">
              <a:buNone/>
            </a:pPr>
            <a:r>
              <a:rPr lang="en-US" sz="1100" b="1" dirty="0">
                <a:solidFill>
                  <a:srgbClr val="D4A843"/>
                </a:solidFill>
                <a:latin typeface="Segoe UI" pitchFamily="34" charset="0"/>
                <a:ea typeface="Segoe UI" pitchFamily="34" charset="-122"/>
                <a:cs typeface="Segoe UI" pitchFamily="34" charset="-120"/>
              </a:rPr>
              <a:t>Metric</a:t>
            </a:r>
            <a:endParaRPr lang="en-US" sz="1100" dirty="0"/>
          </a:p>
        </p:txBody>
      </p:sp>
      <p:sp>
        <p:nvSpPr>
          <p:cNvPr id="18" name="Text 16"/>
          <p:cNvSpPr/>
          <p:nvPr/>
        </p:nvSpPr>
        <p:spPr>
          <a:xfrm>
            <a:off x="6464808" y="1371600"/>
            <a:ext cx="1005840" cy="274320"/>
          </a:xfrm>
          <a:prstGeom prst="rect">
            <a:avLst/>
          </a:prstGeom>
          <a:noFill/>
          <a:ln/>
        </p:spPr>
        <p:txBody>
          <a:bodyPr wrap="square" lIns="0" tIns="38100" rIns="0" bIns="0" rtlCol="0" anchor="ctr"/>
          <a:lstStyle/>
          <a:p>
            <a:pPr indent="0" marL="0">
              <a:buNone/>
            </a:pPr>
            <a:r>
              <a:rPr lang="en-US" sz="1100" b="1" dirty="0">
                <a:solidFill>
                  <a:srgbClr val="D4A843"/>
                </a:solidFill>
                <a:latin typeface="Segoe UI" pitchFamily="34" charset="0"/>
                <a:ea typeface="Segoe UI" pitchFamily="34" charset="-122"/>
                <a:cs typeface="Segoe UI" pitchFamily="34" charset="-120"/>
              </a:rPr>
              <a:t>Before</a:t>
            </a:r>
            <a:endParaRPr lang="en-US" sz="1100" dirty="0"/>
          </a:p>
        </p:txBody>
      </p:sp>
      <p:sp>
        <p:nvSpPr>
          <p:cNvPr id="19" name="Text 17"/>
          <p:cNvSpPr/>
          <p:nvPr/>
        </p:nvSpPr>
        <p:spPr>
          <a:xfrm>
            <a:off x="7470648" y="1371600"/>
            <a:ext cx="1188720" cy="274320"/>
          </a:xfrm>
          <a:prstGeom prst="rect">
            <a:avLst/>
          </a:prstGeom>
          <a:noFill/>
          <a:ln/>
        </p:spPr>
        <p:txBody>
          <a:bodyPr wrap="square" lIns="0" tIns="38100" rIns="0" bIns="0" rtlCol="0" anchor="ctr"/>
          <a:lstStyle/>
          <a:p>
            <a:pPr indent="0" marL="0">
              <a:buNone/>
            </a:pPr>
            <a:r>
              <a:rPr lang="en-US" sz="1100" b="1" dirty="0">
                <a:solidFill>
                  <a:srgbClr val="D4A843"/>
                </a:solidFill>
                <a:latin typeface="Segoe UI" pitchFamily="34" charset="0"/>
                <a:ea typeface="Segoe UI" pitchFamily="34" charset="-122"/>
                <a:cs typeface="Segoe UI" pitchFamily="34" charset="-120"/>
              </a:rPr>
              <a:t>With AI</a:t>
            </a:r>
            <a:endParaRPr lang="en-US" sz="1100" dirty="0"/>
          </a:p>
        </p:txBody>
      </p:sp>
      <p:sp>
        <p:nvSpPr>
          <p:cNvPr id="20" name="Shape 18"/>
          <p:cNvSpPr/>
          <p:nvPr/>
        </p:nvSpPr>
        <p:spPr>
          <a:xfrm>
            <a:off x="4818888" y="1682496"/>
            <a:ext cx="3840480" cy="402336"/>
          </a:xfrm>
          <a:prstGeom prst="rect">
            <a:avLst/>
          </a:prstGeom>
          <a:solidFill>
            <a:srgbClr val="FFFFFF">
              <a:alpha val="2000"/>
            </a:srgbClr>
          </a:solidFill>
          <a:ln w="12700">
            <a:solidFill>
              <a:srgbClr val="FFFFFF"/>
            </a:solidFill>
            <a:prstDash val="solid"/>
          </a:ln>
        </p:spPr>
      </p:sp>
      <p:sp>
        <p:nvSpPr>
          <p:cNvPr id="21" name="Text 19"/>
          <p:cNvSpPr/>
          <p:nvPr/>
        </p:nvSpPr>
        <p:spPr>
          <a:xfrm>
            <a:off x="4818888" y="1682496"/>
            <a:ext cx="1645920" cy="402336"/>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Alerts/analyst/day</a:t>
            </a:r>
            <a:endParaRPr lang="en-US" sz="1100" dirty="0"/>
          </a:p>
        </p:txBody>
      </p:sp>
      <p:sp>
        <p:nvSpPr>
          <p:cNvPr id="22" name="Text 20"/>
          <p:cNvSpPr/>
          <p:nvPr/>
        </p:nvSpPr>
        <p:spPr>
          <a:xfrm>
            <a:off x="6464808" y="1682496"/>
            <a:ext cx="1005840" cy="402336"/>
          </a:xfrm>
          <a:prstGeom prst="rect">
            <a:avLst/>
          </a:prstGeom>
          <a:noFill/>
          <a:ln/>
        </p:spPr>
        <p:txBody>
          <a:bodyPr wrap="square" lIns="0" tIns="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10–20</a:t>
            </a:r>
            <a:endParaRPr lang="en-US" sz="1100" dirty="0"/>
          </a:p>
        </p:txBody>
      </p:sp>
      <p:sp>
        <p:nvSpPr>
          <p:cNvPr id="23" name="Text 21"/>
          <p:cNvSpPr/>
          <p:nvPr/>
        </p:nvSpPr>
        <p:spPr>
          <a:xfrm>
            <a:off x="7470648" y="1682496"/>
            <a:ext cx="1188720" cy="402336"/>
          </a:xfrm>
          <a:prstGeom prst="rect">
            <a:avLst/>
          </a:prstGeom>
          <a:noFill/>
          <a:ln/>
        </p:spPr>
        <p:txBody>
          <a:bodyPr wrap="square" lIns="0" tIns="0" rIns="0" bIns="0" rtlCol="0" anchor="ctr"/>
          <a:lstStyle/>
          <a:p>
            <a:pPr indent="0" marL="0">
              <a:buNone/>
            </a:pPr>
            <a:r>
              <a:rPr lang="en-US" sz="1100" b="1" dirty="0">
                <a:solidFill>
                  <a:srgbClr val="F0D080"/>
                </a:solidFill>
                <a:latin typeface="Segoe UI" pitchFamily="34" charset="0"/>
                <a:ea typeface="Segoe UI" pitchFamily="34" charset="-122"/>
                <a:cs typeface="Segoe UI" pitchFamily="34" charset="-120"/>
              </a:rPr>
              <a:t>60–120 ↑</a:t>
            </a:r>
            <a:endParaRPr lang="en-US" sz="1100" dirty="0"/>
          </a:p>
        </p:txBody>
      </p:sp>
      <p:sp>
        <p:nvSpPr>
          <p:cNvPr id="24" name="Text 22"/>
          <p:cNvSpPr/>
          <p:nvPr/>
        </p:nvSpPr>
        <p:spPr>
          <a:xfrm>
            <a:off x="4818888" y="2084832"/>
            <a:ext cx="1645920" cy="402336"/>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Review time/alert</a:t>
            </a:r>
            <a:endParaRPr lang="en-US" sz="1100" dirty="0"/>
          </a:p>
        </p:txBody>
      </p:sp>
      <p:sp>
        <p:nvSpPr>
          <p:cNvPr id="25" name="Text 23"/>
          <p:cNvSpPr/>
          <p:nvPr/>
        </p:nvSpPr>
        <p:spPr>
          <a:xfrm>
            <a:off x="6464808" y="2084832"/>
            <a:ext cx="1005840" cy="402336"/>
          </a:xfrm>
          <a:prstGeom prst="rect">
            <a:avLst/>
          </a:prstGeom>
          <a:noFill/>
          <a:ln/>
        </p:spPr>
        <p:txBody>
          <a:bodyPr wrap="square" lIns="0" tIns="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15–30 min</a:t>
            </a:r>
            <a:endParaRPr lang="en-US" sz="1100" dirty="0"/>
          </a:p>
        </p:txBody>
      </p:sp>
      <p:sp>
        <p:nvSpPr>
          <p:cNvPr id="26" name="Text 24"/>
          <p:cNvSpPr/>
          <p:nvPr/>
        </p:nvSpPr>
        <p:spPr>
          <a:xfrm>
            <a:off x="7470648" y="2084832"/>
            <a:ext cx="1188720" cy="402336"/>
          </a:xfrm>
          <a:prstGeom prst="rect">
            <a:avLst/>
          </a:prstGeom>
          <a:noFill/>
          <a:ln/>
        </p:spPr>
        <p:txBody>
          <a:bodyPr wrap="square" lIns="0" tIns="0" rIns="0" bIns="0" rtlCol="0" anchor="ctr"/>
          <a:lstStyle/>
          <a:p>
            <a:pPr indent="0" marL="0">
              <a:buNone/>
            </a:pPr>
            <a:r>
              <a:rPr lang="en-US" sz="1100" b="1" dirty="0">
                <a:solidFill>
                  <a:srgbClr val="F0D080"/>
                </a:solidFill>
                <a:latin typeface="Segoe UI" pitchFamily="34" charset="0"/>
                <a:ea typeface="Segoe UI" pitchFamily="34" charset="-122"/>
                <a:cs typeface="Segoe UI" pitchFamily="34" charset="-120"/>
              </a:rPr>
              <a:t>3–5 min</a:t>
            </a:r>
            <a:endParaRPr lang="en-US" sz="1100" dirty="0"/>
          </a:p>
        </p:txBody>
      </p:sp>
      <p:sp>
        <p:nvSpPr>
          <p:cNvPr id="27" name="Shape 25"/>
          <p:cNvSpPr/>
          <p:nvPr/>
        </p:nvSpPr>
        <p:spPr>
          <a:xfrm>
            <a:off x="4818888" y="2487168"/>
            <a:ext cx="3840480" cy="402336"/>
          </a:xfrm>
          <a:prstGeom prst="rect">
            <a:avLst/>
          </a:prstGeom>
          <a:solidFill>
            <a:srgbClr val="FFFFFF">
              <a:alpha val="2000"/>
            </a:srgbClr>
          </a:solidFill>
          <a:ln w="12700">
            <a:solidFill>
              <a:srgbClr val="FFFFFF"/>
            </a:solidFill>
            <a:prstDash val="solid"/>
          </a:ln>
        </p:spPr>
      </p:sp>
      <p:sp>
        <p:nvSpPr>
          <p:cNvPr id="28" name="Text 26"/>
          <p:cNvSpPr/>
          <p:nvPr/>
        </p:nvSpPr>
        <p:spPr>
          <a:xfrm>
            <a:off x="4818888" y="2487168"/>
            <a:ext cx="1645920" cy="402336"/>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False positive rate</a:t>
            </a:r>
            <a:endParaRPr lang="en-US" sz="1100" dirty="0"/>
          </a:p>
        </p:txBody>
      </p:sp>
      <p:sp>
        <p:nvSpPr>
          <p:cNvPr id="29" name="Text 27"/>
          <p:cNvSpPr/>
          <p:nvPr/>
        </p:nvSpPr>
        <p:spPr>
          <a:xfrm>
            <a:off x="6464808" y="2487168"/>
            <a:ext cx="1005840" cy="402336"/>
          </a:xfrm>
          <a:prstGeom prst="rect">
            <a:avLst/>
          </a:prstGeom>
          <a:noFill/>
          <a:ln/>
        </p:spPr>
        <p:txBody>
          <a:bodyPr wrap="square" lIns="0" tIns="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~73%</a:t>
            </a:r>
            <a:endParaRPr lang="en-US" sz="1100" dirty="0"/>
          </a:p>
        </p:txBody>
      </p:sp>
      <p:sp>
        <p:nvSpPr>
          <p:cNvPr id="30" name="Text 28"/>
          <p:cNvSpPr/>
          <p:nvPr/>
        </p:nvSpPr>
        <p:spPr>
          <a:xfrm>
            <a:off x="7470648" y="2487168"/>
            <a:ext cx="1188720" cy="402336"/>
          </a:xfrm>
          <a:prstGeom prst="rect">
            <a:avLst/>
          </a:prstGeom>
          <a:noFill/>
          <a:ln/>
        </p:spPr>
        <p:txBody>
          <a:bodyPr wrap="square" lIns="0" tIns="0" rIns="0" bIns="0" rtlCol="0" anchor="ctr"/>
          <a:lstStyle/>
          <a:p>
            <a:pPr indent="0" marL="0">
              <a:buNone/>
            </a:pPr>
            <a:r>
              <a:rPr lang="en-US" sz="1100" b="1" dirty="0">
                <a:solidFill>
                  <a:srgbClr val="F0D080"/>
                </a:solidFill>
                <a:latin typeface="Segoe UI" pitchFamily="34" charset="0"/>
                <a:ea typeface="Segoe UI" pitchFamily="34" charset="-122"/>
                <a:cs typeface="Segoe UI" pitchFamily="34" charset="-120"/>
              </a:rPr>
              <a:t>~17%</a:t>
            </a:r>
            <a:endParaRPr lang="en-US" sz="1100" dirty="0"/>
          </a:p>
        </p:txBody>
      </p:sp>
      <p:sp>
        <p:nvSpPr>
          <p:cNvPr id="31" name="Shape 29"/>
          <p:cNvSpPr/>
          <p:nvPr/>
        </p:nvSpPr>
        <p:spPr>
          <a:xfrm>
            <a:off x="320040" y="3840480"/>
            <a:ext cx="8503920" cy="91440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32" name="Shape 30"/>
          <p:cNvSpPr/>
          <p:nvPr/>
        </p:nvSpPr>
        <p:spPr>
          <a:xfrm>
            <a:off x="320040" y="3840480"/>
            <a:ext cx="50292" cy="914400"/>
          </a:xfrm>
          <a:prstGeom prst="rect">
            <a:avLst/>
          </a:prstGeom>
          <a:solidFill>
            <a:srgbClr val="D4A843"/>
          </a:solidFill>
          <a:ln w="12700">
            <a:solidFill>
              <a:srgbClr val="D4A843"/>
            </a:solidFill>
            <a:prstDash val="solid"/>
          </a:ln>
        </p:spPr>
      </p:sp>
      <p:sp>
        <p:nvSpPr>
          <p:cNvPr id="33" name="Text 31"/>
          <p:cNvSpPr/>
          <p:nvPr/>
        </p:nvSpPr>
        <p:spPr>
          <a:xfrm>
            <a:off x="475488" y="3931920"/>
            <a:ext cx="8193024" cy="685800"/>
          </a:xfrm>
          <a:prstGeom prst="rect">
            <a:avLst/>
          </a:prstGeom>
          <a:noFill/>
          <a:ln/>
        </p:spPr>
        <p:txBody>
          <a:bodyPr wrap="square" lIns="0" tIns="0" rIns="0" bIns="0" rtlCol="0" anchor="ctr"/>
          <a:lstStyle/>
          <a:p>
            <a:pPr indent="0" marL="0">
              <a:buNone/>
            </a:pPr>
            <a:r>
              <a:rPr lang="en-US" sz="1300" b="1" dirty="0">
                <a:solidFill>
                  <a:srgbClr val="F0D080"/>
                </a:solidFill>
                <a:latin typeface="Segoe UI" pitchFamily="34" charset="0"/>
                <a:ea typeface="Segoe UI" pitchFamily="34" charset="-122"/>
                <a:cs typeface="Segoe UI" pitchFamily="34" charset="-120"/>
              </a:rPr>
              <a:t>Key Principle: </a:t>
            </a:r>
            <a:pPr indent="0" marL="0">
              <a:buNone/>
            </a:pPr>
            <a:r>
              <a:rPr lang="en-US" sz="1300" dirty="0">
                <a:solidFill>
                  <a:srgbClr val="B8C5D3"/>
                </a:solidFill>
                <a:latin typeface="Segoe UI" pitchFamily="34" charset="0"/>
                <a:ea typeface="Segoe UI" pitchFamily="34" charset="-122"/>
                <a:cs typeface="Segoe UI" pitchFamily="34" charset="-120"/>
              </a:rPr>
              <a:t>AuroraAI is a </a:t>
            </a:r>
            <a:pPr indent="0" marL="0">
              <a:buNone/>
            </a:pPr>
            <a:r>
              <a:rPr lang="en-US" sz="1300" b="1" dirty="0">
                <a:solidFill>
                  <a:srgbClr val="F4F6F8"/>
                </a:solidFill>
                <a:latin typeface="Segoe UI" pitchFamily="34" charset="0"/>
                <a:ea typeface="Segoe UI" pitchFamily="34" charset="-122"/>
                <a:cs typeface="Segoe UI" pitchFamily="34" charset="-120"/>
              </a:rPr>
              <a:t>decision-support tool</a:t>
            </a:r>
            <a:pPr indent="0" marL="0">
              <a:buNone/>
            </a:pPr>
            <a:r>
              <a:rPr lang="en-US" sz="1300" dirty="0">
                <a:solidFill>
                  <a:srgbClr val="B8C5D3"/>
                </a:solidFill>
                <a:latin typeface="Segoe UI" pitchFamily="34" charset="0"/>
                <a:ea typeface="Segoe UI" pitchFamily="34" charset="-122"/>
                <a:cs typeface="Segoe UI" pitchFamily="34" charset="-120"/>
              </a:rPr>
              <a:t>. AI recommends; humans decide. This ensures regulatory compliance while maximizing efficiency.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A"/>
        </a:solidFill>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algn="ctr" indent="0" marL="0">
              <a:buNone/>
            </a:pPr>
            <a:r>
              <a:rPr lang="en-US" sz="3600" b="1" dirty="0">
                <a:solidFill>
                  <a:srgbClr val="F4F6F8"/>
                </a:solidFill>
                <a:latin typeface="Segoe UI" pitchFamily="34" charset="0"/>
                <a:ea typeface="Segoe UI" pitchFamily="34" charset="-122"/>
                <a:cs typeface="Segoe UI" pitchFamily="34" charset="-120"/>
              </a:rPr>
              <a:t>Return on </a:t>
            </a:r>
            <a:pPr algn="ctr" indent="0" marL="0">
              <a:buNone/>
            </a:pPr>
            <a:r>
              <a:rPr lang="en-US" sz="3600" b="1" dirty="0">
                <a:solidFill>
                  <a:srgbClr val="D4A843"/>
                </a:solidFill>
                <a:latin typeface="Segoe UI" pitchFamily="34" charset="0"/>
                <a:ea typeface="Segoe UI" pitchFamily="34" charset="-122"/>
                <a:cs typeface="Segoe UI" pitchFamily="34" charset="-120"/>
              </a:rPr>
              <a:t>Investment</a:t>
            </a:r>
            <a:endParaRPr lang="en-US" sz="3600" dirty="0"/>
          </a:p>
        </p:txBody>
      </p:sp>
      <p:sp>
        <p:nvSpPr>
          <p:cNvPr id="3" name="Shape 1"/>
          <p:cNvSpPr/>
          <p:nvPr/>
        </p:nvSpPr>
        <p:spPr>
          <a:xfrm>
            <a:off x="4238244" y="795528"/>
            <a:ext cx="667512" cy="32004"/>
          </a:xfrm>
          <a:prstGeom prst="rect">
            <a:avLst/>
          </a:prstGeom>
          <a:solidFill>
            <a:srgbClr val="D4A843"/>
          </a:solidFill>
          <a:ln w="12700">
            <a:solidFill>
              <a:srgbClr val="D4A843"/>
            </a:solidFill>
            <a:prstDash val="solid"/>
          </a:ln>
        </p:spPr>
      </p:sp>
      <p:sp>
        <p:nvSpPr>
          <p:cNvPr id="4" name="Shape 2"/>
          <p:cNvSpPr/>
          <p:nvPr/>
        </p:nvSpPr>
        <p:spPr>
          <a:xfrm>
            <a:off x="320040" y="960120"/>
            <a:ext cx="1920240" cy="1097280"/>
          </a:xfrm>
          <a:prstGeom prst="rect">
            <a:avLst/>
          </a:prstGeom>
          <a:solidFill>
            <a:srgbClr val="111827"/>
          </a:solidFill>
          <a:ln w="3810">
            <a:solidFill>
              <a:srgbClr val="FFFFFF">
                <a:alpha val="10000"/>
              </a:srgbClr>
            </a:solidFill>
            <a:prstDash val="solid"/>
          </a:ln>
        </p:spPr>
      </p:sp>
      <p:sp>
        <p:nvSpPr>
          <p:cNvPr id="5" name="Text 3"/>
          <p:cNvSpPr/>
          <p:nvPr/>
        </p:nvSpPr>
        <p:spPr>
          <a:xfrm>
            <a:off x="320040" y="1051560"/>
            <a:ext cx="1920240" cy="658368"/>
          </a:xfrm>
          <a:prstGeom prst="rect">
            <a:avLst/>
          </a:prstGeom>
          <a:noFill/>
          <a:ln/>
        </p:spPr>
        <p:txBody>
          <a:bodyPr wrap="square" lIns="0" tIns="0" rIns="0" bIns="0" rtlCol="0" anchor="b"/>
          <a:lstStyle/>
          <a:p>
            <a:pPr algn="ctr" indent="0" marL="0">
              <a:buNone/>
            </a:pPr>
            <a:r>
              <a:rPr lang="en-US" sz="3400" b="1" dirty="0">
                <a:solidFill>
                  <a:srgbClr val="D4A843"/>
                </a:solidFill>
                <a:latin typeface="Segoe UI" pitchFamily="34" charset="0"/>
                <a:ea typeface="Segoe UI" pitchFamily="34" charset="-122"/>
                <a:cs typeface="Segoe UI" pitchFamily="34" charset="-120"/>
              </a:rPr>
              <a:t>80%</a:t>
            </a:r>
            <a:endParaRPr lang="en-US" sz="3400" dirty="0"/>
          </a:p>
        </p:txBody>
      </p:sp>
      <p:sp>
        <p:nvSpPr>
          <p:cNvPr id="6" name="Text 4"/>
          <p:cNvSpPr/>
          <p:nvPr/>
        </p:nvSpPr>
        <p:spPr>
          <a:xfrm>
            <a:off x="320040" y="1664208"/>
            <a:ext cx="1920240" cy="384048"/>
          </a:xfrm>
          <a:prstGeom prst="rect">
            <a:avLst/>
          </a:prstGeom>
          <a:noFill/>
          <a:ln/>
        </p:spPr>
        <p:txBody>
          <a:bodyPr wrap="square" lIns="0" tIns="0" rIns="0" bIns="0" rtlCol="0" anchor="ctr"/>
          <a:lstStyle/>
          <a:p>
            <a:pPr algn="ctr" indent="0" marL="0">
              <a:buNone/>
            </a:pPr>
            <a:r>
              <a:rPr lang="en-US" sz="900" spc="100" kern="0" dirty="0">
                <a:solidFill>
                  <a:srgbClr val="6B7B8D"/>
                </a:solidFill>
                <a:latin typeface="Segoe UI" pitchFamily="34" charset="0"/>
                <a:ea typeface="Segoe UI" pitchFamily="34" charset="-122"/>
                <a:cs typeface="Segoe UI" pitchFamily="34" charset="-120"/>
              </a:rPr>
              <a:t>TIME REDUCTION</a:t>
            </a:r>
            <a:endParaRPr lang="en-US" sz="900" dirty="0"/>
          </a:p>
        </p:txBody>
      </p:sp>
      <p:sp>
        <p:nvSpPr>
          <p:cNvPr id="7" name="Shape 5"/>
          <p:cNvSpPr/>
          <p:nvPr/>
        </p:nvSpPr>
        <p:spPr>
          <a:xfrm>
            <a:off x="2468880" y="960120"/>
            <a:ext cx="1920240" cy="1097280"/>
          </a:xfrm>
          <a:prstGeom prst="rect">
            <a:avLst/>
          </a:prstGeom>
          <a:solidFill>
            <a:srgbClr val="111827"/>
          </a:solidFill>
          <a:ln w="3810">
            <a:solidFill>
              <a:srgbClr val="FFFFFF">
                <a:alpha val="10000"/>
              </a:srgbClr>
            </a:solidFill>
            <a:prstDash val="solid"/>
          </a:ln>
        </p:spPr>
      </p:sp>
      <p:sp>
        <p:nvSpPr>
          <p:cNvPr id="8" name="Text 6"/>
          <p:cNvSpPr/>
          <p:nvPr/>
        </p:nvSpPr>
        <p:spPr>
          <a:xfrm>
            <a:off x="2468880" y="1051560"/>
            <a:ext cx="1920240" cy="658368"/>
          </a:xfrm>
          <a:prstGeom prst="rect">
            <a:avLst/>
          </a:prstGeom>
          <a:noFill/>
          <a:ln/>
        </p:spPr>
        <p:txBody>
          <a:bodyPr wrap="square" lIns="0" tIns="0" rIns="0" bIns="0" rtlCol="0" anchor="b"/>
          <a:lstStyle/>
          <a:p>
            <a:pPr algn="ctr" indent="0" marL="0">
              <a:buNone/>
            </a:pPr>
            <a:r>
              <a:rPr lang="en-US" sz="3400" b="1" dirty="0">
                <a:solidFill>
                  <a:srgbClr val="D4A843"/>
                </a:solidFill>
                <a:latin typeface="Segoe UI" pitchFamily="34" charset="0"/>
                <a:ea typeface="Segoe UI" pitchFamily="34" charset="-122"/>
                <a:cs typeface="Segoe UI" pitchFamily="34" charset="-120"/>
              </a:rPr>
              <a:t>99.7%</a:t>
            </a:r>
            <a:endParaRPr lang="en-US" sz="3400" dirty="0"/>
          </a:p>
        </p:txBody>
      </p:sp>
      <p:sp>
        <p:nvSpPr>
          <p:cNvPr id="9" name="Text 7"/>
          <p:cNvSpPr/>
          <p:nvPr/>
        </p:nvSpPr>
        <p:spPr>
          <a:xfrm>
            <a:off x="2468880" y="1664208"/>
            <a:ext cx="1920240" cy="384048"/>
          </a:xfrm>
          <a:prstGeom prst="rect">
            <a:avLst/>
          </a:prstGeom>
          <a:noFill/>
          <a:ln/>
        </p:spPr>
        <p:txBody>
          <a:bodyPr wrap="square" lIns="0" tIns="0" rIns="0" bIns="0" rtlCol="0" anchor="ctr"/>
          <a:lstStyle/>
          <a:p>
            <a:pPr algn="ctr" indent="0" marL="0">
              <a:buNone/>
            </a:pPr>
            <a:r>
              <a:rPr lang="en-US" sz="900" spc="100" kern="0" dirty="0">
                <a:solidFill>
                  <a:srgbClr val="6B7B8D"/>
                </a:solidFill>
                <a:latin typeface="Segoe UI" pitchFamily="34" charset="0"/>
                <a:ea typeface="Segoe UI" pitchFamily="34" charset="-122"/>
                <a:cs typeface="Segoe UI" pitchFamily="34" charset="-120"/>
              </a:rPr>
              <a:t>SUCCESS RATE</a:t>
            </a:r>
            <a:endParaRPr lang="en-US" sz="900" dirty="0"/>
          </a:p>
        </p:txBody>
      </p:sp>
      <p:sp>
        <p:nvSpPr>
          <p:cNvPr id="10" name="Shape 8"/>
          <p:cNvSpPr/>
          <p:nvPr/>
        </p:nvSpPr>
        <p:spPr>
          <a:xfrm>
            <a:off x="4617720" y="960120"/>
            <a:ext cx="1920240" cy="1097280"/>
          </a:xfrm>
          <a:prstGeom prst="rect">
            <a:avLst/>
          </a:prstGeom>
          <a:solidFill>
            <a:srgbClr val="111827"/>
          </a:solidFill>
          <a:ln w="3810">
            <a:solidFill>
              <a:srgbClr val="FFFFFF">
                <a:alpha val="10000"/>
              </a:srgbClr>
            </a:solidFill>
            <a:prstDash val="solid"/>
          </a:ln>
        </p:spPr>
      </p:sp>
      <p:sp>
        <p:nvSpPr>
          <p:cNvPr id="11" name="Text 9"/>
          <p:cNvSpPr/>
          <p:nvPr/>
        </p:nvSpPr>
        <p:spPr>
          <a:xfrm>
            <a:off x="4617720" y="1051560"/>
            <a:ext cx="1920240" cy="658368"/>
          </a:xfrm>
          <a:prstGeom prst="rect">
            <a:avLst/>
          </a:prstGeom>
          <a:noFill/>
          <a:ln/>
        </p:spPr>
        <p:txBody>
          <a:bodyPr wrap="square" lIns="0" tIns="0" rIns="0" bIns="0" rtlCol="0" anchor="b"/>
          <a:lstStyle/>
          <a:p>
            <a:pPr algn="ctr" indent="0" marL="0">
              <a:buNone/>
            </a:pPr>
            <a:r>
              <a:rPr lang="en-US" sz="3400" b="1" dirty="0">
                <a:solidFill>
                  <a:srgbClr val="D4A843"/>
                </a:solidFill>
                <a:latin typeface="Segoe UI" pitchFamily="34" charset="0"/>
                <a:ea typeface="Segoe UI" pitchFamily="34" charset="-122"/>
                <a:cs typeface="Segoe UI" pitchFamily="34" charset="-120"/>
              </a:rPr>
              <a:t>$0.05</a:t>
            </a:r>
            <a:endParaRPr lang="en-US" sz="3400" dirty="0"/>
          </a:p>
        </p:txBody>
      </p:sp>
      <p:sp>
        <p:nvSpPr>
          <p:cNvPr id="12" name="Text 10"/>
          <p:cNvSpPr/>
          <p:nvPr/>
        </p:nvSpPr>
        <p:spPr>
          <a:xfrm>
            <a:off x="4617720" y="1664208"/>
            <a:ext cx="1920240" cy="384048"/>
          </a:xfrm>
          <a:prstGeom prst="rect">
            <a:avLst/>
          </a:prstGeom>
          <a:noFill/>
          <a:ln/>
        </p:spPr>
        <p:txBody>
          <a:bodyPr wrap="square" lIns="0" tIns="0" rIns="0" bIns="0" rtlCol="0" anchor="ctr"/>
          <a:lstStyle/>
          <a:p>
            <a:pPr algn="ctr" indent="0" marL="0">
              <a:buNone/>
            </a:pPr>
            <a:r>
              <a:rPr lang="en-US" sz="900" spc="100" kern="0" dirty="0">
                <a:solidFill>
                  <a:srgbClr val="6B7B8D"/>
                </a:solidFill>
                <a:latin typeface="Segoe UI" pitchFamily="34" charset="0"/>
                <a:ea typeface="Segoe UI" pitchFamily="34" charset="-122"/>
                <a:cs typeface="Segoe UI" pitchFamily="34" charset="-120"/>
              </a:rPr>
              <a:t>COST / ALERT</a:t>
            </a:r>
            <a:endParaRPr lang="en-US" sz="900" dirty="0"/>
          </a:p>
        </p:txBody>
      </p:sp>
      <p:sp>
        <p:nvSpPr>
          <p:cNvPr id="13" name="Shape 11"/>
          <p:cNvSpPr/>
          <p:nvPr/>
        </p:nvSpPr>
        <p:spPr>
          <a:xfrm>
            <a:off x="6766560" y="960120"/>
            <a:ext cx="1920240" cy="1097280"/>
          </a:xfrm>
          <a:prstGeom prst="rect">
            <a:avLst/>
          </a:prstGeom>
          <a:solidFill>
            <a:srgbClr val="111827"/>
          </a:solidFill>
          <a:ln w="3810">
            <a:solidFill>
              <a:srgbClr val="FFFFFF">
                <a:alpha val="10000"/>
              </a:srgbClr>
            </a:solidFill>
            <a:prstDash val="solid"/>
          </a:ln>
        </p:spPr>
      </p:sp>
      <p:sp>
        <p:nvSpPr>
          <p:cNvPr id="14" name="Text 12"/>
          <p:cNvSpPr/>
          <p:nvPr/>
        </p:nvSpPr>
        <p:spPr>
          <a:xfrm>
            <a:off x="6766560" y="1051560"/>
            <a:ext cx="1920240" cy="658368"/>
          </a:xfrm>
          <a:prstGeom prst="rect">
            <a:avLst/>
          </a:prstGeom>
          <a:noFill/>
          <a:ln/>
        </p:spPr>
        <p:txBody>
          <a:bodyPr wrap="square" lIns="0" tIns="0" rIns="0" bIns="0" rtlCol="0" anchor="b"/>
          <a:lstStyle/>
          <a:p>
            <a:pPr algn="ctr" indent="0" marL="0">
              <a:buNone/>
            </a:pPr>
            <a:r>
              <a:rPr lang="en-US" sz="3400" b="1" dirty="0">
                <a:solidFill>
                  <a:srgbClr val="D4A843"/>
                </a:solidFill>
                <a:latin typeface="Segoe UI" pitchFamily="34" charset="0"/>
                <a:ea typeface="Segoe UI" pitchFamily="34" charset="-122"/>
                <a:cs typeface="Segoe UI" pitchFamily="34" charset="-120"/>
              </a:rPr>
              <a:t>4×</a:t>
            </a:r>
            <a:endParaRPr lang="en-US" sz="3400" dirty="0"/>
          </a:p>
        </p:txBody>
      </p:sp>
      <p:sp>
        <p:nvSpPr>
          <p:cNvPr id="15" name="Text 13"/>
          <p:cNvSpPr/>
          <p:nvPr/>
        </p:nvSpPr>
        <p:spPr>
          <a:xfrm>
            <a:off x="6766560" y="1664208"/>
            <a:ext cx="1920240" cy="384048"/>
          </a:xfrm>
          <a:prstGeom prst="rect">
            <a:avLst/>
          </a:prstGeom>
          <a:noFill/>
          <a:ln/>
        </p:spPr>
        <p:txBody>
          <a:bodyPr wrap="square" lIns="0" tIns="0" rIns="0" bIns="0" rtlCol="0" anchor="ctr"/>
          <a:lstStyle/>
          <a:p>
            <a:pPr algn="ctr" indent="0" marL="0">
              <a:buNone/>
            </a:pPr>
            <a:r>
              <a:rPr lang="en-US" sz="900" spc="100" kern="0" dirty="0">
                <a:solidFill>
                  <a:srgbClr val="6B7B8D"/>
                </a:solidFill>
                <a:latin typeface="Segoe UI" pitchFamily="34" charset="0"/>
                <a:ea typeface="Segoe UI" pitchFamily="34" charset="-122"/>
                <a:cs typeface="Segoe UI" pitchFamily="34" charset="-120"/>
              </a:rPr>
              <a:t>THROUGHPUT GAIN</a:t>
            </a:r>
            <a:endParaRPr lang="en-US" sz="900" dirty="0"/>
          </a:p>
        </p:txBody>
      </p:sp>
      <p:sp>
        <p:nvSpPr>
          <p:cNvPr id="16" name="Shape 14"/>
          <p:cNvSpPr/>
          <p:nvPr/>
        </p:nvSpPr>
        <p:spPr>
          <a:xfrm>
            <a:off x="320040" y="2212848"/>
            <a:ext cx="8503920" cy="260604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17" name="Shape 15"/>
          <p:cNvSpPr/>
          <p:nvPr/>
        </p:nvSpPr>
        <p:spPr>
          <a:xfrm>
            <a:off x="320040" y="2212848"/>
            <a:ext cx="8503920" cy="347472"/>
          </a:xfrm>
          <a:prstGeom prst="rect">
            <a:avLst/>
          </a:prstGeom>
          <a:solidFill>
            <a:srgbClr val="D4A843">
              <a:alpha val="12000"/>
            </a:srgbClr>
          </a:solidFill>
          <a:ln w="12700">
            <a:solidFill>
              <a:srgbClr val="D4A843"/>
            </a:solidFill>
            <a:prstDash val="solid"/>
          </a:ln>
        </p:spPr>
      </p:sp>
      <p:sp>
        <p:nvSpPr>
          <p:cNvPr id="18" name="Text 16"/>
          <p:cNvSpPr/>
          <p:nvPr/>
        </p:nvSpPr>
        <p:spPr>
          <a:xfrm>
            <a:off x="411480" y="2212848"/>
            <a:ext cx="2240280" cy="347472"/>
          </a:xfrm>
          <a:prstGeom prst="rect">
            <a:avLst/>
          </a:prstGeom>
          <a:noFill/>
          <a:ln/>
        </p:spPr>
        <p:txBody>
          <a:bodyPr wrap="square" lIns="0" tIns="38100" rIns="0" bIns="0" rtlCol="0" anchor="ctr"/>
          <a:lstStyle/>
          <a:p>
            <a:pPr indent="0" marL="0">
              <a:buNone/>
            </a:pPr>
            <a:r>
              <a:rPr lang="en-US" sz="1100" b="1" dirty="0">
                <a:solidFill>
                  <a:srgbClr val="D4A843"/>
                </a:solidFill>
                <a:latin typeface="Segoe UI" pitchFamily="34" charset="0"/>
                <a:ea typeface="Segoe UI" pitchFamily="34" charset="-122"/>
                <a:cs typeface="Segoe UI" pitchFamily="34" charset="-120"/>
              </a:rPr>
              <a:t>Metric</a:t>
            </a:r>
            <a:endParaRPr lang="en-US" sz="1100" dirty="0"/>
          </a:p>
        </p:txBody>
      </p:sp>
      <p:sp>
        <p:nvSpPr>
          <p:cNvPr id="19" name="Text 17"/>
          <p:cNvSpPr/>
          <p:nvPr/>
        </p:nvSpPr>
        <p:spPr>
          <a:xfrm>
            <a:off x="2697480" y="2212848"/>
            <a:ext cx="1828800" cy="347472"/>
          </a:xfrm>
          <a:prstGeom prst="rect">
            <a:avLst/>
          </a:prstGeom>
          <a:noFill/>
          <a:ln/>
        </p:spPr>
        <p:txBody>
          <a:bodyPr wrap="square" lIns="0" tIns="38100" rIns="0" bIns="0" rtlCol="0" anchor="ctr"/>
          <a:lstStyle/>
          <a:p>
            <a:pPr indent="0" marL="0">
              <a:buNone/>
            </a:pPr>
            <a:r>
              <a:rPr lang="en-US" sz="1100" b="1" dirty="0">
                <a:solidFill>
                  <a:srgbClr val="D4A843"/>
                </a:solidFill>
                <a:latin typeface="Segoe UI" pitchFamily="34" charset="0"/>
                <a:ea typeface="Segoe UI" pitchFamily="34" charset="-122"/>
                <a:cs typeface="Segoe UI" pitchFamily="34" charset="-120"/>
              </a:rPr>
              <a:t>Before AuroraAI</a:t>
            </a:r>
            <a:endParaRPr lang="en-US" sz="1100" dirty="0"/>
          </a:p>
        </p:txBody>
      </p:sp>
      <p:sp>
        <p:nvSpPr>
          <p:cNvPr id="20" name="Text 18"/>
          <p:cNvSpPr/>
          <p:nvPr/>
        </p:nvSpPr>
        <p:spPr>
          <a:xfrm>
            <a:off x="4526280" y="2212848"/>
            <a:ext cx="2103120" cy="347472"/>
          </a:xfrm>
          <a:prstGeom prst="rect">
            <a:avLst/>
          </a:prstGeom>
          <a:noFill/>
          <a:ln/>
        </p:spPr>
        <p:txBody>
          <a:bodyPr wrap="square" lIns="0" tIns="38100" rIns="0" bIns="0" rtlCol="0" anchor="ctr"/>
          <a:lstStyle/>
          <a:p>
            <a:pPr indent="0" marL="0">
              <a:buNone/>
            </a:pPr>
            <a:r>
              <a:rPr lang="en-US" sz="1100" b="1" dirty="0">
                <a:solidFill>
                  <a:srgbClr val="D4A843"/>
                </a:solidFill>
                <a:latin typeface="Segoe UI" pitchFamily="34" charset="0"/>
                <a:ea typeface="Segoe UI" pitchFamily="34" charset="-122"/>
                <a:cs typeface="Segoe UI" pitchFamily="34" charset="-120"/>
              </a:rPr>
              <a:t>With AuroraAI</a:t>
            </a:r>
            <a:endParaRPr lang="en-US" sz="1100" dirty="0"/>
          </a:p>
        </p:txBody>
      </p:sp>
      <p:sp>
        <p:nvSpPr>
          <p:cNvPr id="21" name="Text 19"/>
          <p:cNvSpPr/>
          <p:nvPr/>
        </p:nvSpPr>
        <p:spPr>
          <a:xfrm>
            <a:off x="6629400" y="2212848"/>
            <a:ext cx="1783080" cy="347472"/>
          </a:xfrm>
          <a:prstGeom prst="rect">
            <a:avLst/>
          </a:prstGeom>
          <a:noFill/>
          <a:ln/>
        </p:spPr>
        <p:txBody>
          <a:bodyPr wrap="square" lIns="0" tIns="38100" rIns="0" bIns="0" rtlCol="0" anchor="ctr"/>
          <a:lstStyle/>
          <a:p>
            <a:pPr indent="0" marL="0">
              <a:buNone/>
            </a:pPr>
            <a:r>
              <a:rPr lang="en-US" sz="1100" b="1" dirty="0">
                <a:solidFill>
                  <a:srgbClr val="D4A843"/>
                </a:solidFill>
                <a:latin typeface="Segoe UI" pitchFamily="34" charset="0"/>
                <a:ea typeface="Segoe UI" pitchFamily="34" charset="-122"/>
                <a:cs typeface="Segoe UI" pitchFamily="34" charset="-120"/>
              </a:rPr>
              <a:t>Impact</a:t>
            </a:r>
            <a:endParaRPr lang="en-US" sz="1100" dirty="0"/>
          </a:p>
        </p:txBody>
      </p:sp>
      <p:sp>
        <p:nvSpPr>
          <p:cNvPr id="22" name="Shape 20"/>
          <p:cNvSpPr/>
          <p:nvPr/>
        </p:nvSpPr>
        <p:spPr>
          <a:xfrm>
            <a:off x="320040" y="2596896"/>
            <a:ext cx="8503920" cy="429768"/>
          </a:xfrm>
          <a:prstGeom prst="rect">
            <a:avLst/>
          </a:prstGeom>
          <a:solidFill>
            <a:srgbClr val="FFFFFF">
              <a:alpha val="3000"/>
            </a:srgbClr>
          </a:solidFill>
          <a:ln w="12700">
            <a:solidFill>
              <a:srgbClr val="FFFFFF"/>
            </a:solidFill>
            <a:prstDash val="solid"/>
          </a:ln>
        </p:spPr>
      </p:sp>
      <p:sp>
        <p:nvSpPr>
          <p:cNvPr id="23" name="Text 21"/>
          <p:cNvSpPr/>
          <p:nvPr/>
        </p:nvSpPr>
        <p:spPr>
          <a:xfrm>
            <a:off x="411480" y="2596896"/>
            <a:ext cx="224028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Avg. review time / alert</a:t>
            </a:r>
            <a:endParaRPr lang="en-US" sz="1100" dirty="0"/>
          </a:p>
        </p:txBody>
      </p:sp>
      <p:sp>
        <p:nvSpPr>
          <p:cNvPr id="24" name="Text 22"/>
          <p:cNvSpPr/>
          <p:nvPr/>
        </p:nvSpPr>
        <p:spPr>
          <a:xfrm>
            <a:off x="2697480" y="2596896"/>
            <a:ext cx="182880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15–30 min</a:t>
            </a:r>
            <a:endParaRPr lang="en-US" sz="1100" dirty="0"/>
          </a:p>
        </p:txBody>
      </p:sp>
      <p:sp>
        <p:nvSpPr>
          <p:cNvPr id="25" name="Text 23"/>
          <p:cNvSpPr/>
          <p:nvPr/>
        </p:nvSpPr>
        <p:spPr>
          <a:xfrm>
            <a:off x="4526280" y="2596896"/>
            <a:ext cx="210312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2–5 min</a:t>
            </a:r>
            <a:endParaRPr lang="en-US" sz="1100" dirty="0"/>
          </a:p>
        </p:txBody>
      </p:sp>
      <p:sp>
        <p:nvSpPr>
          <p:cNvPr id="26" name="Text 24"/>
          <p:cNvSpPr/>
          <p:nvPr/>
        </p:nvSpPr>
        <p:spPr>
          <a:xfrm>
            <a:off x="6629400" y="2596896"/>
            <a:ext cx="1783080" cy="429768"/>
          </a:xfrm>
          <a:prstGeom prst="rect">
            <a:avLst/>
          </a:prstGeom>
          <a:noFill/>
          <a:ln/>
        </p:spPr>
        <p:txBody>
          <a:bodyPr wrap="square" lIns="0" tIns="38100" rIns="0" bIns="0" rtlCol="0" anchor="ctr"/>
          <a:lstStyle/>
          <a:p>
            <a:pPr indent="0" marL="0">
              <a:buNone/>
            </a:pPr>
            <a:r>
              <a:rPr lang="en-US" sz="1100" b="1" dirty="0">
                <a:solidFill>
                  <a:srgbClr val="F0D080"/>
                </a:solidFill>
                <a:latin typeface="Segoe UI" pitchFamily="34" charset="0"/>
                <a:ea typeface="Segoe UI" pitchFamily="34" charset="-122"/>
                <a:cs typeface="Segoe UI" pitchFamily="34" charset="-120"/>
              </a:rPr>
              <a:t>↑ 80% faster</a:t>
            </a:r>
            <a:endParaRPr lang="en-US" sz="1100" dirty="0"/>
          </a:p>
        </p:txBody>
      </p:sp>
      <p:sp>
        <p:nvSpPr>
          <p:cNvPr id="27" name="Text 25"/>
          <p:cNvSpPr/>
          <p:nvPr/>
        </p:nvSpPr>
        <p:spPr>
          <a:xfrm>
            <a:off x="411480" y="3026664"/>
            <a:ext cx="224028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Alerts / analyst / day</a:t>
            </a:r>
            <a:endParaRPr lang="en-US" sz="1100" dirty="0"/>
          </a:p>
        </p:txBody>
      </p:sp>
      <p:sp>
        <p:nvSpPr>
          <p:cNvPr id="28" name="Text 26"/>
          <p:cNvSpPr/>
          <p:nvPr/>
        </p:nvSpPr>
        <p:spPr>
          <a:xfrm>
            <a:off x="2697480" y="3026664"/>
            <a:ext cx="182880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20–30</a:t>
            </a:r>
            <a:endParaRPr lang="en-US" sz="1100" dirty="0"/>
          </a:p>
        </p:txBody>
      </p:sp>
      <p:sp>
        <p:nvSpPr>
          <p:cNvPr id="29" name="Text 27"/>
          <p:cNvSpPr/>
          <p:nvPr/>
        </p:nvSpPr>
        <p:spPr>
          <a:xfrm>
            <a:off x="4526280" y="3026664"/>
            <a:ext cx="210312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60–120</a:t>
            </a:r>
            <a:endParaRPr lang="en-US" sz="1100" dirty="0"/>
          </a:p>
        </p:txBody>
      </p:sp>
      <p:sp>
        <p:nvSpPr>
          <p:cNvPr id="30" name="Text 28"/>
          <p:cNvSpPr/>
          <p:nvPr/>
        </p:nvSpPr>
        <p:spPr>
          <a:xfrm>
            <a:off x="6629400" y="3026664"/>
            <a:ext cx="1783080" cy="429768"/>
          </a:xfrm>
          <a:prstGeom prst="rect">
            <a:avLst/>
          </a:prstGeom>
          <a:noFill/>
          <a:ln/>
        </p:spPr>
        <p:txBody>
          <a:bodyPr wrap="square" lIns="0" tIns="38100" rIns="0" bIns="0" rtlCol="0" anchor="ctr"/>
          <a:lstStyle/>
          <a:p>
            <a:pPr indent="0" marL="0">
              <a:buNone/>
            </a:pPr>
            <a:r>
              <a:rPr lang="en-US" sz="1100" b="1" dirty="0">
                <a:solidFill>
                  <a:srgbClr val="F0D080"/>
                </a:solidFill>
                <a:latin typeface="Segoe UI" pitchFamily="34" charset="0"/>
                <a:ea typeface="Segoe UI" pitchFamily="34" charset="-122"/>
                <a:cs typeface="Segoe UI" pitchFamily="34" charset="-120"/>
              </a:rPr>
              <a:t>↑ 4× throughput</a:t>
            </a:r>
            <a:endParaRPr lang="en-US" sz="1100" dirty="0"/>
          </a:p>
        </p:txBody>
      </p:sp>
      <p:sp>
        <p:nvSpPr>
          <p:cNvPr id="31" name="Shape 29"/>
          <p:cNvSpPr/>
          <p:nvPr/>
        </p:nvSpPr>
        <p:spPr>
          <a:xfrm>
            <a:off x="320040" y="3456432"/>
            <a:ext cx="8503920" cy="429768"/>
          </a:xfrm>
          <a:prstGeom prst="rect">
            <a:avLst/>
          </a:prstGeom>
          <a:solidFill>
            <a:srgbClr val="FFFFFF">
              <a:alpha val="3000"/>
            </a:srgbClr>
          </a:solidFill>
          <a:ln w="12700">
            <a:solidFill>
              <a:srgbClr val="FFFFFF"/>
            </a:solidFill>
            <a:prstDash val="solid"/>
          </a:ln>
        </p:spPr>
      </p:sp>
      <p:sp>
        <p:nvSpPr>
          <p:cNvPr id="32" name="Text 30"/>
          <p:cNvSpPr/>
          <p:nvPr/>
        </p:nvSpPr>
        <p:spPr>
          <a:xfrm>
            <a:off x="411480" y="3456432"/>
            <a:ext cx="224028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Standardisation</a:t>
            </a:r>
            <a:endParaRPr lang="en-US" sz="1100" dirty="0"/>
          </a:p>
        </p:txBody>
      </p:sp>
      <p:sp>
        <p:nvSpPr>
          <p:cNvPr id="33" name="Text 31"/>
          <p:cNvSpPr/>
          <p:nvPr/>
        </p:nvSpPr>
        <p:spPr>
          <a:xfrm>
            <a:off x="2697480" y="3456432"/>
            <a:ext cx="182880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Variable</a:t>
            </a:r>
            <a:endParaRPr lang="en-US" sz="1100" dirty="0"/>
          </a:p>
        </p:txBody>
      </p:sp>
      <p:sp>
        <p:nvSpPr>
          <p:cNvPr id="34" name="Text 32"/>
          <p:cNvSpPr/>
          <p:nvPr/>
        </p:nvSpPr>
        <p:spPr>
          <a:xfrm>
            <a:off x="4526280" y="3456432"/>
            <a:ext cx="210312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Standardised + rationale</a:t>
            </a:r>
            <a:endParaRPr lang="en-US" sz="1100" dirty="0"/>
          </a:p>
        </p:txBody>
      </p:sp>
      <p:sp>
        <p:nvSpPr>
          <p:cNvPr id="35" name="Text 33"/>
          <p:cNvSpPr/>
          <p:nvPr/>
        </p:nvSpPr>
        <p:spPr>
          <a:xfrm>
            <a:off x="6629400" y="3456432"/>
            <a:ext cx="1783080" cy="429768"/>
          </a:xfrm>
          <a:prstGeom prst="rect">
            <a:avLst/>
          </a:prstGeom>
          <a:noFill/>
          <a:ln/>
        </p:spPr>
        <p:txBody>
          <a:bodyPr wrap="square" lIns="0" tIns="38100" rIns="0" bIns="0" rtlCol="0" anchor="ctr"/>
          <a:lstStyle/>
          <a:p>
            <a:pPr indent="0" marL="0">
              <a:buNone/>
            </a:pPr>
            <a:r>
              <a:rPr lang="en-US" sz="1100" b="1" dirty="0">
                <a:solidFill>
                  <a:srgbClr val="F0D080"/>
                </a:solidFill>
                <a:latin typeface="Segoe UI" pitchFamily="34" charset="0"/>
                <a:ea typeface="Segoe UI" pitchFamily="34" charset="-122"/>
                <a:cs typeface="Segoe UI" pitchFamily="34" charset="-120"/>
              </a:rPr>
              <a:t>Instantly</a:t>
            </a:r>
            <a:endParaRPr lang="en-US" sz="1100" dirty="0"/>
          </a:p>
        </p:txBody>
      </p:sp>
      <p:sp>
        <p:nvSpPr>
          <p:cNvPr id="36" name="Text 34"/>
          <p:cNvSpPr/>
          <p:nvPr/>
        </p:nvSpPr>
        <p:spPr>
          <a:xfrm>
            <a:off x="411480" y="3886200"/>
            <a:ext cx="224028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False positive handling</a:t>
            </a:r>
            <a:endParaRPr lang="en-US" sz="1100" dirty="0"/>
          </a:p>
        </p:txBody>
      </p:sp>
      <p:sp>
        <p:nvSpPr>
          <p:cNvPr id="37" name="Text 35"/>
          <p:cNvSpPr/>
          <p:nvPr/>
        </p:nvSpPr>
        <p:spPr>
          <a:xfrm>
            <a:off x="2697480" y="3886200"/>
            <a:ext cx="182880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Manual field-by-field</a:t>
            </a:r>
            <a:endParaRPr lang="en-US" sz="1100" dirty="0"/>
          </a:p>
        </p:txBody>
      </p:sp>
      <p:sp>
        <p:nvSpPr>
          <p:cNvPr id="38" name="Text 36"/>
          <p:cNvSpPr/>
          <p:nvPr/>
        </p:nvSpPr>
        <p:spPr>
          <a:xfrm>
            <a:off x="4526280" y="3886200"/>
            <a:ext cx="210312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Auto-identified</a:t>
            </a:r>
            <a:endParaRPr lang="en-US" sz="1100" dirty="0"/>
          </a:p>
        </p:txBody>
      </p:sp>
      <p:sp>
        <p:nvSpPr>
          <p:cNvPr id="39" name="Text 37"/>
          <p:cNvSpPr/>
          <p:nvPr/>
        </p:nvSpPr>
        <p:spPr>
          <a:xfrm>
            <a:off x="6629400" y="3886200"/>
            <a:ext cx="1783080" cy="429768"/>
          </a:xfrm>
          <a:prstGeom prst="rect">
            <a:avLst/>
          </a:prstGeom>
          <a:noFill/>
          <a:ln/>
        </p:spPr>
        <p:txBody>
          <a:bodyPr wrap="square" lIns="0" tIns="38100" rIns="0" bIns="0" rtlCol="0" anchor="ctr"/>
          <a:lstStyle/>
          <a:p>
            <a:pPr indent="0" marL="0">
              <a:buNone/>
            </a:pPr>
            <a:r>
              <a:rPr lang="en-US" sz="1100" b="1" dirty="0">
                <a:solidFill>
                  <a:srgbClr val="F0D080"/>
                </a:solidFill>
                <a:latin typeface="Segoe UI" pitchFamily="34" charset="0"/>
                <a:ea typeface="Segoe UI" pitchFamily="34" charset="-122"/>
                <a:cs typeface="Segoe UI" pitchFamily="34" charset="-120"/>
              </a:rPr>
              <a:t>Instant with evidence</a:t>
            </a:r>
            <a:endParaRPr lang="en-US" sz="1100" dirty="0"/>
          </a:p>
        </p:txBody>
      </p:sp>
      <p:sp>
        <p:nvSpPr>
          <p:cNvPr id="40" name="Shape 38"/>
          <p:cNvSpPr/>
          <p:nvPr/>
        </p:nvSpPr>
        <p:spPr>
          <a:xfrm>
            <a:off x="320040" y="4315968"/>
            <a:ext cx="8503920" cy="429768"/>
          </a:xfrm>
          <a:prstGeom prst="rect">
            <a:avLst/>
          </a:prstGeom>
          <a:solidFill>
            <a:srgbClr val="FFFFFF">
              <a:alpha val="3000"/>
            </a:srgbClr>
          </a:solidFill>
          <a:ln w="12700">
            <a:solidFill>
              <a:srgbClr val="FFFFFF"/>
            </a:solidFill>
            <a:prstDash val="solid"/>
          </a:ln>
        </p:spPr>
      </p:sp>
      <p:sp>
        <p:nvSpPr>
          <p:cNvPr id="41" name="Text 39"/>
          <p:cNvSpPr/>
          <p:nvPr/>
        </p:nvSpPr>
        <p:spPr>
          <a:xfrm>
            <a:off x="411480" y="4315968"/>
            <a:ext cx="224028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Audit readiness</a:t>
            </a:r>
            <a:endParaRPr lang="en-US" sz="1100" dirty="0"/>
          </a:p>
        </p:txBody>
      </p:sp>
      <p:sp>
        <p:nvSpPr>
          <p:cNvPr id="42" name="Text 40"/>
          <p:cNvSpPr/>
          <p:nvPr/>
        </p:nvSpPr>
        <p:spPr>
          <a:xfrm>
            <a:off x="2697480" y="4315968"/>
            <a:ext cx="182880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Manual docs</a:t>
            </a:r>
            <a:endParaRPr lang="en-US" sz="1100" dirty="0"/>
          </a:p>
        </p:txBody>
      </p:sp>
      <p:sp>
        <p:nvSpPr>
          <p:cNvPr id="43" name="Text 41"/>
          <p:cNvSpPr/>
          <p:nvPr/>
        </p:nvSpPr>
        <p:spPr>
          <a:xfrm>
            <a:off x="4526280" y="4315968"/>
            <a:ext cx="2103120" cy="429768"/>
          </a:xfrm>
          <a:prstGeom prst="rect">
            <a:avLst/>
          </a:prstGeom>
          <a:noFill/>
          <a:ln/>
        </p:spPr>
        <p:txBody>
          <a:bodyPr wrap="square" lIns="0" tIns="38100" rIns="0" bIns="0" rtlCol="0" anchor="ctr"/>
          <a:lstStyle/>
          <a:p>
            <a:pPr indent="0" marL="0">
              <a:buNone/>
            </a:pPr>
            <a:r>
              <a:rPr lang="en-US" sz="1100" dirty="0">
                <a:solidFill>
                  <a:srgbClr val="B8C5D3"/>
                </a:solidFill>
                <a:latin typeface="Segoe UI" pitchFamily="34" charset="0"/>
                <a:ea typeface="Segoe UI" pitchFamily="34" charset="-122"/>
                <a:cs typeface="Segoe UI" pitchFamily="34" charset="-120"/>
              </a:rPr>
              <a:t>Automatic full trail</a:t>
            </a:r>
            <a:endParaRPr lang="en-US" sz="1100" dirty="0"/>
          </a:p>
        </p:txBody>
      </p:sp>
      <p:sp>
        <p:nvSpPr>
          <p:cNvPr id="44" name="Text 42"/>
          <p:cNvSpPr/>
          <p:nvPr/>
        </p:nvSpPr>
        <p:spPr>
          <a:xfrm>
            <a:off x="6629400" y="4315968"/>
            <a:ext cx="1783080" cy="429768"/>
          </a:xfrm>
          <a:prstGeom prst="rect">
            <a:avLst/>
          </a:prstGeom>
          <a:noFill/>
          <a:ln/>
        </p:spPr>
        <p:txBody>
          <a:bodyPr wrap="square" lIns="0" tIns="38100" rIns="0" bIns="0" rtlCol="0" anchor="ctr"/>
          <a:lstStyle/>
          <a:p>
            <a:pPr indent="0" marL="0">
              <a:buNone/>
            </a:pPr>
            <a:r>
              <a:rPr lang="en-US" sz="1100" b="1" dirty="0">
                <a:solidFill>
                  <a:srgbClr val="F0D080"/>
                </a:solidFill>
                <a:latin typeface="Segoe UI" pitchFamily="34" charset="0"/>
                <a:ea typeface="Segoe UI" pitchFamily="34" charset="-122"/>
                <a:cs typeface="Segoe UI" pitchFamily="34" charset="-120"/>
              </a:rPr>
              <a:t>100% traceable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A"/>
        </a:solidFill>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algn="ctr" indent="0" marL="0">
              <a:buNone/>
            </a:pPr>
            <a:r>
              <a:rPr lang="en-US" sz="3600" b="1" dirty="0">
                <a:solidFill>
                  <a:srgbClr val="F4F6F8"/>
                </a:solidFill>
                <a:latin typeface="Segoe UI" pitchFamily="34" charset="0"/>
                <a:ea typeface="Segoe UI" pitchFamily="34" charset="-122"/>
                <a:cs typeface="Segoe UI" pitchFamily="34" charset="-120"/>
              </a:rPr>
              <a:t>How BNY can </a:t>
            </a:r>
            <a:pPr algn="ctr" indent="0" marL="0">
              <a:buNone/>
            </a:pPr>
            <a:r>
              <a:rPr lang="en-US" sz="3600" b="1" dirty="0">
                <a:solidFill>
                  <a:srgbClr val="D4A843"/>
                </a:solidFill>
                <a:latin typeface="Segoe UI" pitchFamily="34" charset="0"/>
                <a:ea typeface="Segoe UI" pitchFamily="34" charset="-122"/>
                <a:cs typeface="Segoe UI" pitchFamily="34" charset="-120"/>
              </a:rPr>
              <a:t>Benefit</a:t>
            </a:r>
            <a:endParaRPr lang="en-US" sz="3600" dirty="0"/>
          </a:p>
        </p:txBody>
      </p:sp>
      <p:sp>
        <p:nvSpPr>
          <p:cNvPr id="3" name="Shape 1"/>
          <p:cNvSpPr/>
          <p:nvPr/>
        </p:nvSpPr>
        <p:spPr>
          <a:xfrm>
            <a:off x="4238244" y="795528"/>
            <a:ext cx="667512" cy="32004"/>
          </a:xfrm>
          <a:prstGeom prst="rect">
            <a:avLst/>
          </a:prstGeom>
          <a:solidFill>
            <a:srgbClr val="D4A843"/>
          </a:solidFill>
          <a:ln w="12700">
            <a:solidFill>
              <a:srgbClr val="D4A843"/>
            </a:solidFill>
            <a:prstDash val="solid"/>
          </a:ln>
        </p:spPr>
      </p:sp>
      <p:sp>
        <p:nvSpPr>
          <p:cNvPr id="4" name="Shape 2"/>
          <p:cNvSpPr/>
          <p:nvPr/>
        </p:nvSpPr>
        <p:spPr>
          <a:xfrm>
            <a:off x="320040" y="960120"/>
            <a:ext cx="2743200" cy="265176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5" name="Shape 3"/>
          <p:cNvSpPr/>
          <p:nvPr/>
        </p:nvSpPr>
        <p:spPr>
          <a:xfrm>
            <a:off x="1371600" y="1097280"/>
            <a:ext cx="640080" cy="640080"/>
          </a:xfrm>
          <a:prstGeom prst="ellipse">
            <a:avLst/>
          </a:prstGeom>
          <a:solidFill>
            <a:srgbClr val="D4A843">
              <a:alpha val="12000"/>
            </a:srgbClr>
          </a:solidFill>
          <a:ln w="12700">
            <a:solidFill>
              <a:srgbClr val="D4A843"/>
            </a:solidFill>
            <a:prstDash val="solid"/>
          </a:ln>
        </p:spPr>
      </p:sp>
      <p:sp>
        <p:nvSpPr>
          <p:cNvPr id="6" name="Text 4"/>
          <p:cNvSpPr/>
          <p:nvPr/>
        </p:nvSpPr>
        <p:spPr>
          <a:xfrm>
            <a:off x="1371600" y="1097280"/>
            <a:ext cx="640080" cy="640080"/>
          </a:xfrm>
          <a:prstGeom prst="rect">
            <a:avLst/>
          </a:prstGeom>
          <a:noFill/>
          <a:ln/>
        </p:spPr>
        <p:txBody>
          <a:bodyPr wrap="square" lIns="0" tIns="0" rIns="0" bIns="0" rtlCol="0" anchor="ctr"/>
          <a:lstStyle/>
          <a:p>
            <a:pPr algn="ctr" indent="0" marL="0">
              <a:buNone/>
            </a:pPr>
            <a:r>
              <a:rPr lang="en-US" sz="1000" b="1" dirty="0">
                <a:solidFill>
                  <a:srgbClr val="D4A843"/>
                </a:solidFill>
                <a:latin typeface="Segoe UI" pitchFamily="34" charset="0"/>
                <a:ea typeface="Segoe UI" pitchFamily="34" charset="-122"/>
                <a:cs typeface="Segoe UI" pitchFamily="34" charset="-120"/>
              </a:rPr>
              <a:t>OPS</a:t>
            </a:r>
            <a:endParaRPr lang="en-US" sz="1000" dirty="0"/>
          </a:p>
        </p:txBody>
      </p:sp>
      <p:sp>
        <p:nvSpPr>
          <p:cNvPr id="7" name="Text 5"/>
          <p:cNvSpPr/>
          <p:nvPr/>
        </p:nvSpPr>
        <p:spPr>
          <a:xfrm>
            <a:off x="411480" y="1920240"/>
            <a:ext cx="2560320" cy="292608"/>
          </a:xfrm>
          <a:prstGeom prst="rect">
            <a:avLst/>
          </a:prstGeom>
          <a:noFill/>
          <a:ln/>
        </p:spPr>
        <p:txBody>
          <a:bodyPr wrap="square" lIns="0" tIns="0" rIns="0" bIns="0" rtlCol="0" anchor="ctr"/>
          <a:lstStyle/>
          <a:p>
            <a:pPr algn="ctr" indent="0" marL="0">
              <a:buNone/>
            </a:pPr>
            <a:r>
              <a:rPr lang="en-US" sz="1500" b="1" dirty="0">
                <a:solidFill>
                  <a:srgbClr val="D4A843"/>
                </a:solidFill>
                <a:latin typeface="Segoe UI" pitchFamily="34" charset="0"/>
                <a:ea typeface="Segoe UI" pitchFamily="34" charset="-122"/>
                <a:cs typeface="Segoe UI" pitchFamily="34" charset="-120"/>
              </a:rPr>
              <a:t>Operational Efficiency</a:t>
            </a:r>
            <a:endParaRPr lang="en-US" sz="1500" dirty="0"/>
          </a:p>
        </p:txBody>
      </p:sp>
      <p:sp>
        <p:nvSpPr>
          <p:cNvPr id="8" name="Text 6"/>
          <p:cNvSpPr/>
          <p:nvPr/>
        </p:nvSpPr>
        <p:spPr>
          <a:xfrm>
            <a:off x="502920" y="2286000"/>
            <a:ext cx="2377440" cy="1234440"/>
          </a:xfrm>
          <a:prstGeom prst="rect">
            <a:avLst/>
          </a:prstGeom>
          <a:noFill/>
          <a:ln/>
        </p:spPr>
        <p:txBody>
          <a:bodyPr wrap="square" lIns="0" tIns="63500" rIns="0" bIns="0" rtlCol="0" anchor="ctr"/>
          <a:lstStyle/>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70–80% reduction in review time</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3–4× daily throughput increase</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Redeploy capacity to high-value work</a:t>
            </a:r>
            <a:endParaRPr lang="en-US" sz="1200" dirty="0"/>
          </a:p>
        </p:txBody>
      </p:sp>
      <p:sp>
        <p:nvSpPr>
          <p:cNvPr id="9" name="Shape 7"/>
          <p:cNvSpPr/>
          <p:nvPr/>
        </p:nvSpPr>
        <p:spPr>
          <a:xfrm>
            <a:off x="3246120" y="960120"/>
            <a:ext cx="2743200" cy="265176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10" name="Shape 8"/>
          <p:cNvSpPr/>
          <p:nvPr/>
        </p:nvSpPr>
        <p:spPr>
          <a:xfrm>
            <a:off x="4297680" y="1097280"/>
            <a:ext cx="640080" cy="640080"/>
          </a:xfrm>
          <a:prstGeom prst="ellipse">
            <a:avLst/>
          </a:prstGeom>
          <a:solidFill>
            <a:srgbClr val="22C55E">
              <a:alpha val="12000"/>
            </a:srgbClr>
          </a:solidFill>
          <a:ln w="12700">
            <a:solidFill>
              <a:srgbClr val="22C55E"/>
            </a:solidFill>
            <a:prstDash val="solid"/>
          </a:ln>
        </p:spPr>
      </p:sp>
      <p:sp>
        <p:nvSpPr>
          <p:cNvPr id="11" name="Text 9"/>
          <p:cNvSpPr/>
          <p:nvPr/>
        </p:nvSpPr>
        <p:spPr>
          <a:xfrm>
            <a:off x="4297680" y="1097280"/>
            <a:ext cx="640080" cy="640080"/>
          </a:xfrm>
          <a:prstGeom prst="rect">
            <a:avLst/>
          </a:prstGeom>
          <a:noFill/>
          <a:ln/>
        </p:spPr>
        <p:txBody>
          <a:bodyPr wrap="square" lIns="0" tIns="0" rIns="0" bIns="0" rtlCol="0" anchor="ctr"/>
          <a:lstStyle/>
          <a:p>
            <a:pPr algn="ctr" indent="0" marL="0">
              <a:buNone/>
            </a:pPr>
            <a:r>
              <a:rPr lang="en-US" sz="1000" b="1" dirty="0">
                <a:solidFill>
                  <a:srgbClr val="22C55E"/>
                </a:solidFill>
                <a:latin typeface="Segoe UI" pitchFamily="34" charset="0"/>
                <a:ea typeface="Segoe UI" pitchFamily="34" charset="-122"/>
                <a:cs typeface="Segoe UI" pitchFamily="34" charset="-120"/>
              </a:rPr>
              <a:t>AUD</a:t>
            </a:r>
            <a:endParaRPr lang="en-US" sz="1000" dirty="0"/>
          </a:p>
        </p:txBody>
      </p:sp>
      <p:sp>
        <p:nvSpPr>
          <p:cNvPr id="12" name="Text 10"/>
          <p:cNvSpPr/>
          <p:nvPr/>
        </p:nvSpPr>
        <p:spPr>
          <a:xfrm>
            <a:off x="3337560" y="1920240"/>
            <a:ext cx="2560320" cy="292608"/>
          </a:xfrm>
          <a:prstGeom prst="rect">
            <a:avLst/>
          </a:prstGeom>
          <a:noFill/>
          <a:ln/>
        </p:spPr>
        <p:txBody>
          <a:bodyPr wrap="square" lIns="0" tIns="0" rIns="0" bIns="0" rtlCol="0" anchor="ctr"/>
          <a:lstStyle/>
          <a:p>
            <a:pPr algn="ctr" indent="0" marL="0">
              <a:buNone/>
            </a:pPr>
            <a:r>
              <a:rPr lang="en-US" sz="1500" b="1" dirty="0">
                <a:solidFill>
                  <a:srgbClr val="22C55E"/>
                </a:solidFill>
                <a:latin typeface="Segoe UI" pitchFamily="34" charset="0"/>
                <a:ea typeface="Segoe UI" pitchFamily="34" charset="-122"/>
                <a:cs typeface="Segoe UI" pitchFamily="34" charset="-120"/>
              </a:rPr>
              <a:t>Compliance</a:t>
            </a:r>
            <a:endParaRPr lang="en-US" sz="1500" dirty="0"/>
          </a:p>
        </p:txBody>
      </p:sp>
      <p:sp>
        <p:nvSpPr>
          <p:cNvPr id="13" name="Text 11"/>
          <p:cNvSpPr/>
          <p:nvPr/>
        </p:nvSpPr>
        <p:spPr>
          <a:xfrm>
            <a:off x="3429000" y="2286000"/>
            <a:ext cx="2377440" cy="1234440"/>
          </a:xfrm>
          <a:prstGeom prst="rect">
            <a:avLst/>
          </a:prstGeom>
          <a:noFill/>
          <a:ln/>
        </p:spPr>
        <p:txBody>
          <a:bodyPr wrap="square" lIns="0" tIns="63500" rIns="0" bIns="0" rtlCol="0" anchor="ctr"/>
          <a:lstStyle/>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Consistent, auditable decisions</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Complete trail for regulators</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Reduced missed True Match risk</a:t>
            </a:r>
            <a:endParaRPr lang="en-US" sz="1200" dirty="0"/>
          </a:p>
        </p:txBody>
      </p:sp>
      <p:sp>
        <p:nvSpPr>
          <p:cNvPr id="14" name="Shape 12"/>
          <p:cNvSpPr/>
          <p:nvPr/>
        </p:nvSpPr>
        <p:spPr>
          <a:xfrm>
            <a:off x="6172200" y="960120"/>
            <a:ext cx="2743200" cy="265176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15" name="Shape 13"/>
          <p:cNvSpPr/>
          <p:nvPr/>
        </p:nvSpPr>
        <p:spPr>
          <a:xfrm>
            <a:off x="7223760" y="1097280"/>
            <a:ext cx="640080" cy="640080"/>
          </a:xfrm>
          <a:prstGeom prst="ellipse">
            <a:avLst/>
          </a:prstGeom>
          <a:solidFill>
            <a:srgbClr val="3B82F6">
              <a:alpha val="12000"/>
            </a:srgbClr>
          </a:solidFill>
          <a:ln w="12700">
            <a:solidFill>
              <a:srgbClr val="3B82F6"/>
            </a:solidFill>
            <a:prstDash val="solid"/>
          </a:ln>
        </p:spPr>
      </p:sp>
      <p:sp>
        <p:nvSpPr>
          <p:cNvPr id="16" name="Text 14"/>
          <p:cNvSpPr/>
          <p:nvPr/>
        </p:nvSpPr>
        <p:spPr>
          <a:xfrm>
            <a:off x="7223760" y="1097280"/>
            <a:ext cx="640080" cy="640080"/>
          </a:xfrm>
          <a:prstGeom prst="rect">
            <a:avLst/>
          </a:prstGeom>
          <a:noFill/>
          <a:ln/>
        </p:spPr>
        <p:txBody>
          <a:bodyPr wrap="square" lIns="0" tIns="0" rIns="0" bIns="0" rtlCol="0" anchor="ctr"/>
          <a:lstStyle/>
          <a:p>
            <a:pPr algn="ctr" indent="0" marL="0">
              <a:buNone/>
            </a:pPr>
            <a:r>
              <a:rPr lang="en-US" sz="1000" b="1" dirty="0">
                <a:solidFill>
                  <a:srgbClr val="3B82F6"/>
                </a:solidFill>
                <a:latin typeface="Segoe UI" pitchFamily="34" charset="0"/>
                <a:ea typeface="Segoe UI" pitchFamily="34" charset="-122"/>
                <a:cs typeface="Segoe UI" pitchFamily="34" charset="-120"/>
              </a:rPr>
              <a:t>HUM</a:t>
            </a:r>
            <a:endParaRPr lang="en-US" sz="1000" dirty="0"/>
          </a:p>
        </p:txBody>
      </p:sp>
      <p:sp>
        <p:nvSpPr>
          <p:cNvPr id="17" name="Text 15"/>
          <p:cNvSpPr/>
          <p:nvPr/>
        </p:nvSpPr>
        <p:spPr>
          <a:xfrm>
            <a:off x="6263640" y="1920240"/>
            <a:ext cx="2560320" cy="292608"/>
          </a:xfrm>
          <a:prstGeom prst="rect">
            <a:avLst/>
          </a:prstGeom>
          <a:noFill/>
          <a:ln/>
        </p:spPr>
        <p:txBody>
          <a:bodyPr wrap="square" lIns="0" tIns="0" rIns="0" bIns="0" rtlCol="0" anchor="ctr"/>
          <a:lstStyle/>
          <a:p>
            <a:pPr algn="ctr" indent="0" marL="0">
              <a:buNone/>
            </a:pPr>
            <a:r>
              <a:rPr lang="en-US" sz="1500" b="1" dirty="0">
                <a:solidFill>
                  <a:srgbClr val="60A5FA"/>
                </a:solidFill>
                <a:latin typeface="Segoe UI" pitchFamily="34" charset="0"/>
                <a:ea typeface="Segoe UI" pitchFamily="34" charset="-122"/>
                <a:cs typeface="Segoe UI" pitchFamily="34" charset="-120"/>
              </a:rPr>
              <a:t>Human in Control</a:t>
            </a:r>
            <a:endParaRPr lang="en-US" sz="1500" dirty="0"/>
          </a:p>
        </p:txBody>
      </p:sp>
      <p:sp>
        <p:nvSpPr>
          <p:cNvPr id="18" name="Text 16"/>
          <p:cNvSpPr/>
          <p:nvPr/>
        </p:nvSpPr>
        <p:spPr>
          <a:xfrm>
            <a:off x="6355080" y="2286000"/>
            <a:ext cx="2377440" cy="1234440"/>
          </a:xfrm>
          <a:prstGeom prst="rect">
            <a:avLst/>
          </a:prstGeom>
          <a:noFill/>
          <a:ln/>
        </p:spPr>
        <p:txBody>
          <a:bodyPr wrap="square" lIns="0" tIns="63500" rIns="0" bIns="0" rtlCol="0" anchor="ctr"/>
          <a:lstStyle/>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Human always final decision-maker</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AI assists, never replaces</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Full override capability</a:t>
            </a:r>
            <a:endParaRPr lang="en-US" sz="1200" dirty="0"/>
          </a:p>
        </p:txBody>
      </p:sp>
      <p:sp>
        <p:nvSpPr>
          <p:cNvPr id="19" name="Shape 17"/>
          <p:cNvSpPr/>
          <p:nvPr/>
        </p:nvSpPr>
        <p:spPr>
          <a:xfrm>
            <a:off x="320040" y="3767328"/>
            <a:ext cx="8503920" cy="96012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20" name="Shape 18"/>
          <p:cNvSpPr/>
          <p:nvPr/>
        </p:nvSpPr>
        <p:spPr>
          <a:xfrm>
            <a:off x="320040" y="3767328"/>
            <a:ext cx="50292" cy="960120"/>
          </a:xfrm>
          <a:prstGeom prst="rect">
            <a:avLst/>
          </a:prstGeom>
          <a:solidFill>
            <a:srgbClr val="D4A843"/>
          </a:solidFill>
          <a:ln w="12700">
            <a:solidFill>
              <a:srgbClr val="D4A843"/>
            </a:solidFill>
            <a:prstDash val="solid"/>
          </a:ln>
        </p:spPr>
      </p:sp>
      <p:sp>
        <p:nvSpPr>
          <p:cNvPr id="21" name="Text 19"/>
          <p:cNvSpPr/>
          <p:nvPr/>
        </p:nvSpPr>
        <p:spPr>
          <a:xfrm>
            <a:off x="475488" y="3858768"/>
            <a:ext cx="8193024" cy="685800"/>
          </a:xfrm>
          <a:prstGeom prst="rect">
            <a:avLst/>
          </a:prstGeom>
          <a:noFill/>
          <a:ln/>
        </p:spPr>
        <p:txBody>
          <a:bodyPr wrap="square" lIns="0" tIns="0" rIns="0" bIns="0" rtlCol="0" anchor="ctr"/>
          <a:lstStyle/>
          <a:p>
            <a:pPr indent="0" marL="0">
              <a:buNone/>
            </a:pPr>
            <a:r>
              <a:rPr lang="en-US" sz="1300" b="1" dirty="0">
                <a:solidFill>
                  <a:srgbClr val="F0D080"/>
                </a:solidFill>
                <a:latin typeface="Segoe UI" pitchFamily="34" charset="0"/>
                <a:ea typeface="Segoe UI" pitchFamily="34" charset="-122"/>
                <a:cs typeface="Segoe UI" pitchFamily="34" charset="-120"/>
              </a:rPr>
              <a:t>Key Principle: </a:t>
            </a:r>
            <a:pPr indent="0" marL="0">
              <a:buNone/>
            </a:pPr>
            <a:r>
              <a:rPr lang="en-US" sz="1300" dirty="0">
                <a:solidFill>
                  <a:srgbClr val="B8C5D3"/>
                </a:solidFill>
                <a:latin typeface="Segoe UI" pitchFamily="34" charset="0"/>
                <a:ea typeface="Segoe UI" pitchFamily="34" charset="-122"/>
                <a:cs typeface="Segoe UI" pitchFamily="34" charset="-120"/>
              </a:rPr>
              <a:t>AuroraAI is a </a:t>
            </a:r>
            <a:pPr indent="0" marL="0">
              <a:buNone/>
            </a:pPr>
            <a:r>
              <a:rPr lang="en-US" sz="1300" b="1" dirty="0">
                <a:solidFill>
                  <a:srgbClr val="F4F6F8"/>
                </a:solidFill>
                <a:latin typeface="Segoe UI" pitchFamily="34" charset="0"/>
                <a:ea typeface="Segoe UI" pitchFamily="34" charset="-122"/>
                <a:cs typeface="Segoe UI" pitchFamily="34" charset="-120"/>
              </a:rPr>
              <a:t>decision-support tool</a:t>
            </a:r>
            <a:pPr indent="0" marL="0">
              <a:buNone/>
            </a:pPr>
            <a:r>
              <a:rPr lang="en-US" sz="1300" dirty="0">
                <a:solidFill>
                  <a:srgbClr val="B8C5D3"/>
                </a:solidFill>
                <a:latin typeface="Segoe UI" pitchFamily="34" charset="0"/>
                <a:ea typeface="Segoe UI" pitchFamily="34" charset="-122"/>
                <a:cs typeface="Segoe UI" pitchFamily="34" charset="-120"/>
              </a:rPr>
              <a:t>. All AI outputs are recommendations for human analyst review. The AI does not take final decisions.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A"/>
        </a:solidFill>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algn="ctr" indent="0" marL="0">
              <a:buNone/>
            </a:pPr>
            <a:r>
              <a:rPr lang="en-US" sz="3600" b="1" dirty="0">
                <a:solidFill>
                  <a:srgbClr val="F4F6F8"/>
                </a:solidFill>
                <a:latin typeface="Segoe UI" pitchFamily="34" charset="0"/>
                <a:ea typeface="Segoe UI" pitchFamily="34" charset="-122"/>
                <a:cs typeface="Segoe UI" pitchFamily="34" charset="-120"/>
              </a:rPr>
              <a:t>Proof of Concept </a:t>
            </a:r>
            <a:pPr algn="ctr" indent="0" marL="0">
              <a:buNone/>
            </a:pPr>
            <a:r>
              <a:rPr lang="en-US" sz="3600" b="1" dirty="0">
                <a:solidFill>
                  <a:srgbClr val="D4A843"/>
                </a:solidFill>
                <a:latin typeface="Segoe UI" pitchFamily="34" charset="0"/>
                <a:ea typeface="Segoe UI" pitchFamily="34" charset="-122"/>
                <a:cs typeface="Segoe UI" pitchFamily="34" charset="-120"/>
              </a:rPr>
              <a:t>Results</a:t>
            </a:r>
            <a:endParaRPr lang="en-US" sz="3600" dirty="0"/>
          </a:p>
        </p:txBody>
      </p:sp>
      <p:sp>
        <p:nvSpPr>
          <p:cNvPr id="3" name="Shape 1"/>
          <p:cNvSpPr/>
          <p:nvPr/>
        </p:nvSpPr>
        <p:spPr>
          <a:xfrm>
            <a:off x="4238244" y="795528"/>
            <a:ext cx="667512" cy="32004"/>
          </a:xfrm>
          <a:prstGeom prst="rect">
            <a:avLst/>
          </a:prstGeom>
          <a:solidFill>
            <a:srgbClr val="D4A843"/>
          </a:solidFill>
          <a:ln w="12700">
            <a:solidFill>
              <a:srgbClr val="D4A843"/>
            </a:solidFill>
            <a:prstDash val="solid"/>
          </a:ln>
        </p:spPr>
      </p:sp>
      <p:sp>
        <p:nvSpPr>
          <p:cNvPr id="4" name="Text 2"/>
          <p:cNvSpPr/>
          <p:nvPr/>
        </p:nvSpPr>
        <p:spPr>
          <a:xfrm>
            <a:off x="457200" y="960120"/>
            <a:ext cx="8229600" cy="256032"/>
          </a:xfrm>
          <a:prstGeom prst="rect">
            <a:avLst/>
          </a:prstGeom>
          <a:noFill/>
          <a:ln/>
        </p:spPr>
        <p:txBody>
          <a:bodyPr wrap="square" lIns="0" tIns="0" rIns="0" bIns="0" rtlCol="0" anchor="ctr"/>
          <a:lstStyle/>
          <a:p>
            <a:pPr algn="ctr" indent="0" marL="0">
              <a:buNone/>
            </a:pPr>
            <a:r>
              <a:rPr lang="en-US" sz="1300" dirty="0">
                <a:solidFill>
                  <a:srgbClr val="6B7B8D"/>
                </a:solidFill>
                <a:latin typeface="Segoe UI" pitchFamily="34" charset="0"/>
                <a:ea typeface="Segoe UI" pitchFamily="34" charset="-122"/>
                <a:cs typeface="Segoe UI" pitchFamily="34" charset="-120"/>
              </a:rPr>
              <a:t>EMEA Region Pilot — December 2025 Sanctions Alerts</a:t>
            </a:r>
            <a:endParaRPr lang="en-US" sz="1300" dirty="0"/>
          </a:p>
        </p:txBody>
      </p:sp>
      <p:sp>
        <p:nvSpPr>
          <p:cNvPr id="5" name="Shape 3"/>
          <p:cNvSpPr/>
          <p:nvPr/>
        </p:nvSpPr>
        <p:spPr>
          <a:xfrm>
            <a:off x="320040" y="1298448"/>
            <a:ext cx="1920240" cy="1097280"/>
          </a:xfrm>
          <a:prstGeom prst="rect">
            <a:avLst/>
          </a:prstGeom>
          <a:solidFill>
            <a:srgbClr val="111827"/>
          </a:solidFill>
          <a:ln w="3810">
            <a:solidFill>
              <a:srgbClr val="FFFFFF">
                <a:alpha val="10000"/>
              </a:srgbClr>
            </a:solidFill>
            <a:prstDash val="solid"/>
          </a:ln>
        </p:spPr>
      </p:sp>
      <p:sp>
        <p:nvSpPr>
          <p:cNvPr id="6" name="Text 4"/>
          <p:cNvSpPr/>
          <p:nvPr/>
        </p:nvSpPr>
        <p:spPr>
          <a:xfrm>
            <a:off x="320040" y="1389888"/>
            <a:ext cx="1920240" cy="658368"/>
          </a:xfrm>
          <a:prstGeom prst="rect">
            <a:avLst/>
          </a:prstGeom>
          <a:noFill/>
          <a:ln/>
        </p:spPr>
        <p:txBody>
          <a:bodyPr wrap="square" lIns="0" tIns="0" rIns="0" bIns="0" rtlCol="0" anchor="b"/>
          <a:lstStyle/>
          <a:p>
            <a:pPr algn="ctr" indent="0" marL="0">
              <a:buNone/>
            </a:pPr>
            <a:r>
              <a:rPr lang="en-US" sz="3400" b="1" dirty="0">
                <a:solidFill>
                  <a:srgbClr val="D4A843"/>
                </a:solidFill>
                <a:latin typeface="Segoe UI" pitchFamily="34" charset="0"/>
                <a:ea typeface="Segoe UI" pitchFamily="34" charset="-122"/>
                <a:cs typeface="Segoe UI" pitchFamily="34" charset="-120"/>
              </a:rPr>
              <a:t>2,026</a:t>
            </a:r>
            <a:endParaRPr lang="en-US" sz="3400" dirty="0"/>
          </a:p>
        </p:txBody>
      </p:sp>
      <p:sp>
        <p:nvSpPr>
          <p:cNvPr id="7" name="Text 5"/>
          <p:cNvSpPr/>
          <p:nvPr/>
        </p:nvSpPr>
        <p:spPr>
          <a:xfrm>
            <a:off x="320040" y="2002536"/>
            <a:ext cx="1920240" cy="384048"/>
          </a:xfrm>
          <a:prstGeom prst="rect">
            <a:avLst/>
          </a:prstGeom>
          <a:noFill/>
          <a:ln/>
        </p:spPr>
        <p:txBody>
          <a:bodyPr wrap="square" lIns="0" tIns="0" rIns="0" bIns="0" rtlCol="0" anchor="ctr"/>
          <a:lstStyle/>
          <a:p>
            <a:pPr algn="ctr" indent="0" marL="0">
              <a:buNone/>
            </a:pPr>
            <a:r>
              <a:rPr lang="en-US" sz="900" spc="100" kern="0" dirty="0">
                <a:solidFill>
                  <a:srgbClr val="6B7B8D"/>
                </a:solidFill>
                <a:latin typeface="Segoe UI" pitchFamily="34" charset="0"/>
                <a:ea typeface="Segoe UI" pitchFamily="34" charset="-122"/>
                <a:cs typeface="Segoe UI" pitchFamily="34" charset="-120"/>
              </a:rPr>
              <a:t>HITS PROCESSED</a:t>
            </a:r>
            <a:endParaRPr lang="en-US" sz="900" dirty="0"/>
          </a:p>
        </p:txBody>
      </p:sp>
      <p:sp>
        <p:nvSpPr>
          <p:cNvPr id="8" name="Shape 6"/>
          <p:cNvSpPr/>
          <p:nvPr/>
        </p:nvSpPr>
        <p:spPr>
          <a:xfrm>
            <a:off x="2468880" y="1298448"/>
            <a:ext cx="1920240" cy="1097280"/>
          </a:xfrm>
          <a:prstGeom prst="rect">
            <a:avLst/>
          </a:prstGeom>
          <a:solidFill>
            <a:srgbClr val="111827"/>
          </a:solidFill>
          <a:ln w="3810">
            <a:solidFill>
              <a:srgbClr val="FFFFFF">
                <a:alpha val="10000"/>
              </a:srgbClr>
            </a:solidFill>
            <a:prstDash val="solid"/>
          </a:ln>
        </p:spPr>
      </p:sp>
      <p:sp>
        <p:nvSpPr>
          <p:cNvPr id="9" name="Text 7"/>
          <p:cNvSpPr/>
          <p:nvPr/>
        </p:nvSpPr>
        <p:spPr>
          <a:xfrm>
            <a:off x="2468880" y="1389888"/>
            <a:ext cx="1920240" cy="658368"/>
          </a:xfrm>
          <a:prstGeom prst="rect">
            <a:avLst/>
          </a:prstGeom>
          <a:noFill/>
          <a:ln/>
        </p:spPr>
        <p:txBody>
          <a:bodyPr wrap="square" lIns="0" tIns="0" rIns="0" bIns="0" rtlCol="0" anchor="b"/>
          <a:lstStyle/>
          <a:p>
            <a:pPr algn="ctr" indent="0" marL="0">
              <a:buNone/>
            </a:pPr>
            <a:r>
              <a:rPr lang="en-US" sz="3400" b="1" dirty="0">
                <a:solidFill>
                  <a:srgbClr val="D4A843"/>
                </a:solidFill>
                <a:latin typeface="Segoe UI" pitchFamily="34" charset="0"/>
                <a:ea typeface="Segoe UI" pitchFamily="34" charset="-122"/>
                <a:cs typeface="Segoe UI" pitchFamily="34" charset="-120"/>
              </a:rPr>
              <a:t>363</a:t>
            </a:r>
            <a:endParaRPr lang="en-US" sz="3400" dirty="0"/>
          </a:p>
        </p:txBody>
      </p:sp>
      <p:sp>
        <p:nvSpPr>
          <p:cNvPr id="10" name="Text 8"/>
          <p:cNvSpPr/>
          <p:nvPr/>
        </p:nvSpPr>
        <p:spPr>
          <a:xfrm>
            <a:off x="2468880" y="2002536"/>
            <a:ext cx="1920240" cy="384048"/>
          </a:xfrm>
          <a:prstGeom prst="rect">
            <a:avLst/>
          </a:prstGeom>
          <a:noFill/>
          <a:ln/>
        </p:spPr>
        <p:txBody>
          <a:bodyPr wrap="square" lIns="0" tIns="0" rIns="0" bIns="0" rtlCol="0" anchor="ctr"/>
          <a:lstStyle/>
          <a:p>
            <a:pPr algn="ctr" indent="0" marL="0">
              <a:buNone/>
            </a:pPr>
            <a:r>
              <a:rPr lang="en-US" sz="900" spc="100" kern="0" dirty="0">
                <a:solidFill>
                  <a:srgbClr val="6B7B8D"/>
                </a:solidFill>
                <a:latin typeface="Segoe UI" pitchFamily="34" charset="0"/>
                <a:ea typeface="Segoe UI" pitchFamily="34" charset="-122"/>
                <a:cs typeface="Segoe UI" pitchFamily="34" charset="-120"/>
              </a:rPr>
              <a:t>ALERTS ANALYZED</a:t>
            </a:r>
            <a:endParaRPr lang="en-US" sz="900" dirty="0"/>
          </a:p>
        </p:txBody>
      </p:sp>
      <p:sp>
        <p:nvSpPr>
          <p:cNvPr id="11" name="Shape 9"/>
          <p:cNvSpPr/>
          <p:nvPr/>
        </p:nvSpPr>
        <p:spPr>
          <a:xfrm>
            <a:off x="4617720" y="1298448"/>
            <a:ext cx="1920240" cy="1097280"/>
          </a:xfrm>
          <a:prstGeom prst="rect">
            <a:avLst/>
          </a:prstGeom>
          <a:solidFill>
            <a:srgbClr val="111827"/>
          </a:solidFill>
          <a:ln w="3810">
            <a:solidFill>
              <a:srgbClr val="FFFFFF">
                <a:alpha val="10000"/>
              </a:srgbClr>
            </a:solidFill>
            <a:prstDash val="solid"/>
          </a:ln>
        </p:spPr>
      </p:sp>
      <p:sp>
        <p:nvSpPr>
          <p:cNvPr id="12" name="Text 10"/>
          <p:cNvSpPr/>
          <p:nvPr/>
        </p:nvSpPr>
        <p:spPr>
          <a:xfrm>
            <a:off x="4617720" y="1389888"/>
            <a:ext cx="1920240" cy="658368"/>
          </a:xfrm>
          <a:prstGeom prst="rect">
            <a:avLst/>
          </a:prstGeom>
          <a:noFill/>
          <a:ln/>
        </p:spPr>
        <p:txBody>
          <a:bodyPr wrap="square" lIns="0" tIns="0" rIns="0" bIns="0" rtlCol="0" anchor="b"/>
          <a:lstStyle/>
          <a:p>
            <a:pPr algn="ctr" indent="0" marL="0">
              <a:buNone/>
            </a:pPr>
            <a:r>
              <a:rPr lang="en-US" sz="3400" b="1" dirty="0">
                <a:solidFill>
                  <a:srgbClr val="D4A843"/>
                </a:solidFill>
                <a:latin typeface="Segoe UI" pitchFamily="34" charset="0"/>
                <a:ea typeface="Segoe UI" pitchFamily="34" charset="-122"/>
                <a:cs typeface="Segoe UI" pitchFamily="34" charset="-120"/>
              </a:rPr>
              <a:t>99.7%</a:t>
            </a:r>
            <a:endParaRPr lang="en-US" sz="3400" dirty="0"/>
          </a:p>
        </p:txBody>
      </p:sp>
      <p:sp>
        <p:nvSpPr>
          <p:cNvPr id="13" name="Text 11"/>
          <p:cNvSpPr/>
          <p:nvPr/>
        </p:nvSpPr>
        <p:spPr>
          <a:xfrm>
            <a:off x="4617720" y="2002536"/>
            <a:ext cx="1920240" cy="384048"/>
          </a:xfrm>
          <a:prstGeom prst="rect">
            <a:avLst/>
          </a:prstGeom>
          <a:noFill/>
          <a:ln/>
        </p:spPr>
        <p:txBody>
          <a:bodyPr wrap="square" lIns="0" tIns="0" rIns="0" bIns="0" rtlCol="0" anchor="ctr"/>
          <a:lstStyle/>
          <a:p>
            <a:pPr algn="ctr" indent="0" marL="0">
              <a:buNone/>
            </a:pPr>
            <a:r>
              <a:rPr lang="en-US" sz="900" spc="100" kern="0" dirty="0">
                <a:solidFill>
                  <a:srgbClr val="6B7B8D"/>
                </a:solidFill>
                <a:latin typeface="Segoe UI" pitchFamily="34" charset="0"/>
                <a:ea typeface="Segoe UI" pitchFamily="34" charset="-122"/>
                <a:cs typeface="Segoe UI" pitchFamily="34" charset="-120"/>
              </a:rPr>
              <a:t>SUCCESS RATE</a:t>
            </a:r>
            <a:endParaRPr lang="en-US" sz="900" dirty="0"/>
          </a:p>
        </p:txBody>
      </p:sp>
      <p:sp>
        <p:nvSpPr>
          <p:cNvPr id="14" name="Shape 12"/>
          <p:cNvSpPr/>
          <p:nvPr/>
        </p:nvSpPr>
        <p:spPr>
          <a:xfrm>
            <a:off x="6766560" y="1298448"/>
            <a:ext cx="1920240" cy="1097280"/>
          </a:xfrm>
          <a:prstGeom prst="rect">
            <a:avLst/>
          </a:prstGeom>
          <a:solidFill>
            <a:srgbClr val="111827"/>
          </a:solidFill>
          <a:ln w="3810">
            <a:solidFill>
              <a:srgbClr val="FFFFFF">
                <a:alpha val="10000"/>
              </a:srgbClr>
            </a:solidFill>
            <a:prstDash val="solid"/>
          </a:ln>
        </p:spPr>
      </p:sp>
      <p:sp>
        <p:nvSpPr>
          <p:cNvPr id="15" name="Text 13"/>
          <p:cNvSpPr/>
          <p:nvPr/>
        </p:nvSpPr>
        <p:spPr>
          <a:xfrm>
            <a:off x="6766560" y="1389888"/>
            <a:ext cx="1920240" cy="658368"/>
          </a:xfrm>
          <a:prstGeom prst="rect">
            <a:avLst/>
          </a:prstGeom>
          <a:noFill/>
          <a:ln/>
        </p:spPr>
        <p:txBody>
          <a:bodyPr wrap="square" lIns="0" tIns="0" rIns="0" bIns="0" rtlCol="0" anchor="b"/>
          <a:lstStyle/>
          <a:p>
            <a:pPr algn="ctr" indent="0" marL="0">
              <a:buNone/>
            </a:pPr>
            <a:r>
              <a:rPr lang="en-US" sz="3400" b="1" dirty="0">
                <a:solidFill>
                  <a:srgbClr val="D4A843"/>
                </a:solidFill>
                <a:latin typeface="Segoe UI" pitchFamily="34" charset="0"/>
                <a:ea typeface="Segoe UI" pitchFamily="34" charset="-122"/>
                <a:cs typeface="Segoe UI" pitchFamily="34" charset="-120"/>
              </a:rPr>
              <a:t>5</a:t>
            </a:r>
            <a:endParaRPr lang="en-US" sz="3400" dirty="0"/>
          </a:p>
        </p:txBody>
      </p:sp>
      <p:sp>
        <p:nvSpPr>
          <p:cNvPr id="16" name="Text 14"/>
          <p:cNvSpPr/>
          <p:nvPr/>
        </p:nvSpPr>
        <p:spPr>
          <a:xfrm>
            <a:off x="6766560" y="2002536"/>
            <a:ext cx="1920240" cy="384048"/>
          </a:xfrm>
          <a:prstGeom prst="rect">
            <a:avLst/>
          </a:prstGeom>
          <a:noFill/>
          <a:ln/>
        </p:spPr>
        <p:txBody>
          <a:bodyPr wrap="square" lIns="0" tIns="0" rIns="0" bIns="0" rtlCol="0" anchor="ctr"/>
          <a:lstStyle/>
          <a:p>
            <a:pPr algn="ctr" indent="0" marL="0">
              <a:buNone/>
            </a:pPr>
            <a:r>
              <a:rPr lang="en-US" sz="900" spc="100" kern="0" dirty="0">
                <a:solidFill>
                  <a:srgbClr val="6B7B8D"/>
                </a:solidFill>
                <a:latin typeface="Segoe UI" pitchFamily="34" charset="0"/>
                <a:ea typeface="Segoe UI" pitchFamily="34" charset="-122"/>
                <a:cs typeface="Segoe UI" pitchFamily="34" charset="-120"/>
              </a:rPr>
              <a:t>AI AGENTS</a:t>
            </a:r>
            <a:endParaRPr lang="en-US" sz="900" dirty="0"/>
          </a:p>
        </p:txBody>
      </p:sp>
      <p:sp>
        <p:nvSpPr>
          <p:cNvPr id="17" name="Shape 15"/>
          <p:cNvSpPr/>
          <p:nvPr/>
        </p:nvSpPr>
        <p:spPr>
          <a:xfrm>
            <a:off x="320040" y="2560320"/>
            <a:ext cx="4160520" cy="224028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18" name="Shape 16"/>
          <p:cNvSpPr/>
          <p:nvPr/>
        </p:nvSpPr>
        <p:spPr>
          <a:xfrm>
            <a:off x="320040" y="2560320"/>
            <a:ext cx="50292" cy="2240280"/>
          </a:xfrm>
          <a:prstGeom prst="rect">
            <a:avLst/>
          </a:prstGeom>
          <a:solidFill>
            <a:srgbClr val="D4A843"/>
          </a:solidFill>
          <a:ln w="12700">
            <a:solidFill>
              <a:srgbClr val="D4A843"/>
            </a:solidFill>
            <a:prstDash val="solid"/>
          </a:ln>
        </p:spPr>
      </p:sp>
      <p:sp>
        <p:nvSpPr>
          <p:cNvPr id="19" name="Text 17"/>
          <p:cNvSpPr/>
          <p:nvPr/>
        </p:nvSpPr>
        <p:spPr>
          <a:xfrm>
            <a:off x="475488" y="2624328"/>
            <a:ext cx="3840480" cy="274320"/>
          </a:xfrm>
          <a:prstGeom prst="rect">
            <a:avLst/>
          </a:prstGeom>
          <a:noFill/>
          <a:ln/>
        </p:spPr>
        <p:txBody>
          <a:bodyPr wrap="square" lIns="0" tIns="0" rIns="0" bIns="0" rtlCol="0" anchor="ctr"/>
          <a:lstStyle/>
          <a:p>
            <a:pPr indent="0" marL="0">
              <a:buNone/>
            </a:pPr>
            <a:r>
              <a:rPr lang="en-US" sz="1400" b="1" dirty="0">
                <a:solidFill>
                  <a:srgbClr val="D4A843"/>
                </a:solidFill>
                <a:latin typeface="Segoe UI" pitchFamily="34" charset="0"/>
                <a:ea typeface="Segoe UI" pitchFamily="34" charset="-122"/>
                <a:cs typeface="Segoe UI" pitchFamily="34" charset="-120"/>
              </a:rPr>
              <a:t>Performance Highlights</a:t>
            </a:r>
            <a:endParaRPr lang="en-US" sz="1400" dirty="0"/>
          </a:p>
        </p:txBody>
      </p:sp>
      <p:sp>
        <p:nvSpPr>
          <p:cNvPr id="20" name="Text 18"/>
          <p:cNvSpPr/>
          <p:nvPr/>
        </p:nvSpPr>
        <p:spPr>
          <a:xfrm>
            <a:off x="475488" y="2944368"/>
            <a:ext cx="3840480" cy="1645920"/>
          </a:xfrm>
          <a:prstGeom prst="rect">
            <a:avLst/>
          </a:prstGeom>
          <a:noFill/>
          <a:ln/>
        </p:spPr>
        <p:txBody>
          <a:bodyPr wrap="square" lIns="0" tIns="0" rIns="0" bIns="0" rtlCol="0" anchor="ctr"/>
          <a:lstStyle/>
          <a:p>
            <a:pPr marL="342900" indent="-342900">
              <a:spcAft>
                <a:spcPts val="300"/>
              </a:spcAft>
              <a:buSzPct val="100000"/>
              <a:buChar char="•"/>
            </a:pPr>
            <a:r>
              <a:rPr lang="en-US" sz="1300" dirty="0">
                <a:solidFill>
                  <a:srgbClr val="B8C5D3"/>
                </a:solidFill>
                <a:latin typeface="Segoe UI" pitchFamily="34" charset="0"/>
                <a:ea typeface="Segoe UI" pitchFamily="34" charset="-122"/>
                <a:cs typeface="Segoe UI" pitchFamily="34" charset="-120"/>
              </a:rPr>
              <a:t>363 EMEA alerts processed end-to-end</a:t>
            </a:r>
            <a:endParaRPr lang="en-US" sz="1300" dirty="0"/>
          </a:p>
          <a:p>
            <a:pPr marL="342900" indent="-342900">
              <a:spcAft>
                <a:spcPts val="300"/>
              </a:spcAft>
              <a:buSzPct val="100000"/>
              <a:buChar char="•"/>
            </a:pPr>
            <a:r>
              <a:rPr lang="en-US" sz="1300" dirty="0">
                <a:solidFill>
                  <a:srgbClr val="B8C5D3"/>
                </a:solidFill>
                <a:latin typeface="Segoe UI" pitchFamily="34" charset="0"/>
                <a:ea typeface="Segoe UI" pitchFamily="34" charset="-122"/>
                <a:cs typeface="Segoe UI" pitchFamily="34" charset="-120"/>
              </a:rPr>
              <a:t>High Maker-Checker agreement rate</a:t>
            </a:r>
            <a:endParaRPr lang="en-US" sz="1300" dirty="0"/>
          </a:p>
          <a:p>
            <a:pPr marL="342900" indent="-342900">
              <a:spcAft>
                <a:spcPts val="300"/>
              </a:spcAft>
              <a:buSzPct val="100000"/>
              <a:buChar char="•"/>
            </a:pPr>
            <a:r>
              <a:rPr lang="en-US" sz="1300" dirty="0">
                <a:solidFill>
                  <a:srgbClr val="B8C5D3"/>
                </a:solidFill>
                <a:latin typeface="Segoe UI" pitchFamily="34" charset="0"/>
                <a:ea typeface="Segoe UI" pitchFamily="34" charset="-122"/>
                <a:cs typeface="Segoe UI" pitchFamily="34" charset="-120"/>
              </a:rPr>
              <a:t>Structured JSON output with rationale</a:t>
            </a:r>
            <a:endParaRPr lang="en-US" sz="1300" dirty="0"/>
          </a:p>
          <a:p>
            <a:pPr marL="342900" indent="-342900">
              <a:spcAft>
                <a:spcPts val="300"/>
              </a:spcAft>
              <a:buSzPct val="100000"/>
              <a:buChar char="•"/>
            </a:pPr>
            <a:r>
              <a:rPr lang="en-US" sz="1300" dirty="0">
                <a:solidFill>
                  <a:srgbClr val="B8C5D3"/>
                </a:solidFill>
                <a:latin typeface="Segoe UI" pitchFamily="34" charset="0"/>
                <a:ea typeface="Segoe UI" pitchFamily="34" charset="-122"/>
                <a:cs typeface="Segoe UI" pitchFamily="34" charset="-120"/>
              </a:rPr>
              <a:t>Full Oracle persistence (hit + alert level)</a:t>
            </a:r>
            <a:endParaRPr lang="en-US" sz="1300" dirty="0"/>
          </a:p>
          <a:p>
            <a:pPr marL="342900" indent="-342900">
              <a:spcAft>
                <a:spcPts val="300"/>
              </a:spcAft>
              <a:buSzPct val="100000"/>
              <a:buChar char="•"/>
            </a:pPr>
            <a:r>
              <a:rPr lang="en-US" sz="1300" dirty="0">
                <a:solidFill>
                  <a:srgbClr val="B8C5D3"/>
                </a:solidFill>
                <a:latin typeface="Segoe UI" pitchFamily="34" charset="0"/>
                <a:ea typeface="Segoe UI" pitchFamily="34" charset="-122"/>
                <a:cs typeface="Segoe UI" pitchFamily="34" charset="-120"/>
              </a:rPr>
              <a:t>Configurable concurrent processing</a:t>
            </a:r>
            <a:endParaRPr lang="en-US" sz="1300" dirty="0"/>
          </a:p>
        </p:txBody>
      </p:sp>
      <p:sp>
        <p:nvSpPr>
          <p:cNvPr id="21" name="Shape 19"/>
          <p:cNvSpPr/>
          <p:nvPr/>
        </p:nvSpPr>
        <p:spPr>
          <a:xfrm>
            <a:off x="4663440" y="2560320"/>
            <a:ext cx="4160520" cy="224028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22" name="Shape 20"/>
          <p:cNvSpPr/>
          <p:nvPr/>
        </p:nvSpPr>
        <p:spPr>
          <a:xfrm>
            <a:off x="4663440" y="2560320"/>
            <a:ext cx="50292" cy="2240280"/>
          </a:xfrm>
          <a:prstGeom prst="rect">
            <a:avLst/>
          </a:prstGeom>
          <a:solidFill>
            <a:srgbClr val="3B82F6"/>
          </a:solidFill>
          <a:ln w="12700">
            <a:solidFill>
              <a:srgbClr val="3B82F6"/>
            </a:solidFill>
            <a:prstDash val="solid"/>
          </a:ln>
        </p:spPr>
      </p:sp>
      <p:sp>
        <p:nvSpPr>
          <p:cNvPr id="23" name="Text 21"/>
          <p:cNvSpPr/>
          <p:nvPr/>
        </p:nvSpPr>
        <p:spPr>
          <a:xfrm>
            <a:off x="4818888" y="2624328"/>
            <a:ext cx="3840480" cy="274320"/>
          </a:xfrm>
          <a:prstGeom prst="rect">
            <a:avLst/>
          </a:prstGeom>
          <a:noFill/>
          <a:ln/>
        </p:spPr>
        <p:txBody>
          <a:bodyPr wrap="square" lIns="0" tIns="0" rIns="0" bIns="0" rtlCol="0" anchor="ctr"/>
          <a:lstStyle/>
          <a:p>
            <a:pPr indent="0" marL="0">
              <a:buNone/>
            </a:pPr>
            <a:r>
              <a:rPr lang="en-US" sz="1400" b="1" dirty="0">
                <a:solidFill>
                  <a:srgbClr val="60A5FA"/>
                </a:solidFill>
                <a:latin typeface="Segoe UI" pitchFamily="34" charset="0"/>
                <a:ea typeface="Segoe UI" pitchFamily="34" charset="-122"/>
                <a:cs typeface="Segoe UI" pitchFamily="34" charset="-120"/>
              </a:rPr>
              <a:t>Technical Validation</a:t>
            </a:r>
            <a:endParaRPr lang="en-US" sz="1400" dirty="0"/>
          </a:p>
        </p:txBody>
      </p:sp>
      <p:sp>
        <p:nvSpPr>
          <p:cNvPr id="24" name="Text 22"/>
          <p:cNvSpPr/>
          <p:nvPr/>
        </p:nvSpPr>
        <p:spPr>
          <a:xfrm>
            <a:off x="4818888" y="2944368"/>
            <a:ext cx="3840480" cy="1645920"/>
          </a:xfrm>
          <a:prstGeom prst="rect">
            <a:avLst/>
          </a:prstGeom>
          <a:noFill/>
          <a:ln/>
        </p:spPr>
        <p:txBody>
          <a:bodyPr wrap="square" lIns="0" tIns="0" rIns="0" bIns="0" rtlCol="0" anchor="ctr"/>
          <a:lstStyle/>
          <a:p>
            <a:pPr marL="342900" indent="-342900">
              <a:spcAft>
                <a:spcPts val="300"/>
              </a:spcAft>
              <a:buSzPct val="100000"/>
              <a:buChar char="•"/>
            </a:pPr>
            <a:r>
              <a:rPr lang="en-US" sz="1300" dirty="0">
                <a:solidFill>
                  <a:srgbClr val="B8C5D3"/>
                </a:solidFill>
                <a:latin typeface="Segoe UI" pitchFamily="34" charset="0"/>
                <a:ea typeface="Segoe UI" pitchFamily="34" charset="-122"/>
                <a:cs typeface="Segoe UI" pitchFamily="34" charset="-120"/>
              </a:rPr>
              <a:t>Circuit breakers, rate limiting, exponential backoff</a:t>
            </a:r>
            <a:endParaRPr lang="en-US" sz="1300" dirty="0"/>
          </a:p>
          <a:p>
            <a:pPr marL="342900" indent="-342900">
              <a:spcAft>
                <a:spcPts val="300"/>
              </a:spcAft>
              <a:buSzPct val="100000"/>
              <a:buChar char="•"/>
            </a:pPr>
            <a:r>
              <a:rPr lang="en-US" sz="1300" dirty="0">
                <a:solidFill>
                  <a:srgbClr val="B8C5D3"/>
                </a:solidFill>
                <a:latin typeface="Segoe UI" pitchFamily="34" charset="0"/>
                <a:ea typeface="Segoe UI" pitchFamily="34" charset="-122"/>
                <a:cs typeface="Segoe UI" pitchFamily="34" charset="-120"/>
              </a:rPr>
              <a:t>Multi-model: GPT-4, Gemini Flash, LLaMA</a:t>
            </a:r>
            <a:endParaRPr lang="en-US" sz="1300" dirty="0"/>
          </a:p>
          <a:p>
            <a:pPr marL="342900" indent="-342900">
              <a:spcAft>
                <a:spcPts val="300"/>
              </a:spcAft>
              <a:buSzPct val="100000"/>
              <a:buChar char="•"/>
            </a:pPr>
            <a:r>
              <a:rPr lang="en-US" sz="1300" dirty="0">
                <a:solidFill>
                  <a:srgbClr val="B8C5D3"/>
                </a:solidFill>
                <a:latin typeface="Segoe UI" pitchFamily="34" charset="0"/>
                <a:ea typeface="Segoe UI" pitchFamily="34" charset="-122"/>
                <a:cs typeface="Segoe UI" pitchFamily="34" charset="-120"/>
              </a:rPr>
              <a:t>Batched LLM calls for cost efficiency</a:t>
            </a:r>
            <a:endParaRPr lang="en-US" sz="1300" dirty="0"/>
          </a:p>
          <a:p>
            <a:pPr marL="342900" indent="-342900">
              <a:spcAft>
                <a:spcPts val="300"/>
              </a:spcAft>
              <a:buSzPct val="100000"/>
              <a:buChar char="•"/>
            </a:pPr>
            <a:r>
              <a:rPr lang="en-US" sz="1300" dirty="0">
                <a:solidFill>
                  <a:srgbClr val="B8C5D3"/>
                </a:solidFill>
                <a:latin typeface="Segoe UI" pitchFamily="34" charset="0"/>
                <a:ea typeface="Segoe UI" pitchFamily="34" charset="-122"/>
                <a:cs typeface="Segoe UI" pitchFamily="34" charset="-120"/>
              </a:rPr>
              <a:t>Zero data leakage via internal Eliza</a:t>
            </a:r>
            <a:endParaRPr lang="en-US" sz="1300" dirty="0"/>
          </a:p>
          <a:p>
            <a:pPr marL="342900" indent="-342900">
              <a:spcAft>
                <a:spcPts val="300"/>
              </a:spcAft>
              <a:buSzPct val="100000"/>
              <a:buChar char="•"/>
            </a:pPr>
            <a:r>
              <a:rPr lang="en-US" sz="1300" dirty="0">
                <a:solidFill>
                  <a:srgbClr val="B8C5D3"/>
                </a:solidFill>
                <a:latin typeface="Segoe UI" pitchFamily="34" charset="0"/>
                <a:ea typeface="Segoe UI" pitchFamily="34" charset="-122"/>
                <a:cs typeface="Segoe UI" pitchFamily="34" charset="-120"/>
              </a:rPr>
              <a:t>Every token &amp; cost tracked per agent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A"/>
        </a:solidFill>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lIns="0" tIns="0" rIns="0" bIns="0" rtlCol="0" anchor="ctr"/>
          <a:lstStyle/>
          <a:p>
            <a:pPr algn="ctr" indent="0" marL="0">
              <a:buNone/>
            </a:pPr>
            <a:r>
              <a:rPr lang="en-US" sz="3600" b="1" dirty="0">
                <a:solidFill>
                  <a:srgbClr val="F4F6F8"/>
                </a:solidFill>
                <a:latin typeface="Segoe UI" pitchFamily="34" charset="0"/>
                <a:ea typeface="Segoe UI" pitchFamily="34" charset="-122"/>
                <a:cs typeface="Segoe UI" pitchFamily="34" charset="-120"/>
              </a:rPr>
              <a:t>Roadmap &amp; </a:t>
            </a:r>
            <a:pPr algn="ctr" indent="0" marL="0">
              <a:buNone/>
            </a:pPr>
            <a:r>
              <a:rPr lang="en-US" sz="3600" b="1" dirty="0">
                <a:solidFill>
                  <a:srgbClr val="D4A843"/>
                </a:solidFill>
                <a:latin typeface="Segoe UI" pitchFamily="34" charset="0"/>
                <a:ea typeface="Segoe UI" pitchFamily="34" charset="-122"/>
                <a:cs typeface="Segoe UI" pitchFamily="34" charset="-120"/>
              </a:rPr>
              <a:t>Next Steps</a:t>
            </a:r>
            <a:endParaRPr lang="en-US" sz="3600" dirty="0"/>
          </a:p>
        </p:txBody>
      </p:sp>
      <p:sp>
        <p:nvSpPr>
          <p:cNvPr id="3" name="Shape 1"/>
          <p:cNvSpPr/>
          <p:nvPr/>
        </p:nvSpPr>
        <p:spPr>
          <a:xfrm>
            <a:off x="4238244" y="795528"/>
            <a:ext cx="667512" cy="32004"/>
          </a:xfrm>
          <a:prstGeom prst="rect">
            <a:avLst/>
          </a:prstGeom>
          <a:solidFill>
            <a:srgbClr val="D4A843"/>
          </a:solidFill>
          <a:ln w="12700">
            <a:solidFill>
              <a:srgbClr val="D4A843"/>
            </a:solidFill>
            <a:prstDash val="solid"/>
          </a:ln>
        </p:spPr>
      </p:sp>
      <p:sp>
        <p:nvSpPr>
          <p:cNvPr id="4" name="Shape 2"/>
          <p:cNvSpPr/>
          <p:nvPr/>
        </p:nvSpPr>
        <p:spPr>
          <a:xfrm>
            <a:off x="914400" y="1188720"/>
            <a:ext cx="7315200" cy="0"/>
          </a:xfrm>
          <a:prstGeom prst="line">
            <a:avLst/>
          </a:prstGeom>
          <a:noFill/>
          <a:ln w="25400">
            <a:solidFill>
              <a:srgbClr val="FFFFFF">
                <a:alpha val="8000"/>
              </a:srgbClr>
            </a:solidFill>
            <a:prstDash val="solid"/>
          </a:ln>
        </p:spPr>
      </p:sp>
      <p:sp>
        <p:nvSpPr>
          <p:cNvPr id="5" name="Shape 3"/>
          <p:cNvSpPr/>
          <p:nvPr/>
        </p:nvSpPr>
        <p:spPr>
          <a:xfrm>
            <a:off x="914400" y="1188720"/>
            <a:ext cx="1828800" cy="0"/>
          </a:xfrm>
          <a:prstGeom prst="line">
            <a:avLst/>
          </a:prstGeom>
          <a:noFill/>
          <a:ln w="25400">
            <a:solidFill>
              <a:srgbClr val="D4A843"/>
            </a:solidFill>
            <a:prstDash val="solid"/>
          </a:ln>
        </p:spPr>
      </p:sp>
      <p:sp>
        <p:nvSpPr>
          <p:cNvPr id="6" name="Shape 4"/>
          <p:cNvSpPr/>
          <p:nvPr/>
        </p:nvSpPr>
        <p:spPr>
          <a:xfrm>
            <a:off x="2651760" y="1097280"/>
            <a:ext cx="182880" cy="182880"/>
          </a:xfrm>
          <a:prstGeom prst="ellipse">
            <a:avLst/>
          </a:prstGeom>
          <a:solidFill>
            <a:srgbClr val="D4A843"/>
          </a:solidFill>
          <a:ln w="12700">
            <a:solidFill>
              <a:srgbClr val="D4A843"/>
            </a:solidFill>
            <a:prstDash val="solid"/>
          </a:ln>
        </p:spPr>
      </p:sp>
      <p:sp>
        <p:nvSpPr>
          <p:cNvPr id="7" name="Text 5"/>
          <p:cNvSpPr/>
          <p:nvPr/>
        </p:nvSpPr>
        <p:spPr>
          <a:xfrm>
            <a:off x="1920240" y="1353312"/>
            <a:ext cx="1645920" cy="228600"/>
          </a:xfrm>
          <a:prstGeom prst="rect">
            <a:avLst/>
          </a:prstGeom>
          <a:noFill/>
          <a:ln/>
        </p:spPr>
        <p:txBody>
          <a:bodyPr wrap="square" lIns="0" tIns="0" rIns="0" bIns="0" rtlCol="0" anchor="ctr"/>
          <a:lstStyle/>
          <a:p>
            <a:pPr algn="ctr" indent="0" marL="0">
              <a:buNone/>
            </a:pPr>
            <a:r>
              <a:rPr lang="en-US" sz="1200" b="1" dirty="0">
                <a:solidFill>
                  <a:srgbClr val="D4A843"/>
                </a:solidFill>
                <a:latin typeface="Segoe UI" pitchFamily="34" charset="0"/>
                <a:ea typeface="Segoe UI" pitchFamily="34" charset="-122"/>
                <a:cs typeface="Segoe UI" pitchFamily="34" charset="-120"/>
              </a:rPr>
              <a:t>Q1 2026</a:t>
            </a:r>
            <a:endParaRPr lang="en-US" sz="1200" dirty="0"/>
          </a:p>
        </p:txBody>
      </p:sp>
      <p:sp>
        <p:nvSpPr>
          <p:cNvPr id="8" name="Text 6"/>
          <p:cNvSpPr/>
          <p:nvPr/>
        </p:nvSpPr>
        <p:spPr>
          <a:xfrm>
            <a:off x="1920240" y="1609344"/>
            <a:ext cx="1645920" cy="201168"/>
          </a:xfrm>
          <a:prstGeom prst="rect">
            <a:avLst/>
          </a:prstGeom>
          <a:noFill/>
          <a:ln/>
        </p:spPr>
        <p:txBody>
          <a:bodyPr wrap="square" lIns="0" tIns="0" rIns="0" bIns="0" rtlCol="0" anchor="ctr"/>
          <a:lstStyle/>
          <a:p>
            <a:pPr algn="ctr" indent="0" marL="0">
              <a:buNone/>
            </a:pPr>
            <a:r>
              <a:rPr lang="en-US" sz="1000" dirty="0">
                <a:solidFill>
                  <a:srgbClr val="F0D080"/>
                </a:solidFill>
                <a:latin typeface="Segoe UI" pitchFamily="34" charset="0"/>
                <a:ea typeface="Segoe UI" pitchFamily="34" charset="-122"/>
                <a:cs typeface="Segoe UI" pitchFamily="34" charset="-120"/>
              </a:rPr>
              <a:t>● Current</a:t>
            </a:r>
            <a:endParaRPr lang="en-US" sz="1000" dirty="0"/>
          </a:p>
        </p:txBody>
      </p:sp>
      <p:sp>
        <p:nvSpPr>
          <p:cNvPr id="9" name="Shape 7"/>
          <p:cNvSpPr/>
          <p:nvPr/>
        </p:nvSpPr>
        <p:spPr>
          <a:xfrm>
            <a:off x="5166360" y="1097280"/>
            <a:ext cx="182880" cy="182880"/>
          </a:xfrm>
          <a:prstGeom prst="ellipse">
            <a:avLst/>
          </a:prstGeom>
          <a:solidFill>
            <a:srgbClr val="333F50"/>
          </a:solidFill>
          <a:ln w="12700">
            <a:solidFill>
              <a:srgbClr val="555F70"/>
            </a:solidFill>
            <a:prstDash val="solid"/>
          </a:ln>
        </p:spPr>
      </p:sp>
      <p:sp>
        <p:nvSpPr>
          <p:cNvPr id="10" name="Text 8"/>
          <p:cNvSpPr/>
          <p:nvPr/>
        </p:nvSpPr>
        <p:spPr>
          <a:xfrm>
            <a:off x="4434840" y="1353312"/>
            <a:ext cx="1645920" cy="228600"/>
          </a:xfrm>
          <a:prstGeom prst="rect">
            <a:avLst/>
          </a:prstGeom>
          <a:noFill/>
          <a:ln/>
        </p:spPr>
        <p:txBody>
          <a:bodyPr wrap="square" lIns="0" tIns="0" rIns="0" bIns="0" rtlCol="0" anchor="ctr"/>
          <a:lstStyle/>
          <a:p>
            <a:pPr algn="ctr" indent="0" marL="0">
              <a:buNone/>
            </a:pPr>
            <a:r>
              <a:rPr lang="en-US" sz="1200" b="1" dirty="0">
                <a:solidFill>
                  <a:srgbClr val="8899AA"/>
                </a:solidFill>
                <a:latin typeface="Segoe UI" pitchFamily="34" charset="0"/>
                <a:ea typeface="Segoe UI" pitchFamily="34" charset="-122"/>
                <a:cs typeface="Segoe UI" pitchFamily="34" charset="-120"/>
              </a:rPr>
              <a:t>Q2–Q3 2026</a:t>
            </a:r>
            <a:endParaRPr lang="en-US" sz="1200" dirty="0"/>
          </a:p>
        </p:txBody>
      </p:sp>
      <p:sp>
        <p:nvSpPr>
          <p:cNvPr id="11" name="Text 9"/>
          <p:cNvSpPr/>
          <p:nvPr/>
        </p:nvSpPr>
        <p:spPr>
          <a:xfrm>
            <a:off x="4434840" y="1609344"/>
            <a:ext cx="1645920" cy="201168"/>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Scale</a:t>
            </a:r>
            <a:endParaRPr lang="en-US" sz="1000" dirty="0"/>
          </a:p>
        </p:txBody>
      </p:sp>
      <p:sp>
        <p:nvSpPr>
          <p:cNvPr id="12" name="Shape 10"/>
          <p:cNvSpPr/>
          <p:nvPr/>
        </p:nvSpPr>
        <p:spPr>
          <a:xfrm>
            <a:off x="7680960" y="1097280"/>
            <a:ext cx="182880" cy="182880"/>
          </a:xfrm>
          <a:prstGeom prst="ellipse">
            <a:avLst/>
          </a:prstGeom>
          <a:solidFill>
            <a:srgbClr val="333F50"/>
          </a:solidFill>
          <a:ln w="12700">
            <a:solidFill>
              <a:srgbClr val="555F70"/>
            </a:solidFill>
            <a:prstDash val="solid"/>
          </a:ln>
        </p:spPr>
      </p:sp>
      <p:sp>
        <p:nvSpPr>
          <p:cNvPr id="13" name="Text 11"/>
          <p:cNvSpPr/>
          <p:nvPr/>
        </p:nvSpPr>
        <p:spPr>
          <a:xfrm>
            <a:off x="6949440" y="1353312"/>
            <a:ext cx="1645920" cy="228600"/>
          </a:xfrm>
          <a:prstGeom prst="rect">
            <a:avLst/>
          </a:prstGeom>
          <a:noFill/>
          <a:ln/>
        </p:spPr>
        <p:txBody>
          <a:bodyPr wrap="square" lIns="0" tIns="0" rIns="0" bIns="0" rtlCol="0" anchor="ctr"/>
          <a:lstStyle/>
          <a:p>
            <a:pPr algn="ctr" indent="0" marL="0">
              <a:buNone/>
            </a:pPr>
            <a:r>
              <a:rPr lang="en-US" sz="1200" b="1" dirty="0">
                <a:solidFill>
                  <a:srgbClr val="8899AA"/>
                </a:solidFill>
                <a:latin typeface="Segoe UI" pitchFamily="34" charset="0"/>
                <a:ea typeface="Segoe UI" pitchFamily="34" charset="-122"/>
                <a:cs typeface="Segoe UI" pitchFamily="34" charset="-120"/>
              </a:rPr>
              <a:t>Q4 2026+</a:t>
            </a:r>
            <a:endParaRPr lang="en-US" sz="1200" dirty="0"/>
          </a:p>
        </p:txBody>
      </p:sp>
      <p:sp>
        <p:nvSpPr>
          <p:cNvPr id="14" name="Text 12"/>
          <p:cNvSpPr/>
          <p:nvPr/>
        </p:nvSpPr>
        <p:spPr>
          <a:xfrm>
            <a:off x="6949440" y="1609344"/>
            <a:ext cx="1645920" cy="201168"/>
          </a:xfrm>
          <a:prstGeom prst="rect">
            <a:avLst/>
          </a:prstGeom>
          <a:noFill/>
          <a:ln/>
        </p:spPr>
        <p:txBody>
          <a:bodyPr wrap="square" lIns="0" tIns="0" rIns="0" bIns="0" rtlCol="0" anchor="ctr"/>
          <a:lstStyle/>
          <a:p>
            <a:pPr algn="ctr" indent="0" marL="0">
              <a:buNone/>
            </a:pPr>
            <a:r>
              <a:rPr lang="en-US" sz="1000" dirty="0">
                <a:solidFill>
                  <a:srgbClr val="8899AA"/>
                </a:solidFill>
                <a:latin typeface="Segoe UI" pitchFamily="34" charset="0"/>
                <a:ea typeface="Segoe UI" pitchFamily="34" charset="-122"/>
                <a:cs typeface="Segoe UI" pitchFamily="34" charset="-120"/>
              </a:rPr>
              <a:t>Optimise</a:t>
            </a:r>
            <a:endParaRPr lang="en-US" sz="1000" dirty="0"/>
          </a:p>
        </p:txBody>
      </p:sp>
      <p:sp>
        <p:nvSpPr>
          <p:cNvPr id="15" name="Shape 13"/>
          <p:cNvSpPr/>
          <p:nvPr/>
        </p:nvSpPr>
        <p:spPr>
          <a:xfrm>
            <a:off x="320040" y="2011680"/>
            <a:ext cx="2743200" cy="269748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16" name="Shape 14"/>
          <p:cNvSpPr/>
          <p:nvPr/>
        </p:nvSpPr>
        <p:spPr>
          <a:xfrm>
            <a:off x="320040" y="2011680"/>
            <a:ext cx="50292" cy="2697480"/>
          </a:xfrm>
          <a:prstGeom prst="rect">
            <a:avLst/>
          </a:prstGeom>
          <a:solidFill>
            <a:srgbClr val="D4A843"/>
          </a:solidFill>
          <a:ln w="12700">
            <a:solidFill>
              <a:srgbClr val="D4A843"/>
            </a:solidFill>
            <a:prstDash val="solid"/>
          </a:ln>
        </p:spPr>
      </p:sp>
      <p:sp>
        <p:nvSpPr>
          <p:cNvPr id="17" name="Text 15"/>
          <p:cNvSpPr/>
          <p:nvPr/>
        </p:nvSpPr>
        <p:spPr>
          <a:xfrm>
            <a:off x="457200" y="2075688"/>
            <a:ext cx="2468880" cy="274320"/>
          </a:xfrm>
          <a:prstGeom prst="rect">
            <a:avLst/>
          </a:prstGeom>
          <a:noFill/>
          <a:ln/>
        </p:spPr>
        <p:txBody>
          <a:bodyPr wrap="square" lIns="0" tIns="0" rIns="0" bIns="0" rtlCol="0" anchor="ctr"/>
          <a:lstStyle/>
          <a:p>
            <a:pPr indent="0" marL="0">
              <a:buNone/>
            </a:pPr>
            <a:r>
              <a:rPr lang="en-US" sz="1300" b="1" dirty="0">
                <a:solidFill>
                  <a:srgbClr val="D4A843"/>
                </a:solidFill>
                <a:latin typeface="Segoe UI" pitchFamily="34" charset="0"/>
                <a:ea typeface="Segoe UI" pitchFamily="34" charset="-122"/>
                <a:cs typeface="Segoe UI" pitchFamily="34" charset="-120"/>
              </a:rPr>
              <a:t>● Current / Q1 2026</a:t>
            </a:r>
            <a:endParaRPr lang="en-US" sz="1300" dirty="0"/>
          </a:p>
        </p:txBody>
      </p:sp>
      <p:sp>
        <p:nvSpPr>
          <p:cNvPr id="18" name="Text 16"/>
          <p:cNvSpPr/>
          <p:nvPr/>
        </p:nvSpPr>
        <p:spPr>
          <a:xfrm>
            <a:off x="484632" y="2395728"/>
            <a:ext cx="2468880" cy="2194560"/>
          </a:xfrm>
          <a:prstGeom prst="rect">
            <a:avLst/>
          </a:prstGeom>
          <a:noFill/>
          <a:ln/>
        </p:spPr>
        <p:txBody>
          <a:bodyPr wrap="square" lIns="0" tIns="63500" rIns="0" bIns="0" rtlCol="0" anchor="ctr"/>
          <a:lstStyle/>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EMEA batch processing ✓</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5-agent Maker-Checker pipeline</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Oracle persistence &amp; review API</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FastAPI + scheduled polling</a:t>
            </a:r>
            <a:endParaRPr lang="en-US" sz="1200" dirty="0"/>
          </a:p>
        </p:txBody>
      </p:sp>
      <p:sp>
        <p:nvSpPr>
          <p:cNvPr id="19" name="Shape 17"/>
          <p:cNvSpPr/>
          <p:nvPr/>
        </p:nvSpPr>
        <p:spPr>
          <a:xfrm>
            <a:off x="3246120" y="2011680"/>
            <a:ext cx="2743200" cy="269748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20" name="Shape 18"/>
          <p:cNvSpPr/>
          <p:nvPr/>
        </p:nvSpPr>
        <p:spPr>
          <a:xfrm>
            <a:off x="3246120" y="2011680"/>
            <a:ext cx="50292" cy="2697480"/>
          </a:xfrm>
          <a:prstGeom prst="rect">
            <a:avLst/>
          </a:prstGeom>
          <a:solidFill>
            <a:srgbClr val="3B82F6"/>
          </a:solidFill>
          <a:ln w="12700">
            <a:solidFill>
              <a:srgbClr val="3B82F6"/>
            </a:solidFill>
            <a:prstDash val="solid"/>
          </a:ln>
        </p:spPr>
      </p:sp>
      <p:sp>
        <p:nvSpPr>
          <p:cNvPr id="21" name="Text 19"/>
          <p:cNvSpPr/>
          <p:nvPr/>
        </p:nvSpPr>
        <p:spPr>
          <a:xfrm>
            <a:off x="3383280" y="2075688"/>
            <a:ext cx="2468880" cy="274320"/>
          </a:xfrm>
          <a:prstGeom prst="rect">
            <a:avLst/>
          </a:prstGeom>
          <a:noFill/>
          <a:ln/>
        </p:spPr>
        <p:txBody>
          <a:bodyPr wrap="square" lIns="0" tIns="0" rIns="0" bIns="0" rtlCol="0" anchor="ctr"/>
          <a:lstStyle/>
          <a:p>
            <a:pPr indent="0" marL="0">
              <a:buNone/>
            </a:pPr>
            <a:r>
              <a:rPr lang="en-US" sz="1300" b="1" dirty="0">
                <a:solidFill>
                  <a:srgbClr val="60A5FA"/>
                </a:solidFill>
                <a:latin typeface="Segoe UI" pitchFamily="34" charset="0"/>
                <a:ea typeface="Segoe UI" pitchFamily="34" charset="-122"/>
                <a:cs typeface="Segoe UI" pitchFamily="34" charset="-120"/>
              </a:rPr>
              <a:t>Scale / Q2–Q3 2026</a:t>
            </a:r>
            <a:endParaRPr lang="en-US" sz="1300" dirty="0"/>
          </a:p>
        </p:txBody>
      </p:sp>
      <p:sp>
        <p:nvSpPr>
          <p:cNvPr id="22" name="Text 20"/>
          <p:cNvSpPr/>
          <p:nvPr/>
        </p:nvSpPr>
        <p:spPr>
          <a:xfrm>
            <a:off x="3410712" y="2395728"/>
            <a:ext cx="2468880" cy="2194560"/>
          </a:xfrm>
          <a:prstGeom prst="rect">
            <a:avLst/>
          </a:prstGeom>
          <a:noFill/>
          <a:ln/>
        </p:spPr>
        <p:txBody>
          <a:bodyPr wrap="square" lIns="0" tIns="63500" rIns="0" bIns="0" rtlCol="0" anchor="ctr"/>
          <a:lstStyle/>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Analyst Review Portal (UI)</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AMER &amp; APAC expansion</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Real-time processing</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Analyst feedback loop</a:t>
            </a:r>
            <a:endParaRPr lang="en-US" sz="1200" dirty="0"/>
          </a:p>
        </p:txBody>
      </p:sp>
      <p:sp>
        <p:nvSpPr>
          <p:cNvPr id="23" name="Shape 21"/>
          <p:cNvSpPr/>
          <p:nvPr/>
        </p:nvSpPr>
        <p:spPr>
          <a:xfrm>
            <a:off x="6172200" y="2011680"/>
            <a:ext cx="2743200" cy="269748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24" name="Shape 22"/>
          <p:cNvSpPr/>
          <p:nvPr/>
        </p:nvSpPr>
        <p:spPr>
          <a:xfrm>
            <a:off x="6172200" y="2011680"/>
            <a:ext cx="50292" cy="2697480"/>
          </a:xfrm>
          <a:prstGeom prst="rect">
            <a:avLst/>
          </a:prstGeom>
          <a:solidFill>
            <a:srgbClr val="22C55E"/>
          </a:solidFill>
          <a:ln w="12700">
            <a:solidFill>
              <a:srgbClr val="22C55E"/>
            </a:solidFill>
            <a:prstDash val="solid"/>
          </a:ln>
        </p:spPr>
      </p:sp>
      <p:sp>
        <p:nvSpPr>
          <p:cNvPr id="25" name="Text 23"/>
          <p:cNvSpPr/>
          <p:nvPr/>
        </p:nvSpPr>
        <p:spPr>
          <a:xfrm>
            <a:off x="6309360" y="2075688"/>
            <a:ext cx="2468880" cy="274320"/>
          </a:xfrm>
          <a:prstGeom prst="rect">
            <a:avLst/>
          </a:prstGeom>
          <a:noFill/>
          <a:ln/>
        </p:spPr>
        <p:txBody>
          <a:bodyPr wrap="square" lIns="0" tIns="0" rIns="0" bIns="0" rtlCol="0" anchor="ctr"/>
          <a:lstStyle/>
          <a:p>
            <a:pPr indent="0" marL="0">
              <a:buNone/>
            </a:pPr>
            <a:r>
              <a:rPr lang="en-US" sz="1300" b="1" dirty="0">
                <a:solidFill>
                  <a:srgbClr val="22C55E"/>
                </a:solidFill>
                <a:latin typeface="Segoe UI" pitchFamily="34" charset="0"/>
                <a:ea typeface="Segoe UI" pitchFamily="34" charset="-122"/>
                <a:cs typeface="Segoe UI" pitchFamily="34" charset="-120"/>
              </a:rPr>
              <a:t>Optimise / Q4 2026+</a:t>
            </a:r>
            <a:endParaRPr lang="en-US" sz="1300" dirty="0"/>
          </a:p>
        </p:txBody>
      </p:sp>
      <p:sp>
        <p:nvSpPr>
          <p:cNvPr id="26" name="Text 24"/>
          <p:cNvSpPr/>
          <p:nvPr/>
        </p:nvSpPr>
        <p:spPr>
          <a:xfrm>
            <a:off x="6336792" y="2395728"/>
            <a:ext cx="2468880" cy="2194560"/>
          </a:xfrm>
          <a:prstGeom prst="rect">
            <a:avLst/>
          </a:prstGeom>
          <a:noFill/>
          <a:ln/>
        </p:spPr>
        <p:txBody>
          <a:bodyPr wrap="square" lIns="0" tIns="63500" rIns="0" bIns="0" rtlCol="0" anchor="ctr"/>
          <a:lstStyle/>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Self-learning from feedback</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Advanced analytics dashboard</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Downstream system integration</a:t>
            </a:r>
            <a:endParaRPr lang="en-US" sz="1200" dirty="0"/>
          </a:p>
          <a:p>
            <a:pPr marL="342900" indent="-342900">
              <a:spcAft>
                <a:spcPts val="400"/>
              </a:spcAft>
              <a:buSzPct val="100000"/>
              <a:buChar char="•"/>
            </a:pPr>
            <a:r>
              <a:rPr lang="en-US" sz="1200" dirty="0">
                <a:solidFill>
                  <a:srgbClr val="B8C5D3"/>
                </a:solidFill>
                <a:latin typeface="Segoe UI" pitchFamily="34" charset="0"/>
                <a:ea typeface="Segoe UI" pitchFamily="34" charset="-122"/>
                <a:cs typeface="Segoe UI" pitchFamily="34" charset="-120"/>
              </a:rPr>
              <a:t>New compliance screening domains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525"/>
        </a:solidFill>
      </p:bgPr>
    </p:bg>
    <p:spTree>
      <p:nvGrpSpPr>
        <p:cNvPr id="1" name=""/>
        <p:cNvGrpSpPr/>
        <p:nvPr/>
      </p:nvGrpSpPr>
      <p:grpSpPr>
        <a:xfrm>
          <a:off x="0" y="0"/>
          <a:ext cx="0" cy="0"/>
          <a:chOff x="0" y="0"/>
          <a:chExt cx="0" cy="0"/>
        </a:xfrm>
      </p:grpSpPr>
      <p:sp>
        <p:nvSpPr>
          <p:cNvPr id="2" name="Shape 0"/>
          <p:cNvSpPr/>
          <p:nvPr/>
        </p:nvSpPr>
        <p:spPr>
          <a:xfrm>
            <a:off x="4183380" y="411480"/>
            <a:ext cx="777240" cy="777240"/>
          </a:xfrm>
          <a:prstGeom prst="ellipse">
            <a:avLst/>
          </a:prstGeom>
          <a:solidFill>
            <a:srgbClr val="111827"/>
          </a:solidFill>
          <a:ln w="19050">
            <a:solidFill>
              <a:srgbClr val="D4A843">
                <a:alpha val="45000"/>
              </a:srgbClr>
            </a:solidFill>
            <a:prstDash val="solid"/>
          </a:ln>
        </p:spPr>
      </p:sp>
      <p:sp>
        <p:nvSpPr>
          <p:cNvPr id="3" name="Text 1"/>
          <p:cNvSpPr/>
          <p:nvPr/>
        </p:nvSpPr>
        <p:spPr>
          <a:xfrm>
            <a:off x="4183380" y="411480"/>
            <a:ext cx="777240" cy="777240"/>
          </a:xfrm>
          <a:prstGeom prst="rect">
            <a:avLst/>
          </a:prstGeom>
          <a:noFill/>
          <a:ln/>
        </p:spPr>
        <p:txBody>
          <a:bodyPr wrap="square" lIns="0" tIns="0" rIns="0" bIns="0" rtlCol="0" anchor="ctr"/>
          <a:lstStyle/>
          <a:p>
            <a:pPr algn="ctr" indent="0" marL="0">
              <a:buNone/>
            </a:pPr>
            <a:r>
              <a:rPr lang="en-US" sz="2800" b="1" dirty="0">
                <a:solidFill>
                  <a:srgbClr val="D4A843"/>
                </a:solidFill>
                <a:latin typeface="Segoe UI" pitchFamily="34" charset="0"/>
                <a:ea typeface="Segoe UI" pitchFamily="34" charset="-122"/>
                <a:cs typeface="Segoe UI" pitchFamily="34" charset="-120"/>
              </a:rPr>
              <a:t>A</a:t>
            </a:r>
            <a:endParaRPr lang="en-US" sz="2800" dirty="0"/>
          </a:p>
        </p:txBody>
      </p:sp>
      <p:sp>
        <p:nvSpPr>
          <p:cNvPr id="4" name="Text 2"/>
          <p:cNvSpPr/>
          <p:nvPr/>
        </p:nvSpPr>
        <p:spPr>
          <a:xfrm>
            <a:off x="457200" y="1298448"/>
            <a:ext cx="8229600" cy="777240"/>
          </a:xfrm>
          <a:prstGeom prst="rect">
            <a:avLst/>
          </a:prstGeom>
          <a:noFill/>
          <a:ln/>
        </p:spPr>
        <p:txBody>
          <a:bodyPr wrap="square" lIns="0" tIns="0" rIns="0" bIns="0" rtlCol="0" anchor="ctr"/>
          <a:lstStyle/>
          <a:p>
            <a:pPr algn="ctr" indent="0" marL="0">
              <a:buNone/>
            </a:pPr>
            <a:r>
              <a:rPr lang="en-US" sz="5200" b="1" dirty="0">
                <a:solidFill>
                  <a:srgbClr val="F4F6F8"/>
                </a:solidFill>
                <a:latin typeface="Segoe UI" pitchFamily="34" charset="0"/>
                <a:ea typeface="Segoe UI" pitchFamily="34" charset="-122"/>
                <a:cs typeface="Segoe UI" pitchFamily="34" charset="-120"/>
              </a:rPr>
              <a:t>Thank </a:t>
            </a:r>
            <a:pPr algn="ctr" indent="0" marL="0">
              <a:buNone/>
            </a:pPr>
            <a:r>
              <a:rPr lang="en-US" sz="5200" b="1" dirty="0">
                <a:solidFill>
                  <a:srgbClr val="D4A843"/>
                </a:solidFill>
                <a:latin typeface="Segoe UI" pitchFamily="34" charset="0"/>
                <a:ea typeface="Segoe UI" pitchFamily="34" charset="-122"/>
                <a:cs typeface="Segoe UI" pitchFamily="34" charset="-120"/>
              </a:rPr>
              <a:t>You</a:t>
            </a:r>
            <a:endParaRPr lang="en-US" sz="5200" dirty="0"/>
          </a:p>
        </p:txBody>
      </p:sp>
      <p:sp>
        <p:nvSpPr>
          <p:cNvPr id="5" name="Shape 3"/>
          <p:cNvSpPr/>
          <p:nvPr/>
        </p:nvSpPr>
        <p:spPr>
          <a:xfrm>
            <a:off x="4238244" y="2212848"/>
            <a:ext cx="667512" cy="32004"/>
          </a:xfrm>
          <a:prstGeom prst="rect">
            <a:avLst/>
          </a:prstGeom>
          <a:solidFill>
            <a:srgbClr val="D4A843"/>
          </a:solidFill>
          <a:ln w="12700">
            <a:solidFill>
              <a:srgbClr val="D4A843"/>
            </a:solidFill>
            <a:prstDash val="solid"/>
          </a:ln>
        </p:spPr>
      </p:sp>
      <p:sp>
        <p:nvSpPr>
          <p:cNvPr id="6" name="Text 4"/>
          <p:cNvSpPr/>
          <p:nvPr/>
        </p:nvSpPr>
        <p:spPr>
          <a:xfrm>
            <a:off x="731520" y="2423160"/>
            <a:ext cx="7680960" cy="384048"/>
          </a:xfrm>
          <a:prstGeom prst="rect">
            <a:avLst/>
          </a:prstGeom>
          <a:noFill/>
          <a:ln/>
        </p:spPr>
        <p:txBody>
          <a:bodyPr wrap="square" lIns="0" tIns="0" rIns="0" bIns="0" rtlCol="0" anchor="ctr"/>
          <a:lstStyle/>
          <a:p>
            <a:pPr algn="ctr" indent="0" marL="0">
              <a:buNone/>
            </a:pPr>
            <a:r>
              <a:rPr lang="en-US" sz="1800" dirty="0">
                <a:solidFill>
                  <a:srgbClr val="6B7B8D"/>
                </a:solidFill>
                <a:latin typeface="Segoe UI" pitchFamily="34" charset="0"/>
                <a:ea typeface="Segoe UI" pitchFamily="34" charset="-122"/>
                <a:cs typeface="Segoe UI" pitchFamily="34" charset="-120"/>
              </a:rPr>
              <a:t>AuroraAI — Empowering Analysts with AI-Assisted Sanctions Screening</a:t>
            </a:r>
            <a:endParaRPr lang="en-US" sz="1800" dirty="0"/>
          </a:p>
        </p:txBody>
      </p:sp>
      <p:sp>
        <p:nvSpPr>
          <p:cNvPr id="7" name="Text 5"/>
          <p:cNvSpPr/>
          <p:nvPr/>
        </p:nvSpPr>
        <p:spPr>
          <a:xfrm>
            <a:off x="457200" y="2926080"/>
            <a:ext cx="8229600" cy="274320"/>
          </a:xfrm>
          <a:prstGeom prst="rect">
            <a:avLst/>
          </a:prstGeom>
          <a:noFill/>
          <a:ln/>
        </p:spPr>
        <p:txBody>
          <a:bodyPr wrap="square" lIns="0" tIns="0" rIns="0" bIns="0" rtlCol="0" anchor="ctr"/>
          <a:lstStyle/>
          <a:p>
            <a:pPr algn="ctr" indent="0" marL="0">
              <a:buNone/>
            </a:pPr>
            <a:r>
              <a:rPr lang="en-US" sz="1400" dirty="0">
                <a:solidFill>
                  <a:srgbClr val="6B7B8D"/>
                </a:solidFill>
                <a:latin typeface="Segoe UI" pitchFamily="34" charset="0"/>
                <a:ea typeface="Segoe UI" pitchFamily="34" charset="-122"/>
                <a:cs typeface="Segoe UI" pitchFamily="34" charset="-120"/>
              </a:rPr>
              <a:t>Questions &amp; Discussion</a:t>
            </a:r>
            <a:endParaRPr lang="en-US" sz="1400" dirty="0"/>
          </a:p>
        </p:txBody>
      </p:sp>
      <p:sp>
        <p:nvSpPr>
          <p:cNvPr id="8" name="Text 6"/>
          <p:cNvSpPr/>
          <p:nvPr/>
        </p:nvSpPr>
        <p:spPr>
          <a:xfrm>
            <a:off x="457200" y="3246120"/>
            <a:ext cx="8229600" cy="228600"/>
          </a:xfrm>
          <a:prstGeom prst="rect">
            <a:avLst/>
          </a:prstGeom>
          <a:noFill/>
          <a:ln/>
        </p:spPr>
        <p:txBody>
          <a:bodyPr wrap="square" lIns="0" tIns="0" rIns="0" bIns="0" rtlCol="0" anchor="ctr"/>
          <a:lstStyle/>
          <a:p>
            <a:pPr algn="ctr" indent="0" marL="0">
              <a:buNone/>
            </a:pPr>
            <a:r>
              <a:rPr lang="en-US" sz="1100" dirty="0">
                <a:solidFill>
                  <a:srgbClr val="6B7B8D"/>
                </a:solidFill>
                <a:latin typeface="Segoe UI" pitchFamily="34" charset="0"/>
                <a:ea typeface="Segoe UI" pitchFamily="34" charset="-122"/>
                <a:cs typeface="Segoe UI" pitchFamily="34" charset="-120"/>
              </a:rPr>
              <a:t>Quality Screening Services  •  BNY</a:t>
            </a:r>
            <a:endParaRPr lang="en-US" sz="1100" dirty="0"/>
          </a:p>
        </p:txBody>
      </p:sp>
      <p:sp>
        <p:nvSpPr>
          <p:cNvPr id="9" name="Shape 7"/>
          <p:cNvSpPr/>
          <p:nvPr/>
        </p:nvSpPr>
        <p:spPr>
          <a:xfrm>
            <a:off x="548640" y="3639312"/>
            <a:ext cx="8046720" cy="1143000"/>
          </a:xfrm>
          <a:prstGeom prst="rect">
            <a:avLst/>
          </a:prstGeom>
          <a:solidFill>
            <a:srgbClr val="141E2D"/>
          </a:solidFill>
          <a:ln w="3810">
            <a:solidFill>
              <a:srgbClr val="FFFFFF">
                <a:alpha val="10000"/>
              </a:srgbClr>
            </a:solidFill>
            <a:prstDash val="solid"/>
          </a:ln>
          <a:effectLst>
            <a:outerShdw sx="100000" sy="100000" kx="0" ky="0" algn="bl" rotWithShape="0" blurRad="101600" dist="50800" dir="8100000">
              <a:srgbClr val="000000">
                <a:alpha val="25000"/>
              </a:srgbClr>
            </a:outerShdw>
          </a:effectLst>
        </p:spPr>
      </p:sp>
      <p:sp>
        <p:nvSpPr>
          <p:cNvPr id="10" name="Text 8"/>
          <p:cNvSpPr/>
          <p:nvPr/>
        </p:nvSpPr>
        <p:spPr>
          <a:xfrm>
            <a:off x="685800" y="3703320"/>
            <a:ext cx="7772400" cy="1005840"/>
          </a:xfrm>
          <a:prstGeom prst="rect">
            <a:avLst/>
          </a:prstGeom>
          <a:noFill/>
          <a:ln/>
        </p:spPr>
        <p:txBody>
          <a:bodyPr wrap="square" lIns="0" tIns="0" rIns="0" bIns="0" rtlCol="0" anchor="ctr"/>
          <a:lstStyle/>
          <a:p>
            <a:pPr indent="0" marL="0">
              <a:buNone/>
            </a:pPr>
            <a:r>
              <a:rPr lang="en-US" sz="1000" dirty="0">
                <a:solidFill>
                  <a:srgbClr val="6B7B8D"/>
                </a:solidFill>
                <a:latin typeface="Segoe UI" pitchFamily="34" charset="0"/>
                <a:ea typeface="Segoe UI" pitchFamily="34" charset="-122"/>
                <a:cs typeface="Segoe UI" pitchFamily="34" charset="-120"/>
              </a:rPr>
              <a:t>AuroraAI is a decision-support tool. All AI outputs are recommendations for human analyst review. The AI does not take final decisions. AuroraAI uses an internal IT Pipeline using BNY Eliza (enterprise LLM gateway). Models: GPT-4.1 for Checker, Gemini Flash for others.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2026-04-12T17:36:43Z</dcterms:created>
  <dcterms:modified xsi:type="dcterms:W3CDTF">2026-04-12T17:36:43Z</dcterms:modified>
</cp:coreProperties>
</file>