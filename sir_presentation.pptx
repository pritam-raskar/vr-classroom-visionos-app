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4572000" cy="3657600"/>
          </a:xfrm>
          <a:prstGeom prst="ellipse">
            <a:avLst/>
          </a:prstGeom>
          <a:solidFill>
            <a:srgbClr val="0D1F3C">
              <a:alpha val="70000"/>
            </a:srgbClr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Intelligence Engine for Risk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2852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sanctions screening for financial transaction alerts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2688" y="33375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337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Agent Pipeline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79776" y="33375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BC8CFF">
              <a:alpha val="12000"/>
            </a:srgbClr>
          </a:solidFill>
          <a:ln w="12700">
            <a:solidFill>
              <a:srgbClr val="BC8C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9776" y="3337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Dual-Agent Validation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33375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3FB850">
              <a:alpha val="12000"/>
            </a:srgbClr>
          </a:solidFill>
          <a:ln w="12700">
            <a:solidFill>
              <a:srgbClr val="3FB85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3337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Disposition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73952" y="3337560"/>
            <a:ext cx="1737360" cy="292608"/>
          </a:xfrm>
          <a:prstGeom prst="roundRect">
            <a:avLst>
              <a:gd name="adj" fmla="val 46875"/>
            </a:avLst>
          </a:prstGeom>
          <a:solidFill>
            <a:srgbClr val="FFA040">
              <a:alpha val="12000"/>
            </a:srgbClr>
          </a:solidFill>
          <a:ln w="12700">
            <a:solidFill>
              <a:srgbClr val="FFA04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3337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WE'RE BUILDING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SIERA?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solidFill>
            <a:srgbClr val="FF7B72">
              <a:alpha val="7000"/>
            </a:srgbClr>
          </a:solidFill>
          <a:ln w="12700">
            <a:solidFill>
              <a:srgbClr val="FF7B72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292608" cy="292608"/>
          </a:xfrm>
          <a:prstGeom prst="ellipse">
            <a:avLst/>
          </a:prstGeom>
          <a:solidFill>
            <a:srgbClr val="FF7B72">
              <a:alpha val="20000"/>
            </a:srgbClr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10515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institutions process thousands of payment messages daily. Each message is screened for </a:t>
            </a:r>
            <a:pPr algn="l"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hits</a:t>
            </a:r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potential matches against restricted entities. Today, analysts manually review every hit, which is time-consuming and error-prone.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97764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47088"/>
            <a:ext cx="36576" cy="1225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217627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SIERA is an AI-powered orchestration layer that sits above the screening engine and uses LLM agents to analyse each sanctions hit — automatically determining whether it is a genuine threat or a false positive.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810512"/>
            <a:ext cx="397764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847088"/>
            <a:ext cx="36576" cy="1225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9202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Ingestion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0016" y="217627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payment events from MQ. Supports both SWIFT MT messages and Fircosoft Plaintext formats, automatically detecting which format each message uses.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397764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55264"/>
            <a:ext cx="36576" cy="122529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3284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Delivery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" y="358444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specialised LLM agent pipeline performs individual analysis of each sanctions hit — checking entity name, type, nationality, and context to make an informed recommendation.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3218688"/>
            <a:ext cx="397764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255264"/>
            <a:ext cx="36576" cy="1225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332841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0016" y="358444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metrics, evaluation of LLM decisions vs. human analyst outcomes, latency monitoring, and risk management dashboards for compliance teams.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BUILT IT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097280"/>
            <a:ext cx="310896" cy="256032"/>
          </a:xfrm>
          <a:prstGeom prst="ellipse">
            <a:avLst/>
          </a:prstGeom>
          <a:solidFill>
            <a:srgbClr val="21262D">
              <a:alpha val="20000"/>
            </a:srgbClr>
          </a:solidFill>
          <a:ln w="12700">
            <a:solidFill>
              <a:srgbClr val="21262D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577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 Listener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Intake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728216" y="1024128"/>
            <a:ext cx="201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93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1097280"/>
            <a:ext cx="310896" cy="256032"/>
          </a:xfrm>
          <a:prstGeom prst="ellipse">
            <a:avLst/>
          </a:prstGeom>
          <a:solidFill>
            <a:srgbClr val="21262D">
              <a:alpha val="20000"/>
            </a:srgbClr>
          </a:solidFill>
          <a:ln w="12700">
            <a:solidFill>
              <a:srgbClr val="21262D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9293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93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 Filtering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099816" y="1024128"/>
            <a:ext cx="201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6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009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097280"/>
            <a:ext cx="310896" cy="256032"/>
          </a:xfrm>
          <a:prstGeom prst="ellipse">
            <a:avLst/>
          </a:prstGeom>
          <a:solidFill>
            <a:srgbClr val="21262D">
              <a:alpha val="20000"/>
            </a:srgbClr>
          </a:solidFill>
          <a:ln w="12700">
            <a:solidFill>
              <a:srgbClr val="21262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009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Routing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009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Classification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471416" y="1024128"/>
            <a:ext cx="201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725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1097280"/>
            <a:ext cx="310896" cy="256032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725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 Processor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725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843016" y="1024128"/>
            <a:ext cx="201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441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1097280"/>
            <a:ext cx="310896" cy="256032"/>
          </a:xfrm>
          <a:prstGeom prst="ellipse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0441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Processor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441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Agents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214616" y="1024128"/>
            <a:ext cx="201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15784" y="1024128"/>
            <a:ext cx="1170432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8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5552" y="1097280"/>
            <a:ext cx="310896" cy="256032"/>
          </a:xfrm>
          <a:prstGeom prst="ellipse">
            <a:avLst/>
          </a:prstGeom>
          <a:solidFill>
            <a:srgbClr val="3FB850">
              <a:alpha val="20000"/>
            </a:srgbClr>
          </a:solidFill>
          <a:ln w="12700">
            <a:solidFill>
              <a:srgbClr val="3FB85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109728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415784" y="137160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15784" y="1554480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Output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6517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216" y="2039112"/>
            <a:ext cx="1005840" cy="201168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Agent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85216" y="2286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First-Pass Analysis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216" y="2514600"/>
            <a:ext cx="2395728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Analyses each sanctions hit by entity type (Company, Individual, Vessel, Critic). Checks name, DOB, nationality, and payment context. Returns RELATED or CLEARED with reasoning.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46120" y="1920240"/>
            <a:ext cx="26517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74136" y="2039112"/>
            <a:ext cx="1005840" cy="201168"/>
          </a:xfrm>
          <a:prstGeom prst="rect">
            <a:avLst/>
          </a:prstGeom>
          <a:solidFill>
            <a:srgbClr val="BC8CFF">
              <a:alpha val="12000"/>
            </a:srgbClr>
          </a:solidFill>
          <a:ln w="12700">
            <a:solidFill>
              <a:srgbClr val="BC8CFF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74136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 Agent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374136" y="2286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 Validation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74136" y="2514600"/>
            <a:ext cx="2395728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the Primary Agent's decision and refines it. Verifies whether the beneficiary in the payment is genuinely the sanctioned entity or a false positive match.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35040" y="1920240"/>
            <a:ext cx="265176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039112"/>
            <a:ext cx="1005840" cy="201168"/>
          </a:xfrm>
          <a:prstGeom prst="rect">
            <a:avLst/>
          </a:prstGeom>
          <a:solidFill>
            <a:srgbClr val="3FB850">
              <a:alpha val="12000"/>
            </a:srgbClr>
          </a:solidFill>
          <a:ln w="12700">
            <a:solidFill>
              <a:srgbClr val="3FB850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FME Rule Engine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63056" y="2286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Auto-Disposition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63056" y="2514600"/>
            <a:ext cx="2395728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false positive patterns (FME rules) are matched before LLM processing. Matching hits are auto-released instantly, saving LLM compute for truly ambiguous cases.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00584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1133856"/>
            <a:ext cx="274320" cy="27432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133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294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&amp; Fetch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2940" y="170992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Incoming alert is parsed. Payment message is fetched and validated. Supports SWIFT MT and Fircosoft Plaintext formats.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83180" y="100584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0340" y="1133856"/>
            <a:ext cx="274320" cy="27432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0340" y="1133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2034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 LLM Request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20340" y="170992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hit is enriched with entity data, payment context, and risk tags (OTN, TXI = High Risk; BNK = Low Risk) before being sent to agents.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40580" y="100584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7740" y="1133856"/>
            <a:ext cx="274320" cy="27432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7740" y="1133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774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Processing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7740" y="170992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hits are partitioned into batches (default: 3 hits per batch) and processed in parallel by specialised LLM agents.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97980" y="1005840"/>
            <a:ext cx="1920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5140" y="1133856"/>
            <a:ext cx="274320" cy="27432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5140" y="1133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3514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&amp; Persist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5140" y="1709928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Dispositions are calculated at hit and transaction level. Results are persisted and a recommended disposition is returned.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2651760" cy="777240"/>
          </a:xfrm>
          <a:prstGeom prst="rect">
            <a:avLst/>
          </a:prstGeom>
          <a:solidFill>
            <a:srgbClr val="58A6FF">
              <a:alpha val="8000"/>
            </a:srgbClr>
          </a:solidFill>
          <a:ln w="12700">
            <a:solidFill>
              <a:srgbClr val="58A6FF">
                <a:alpha val="2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743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281635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Hit — Full LLM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04495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sanctions alerts entering SIERA for AI analysis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46120" y="2743200"/>
            <a:ext cx="2651760" cy="777240"/>
          </a:xfrm>
          <a:prstGeom prst="rect">
            <a:avLst/>
          </a:prstGeom>
          <a:solidFill>
            <a:srgbClr val="FFA040">
              <a:alpha val="8000"/>
            </a:srgbClr>
          </a:solidFill>
          <a:ln w="12700">
            <a:solidFill>
              <a:srgbClr val="FFA040">
                <a:alpha val="2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743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A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13048" y="281635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Escalated for Manual 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13048" y="304495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Hits requiring human analyst review after AI processing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35040" y="2743200"/>
            <a:ext cx="2651760" cy="777240"/>
          </a:xfrm>
          <a:prstGeom prst="rect">
            <a:avLst/>
          </a:prstGeom>
          <a:solidFill>
            <a:srgbClr val="3FB850">
              <a:alpha val="8000"/>
            </a:srgbClr>
          </a:solidFill>
          <a:ln w="12700">
            <a:solidFill>
              <a:srgbClr val="3FB850">
                <a:alpha val="2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743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01968" y="2816352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 Feedback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01968" y="304495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decisions fed back to improve the model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METRICS DASHBOARD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5029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896112"/>
            <a:ext cx="19659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12,456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48056" y="14630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Alerts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8056" y="164592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processed by SIERA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42032" y="896112"/>
            <a:ext cx="19659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8,234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4630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Processed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42032" y="164592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66% of total alerts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19659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7,891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36008" y="14630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Auto-Released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36008" y="164592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95.8% release rate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729984" y="896112"/>
            <a:ext cx="19659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29984" y="14630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29984" y="164592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4.2% escalation rate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1975104"/>
            <a:ext cx="4114800" cy="2578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084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VOLUME BREAKDOWN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" y="2359152"/>
            <a:ext cx="2061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Alerts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6332" y="2359152"/>
            <a:ext cx="1687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12,456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2560320"/>
            <a:ext cx="3749040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560320"/>
            <a:ext cx="3657600" cy="914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71216"/>
            <a:ext cx="2061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Processed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56332" y="2871216"/>
            <a:ext cx="1687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8,234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" y="3072384"/>
            <a:ext cx="3749040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072384"/>
            <a:ext cx="2414016" cy="914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83280"/>
            <a:ext cx="2061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Auto-Released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56332" y="3383280"/>
            <a:ext cx="1687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7,891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4360" y="3584448"/>
            <a:ext cx="3749040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584448"/>
            <a:ext cx="2313432" cy="91440"/>
          </a:xfrm>
          <a:prstGeom prst="rect">
            <a:avLst/>
          </a:prstGeom>
          <a:solidFill>
            <a:srgbClr val="3FB850"/>
          </a:solidFill>
          <a:ln w="12700">
            <a:solidFill>
              <a:srgbClr val="3FB8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895344"/>
            <a:ext cx="2061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Escalated to Analyst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56332" y="3895344"/>
            <a:ext cx="1687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A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" y="4096512"/>
            <a:ext cx="3749040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096512"/>
            <a:ext cx="100584" cy="91440"/>
          </a:xfrm>
          <a:prstGeom prst="rect">
            <a:avLst/>
          </a:prstGeom>
          <a:solidFill>
            <a:srgbClr val="FFA040"/>
          </a:solidFill>
          <a:ln w="12700">
            <a:solidFill>
              <a:srgbClr val="FFA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975104"/>
            <a:ext cx="1920240" cy="2578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0848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RELEASE RATE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166360" y="2478024"/>
            <a:ext cx="1316736" cy="1316736"/>
          </a:xfrm>
          <a:prstGeom prst="ellipse">
            <a:avLst/>
          </a:prstGeom>
          <a:solidFill>
            <a:srgbClr val="3FB850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85816" y="2697480"/>
            <a:ext cx="877824" cy="877824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269748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3931920"/>
            <a:ext cx="91440" cy="91440"/>
          </a:xfrm>
          <a:prstGeom prst="ellipse">
            <a:avLst/>
          </a:prstGeom>
          <a:solidFill>
            <a:srgbClr val="3FB850"/>
          </a:solidFill>
          <a:ln w="12700">
            <a:solidFill>
              <a:srgbClr val="3FB8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92624" y="391363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Auto-Released (95.8%)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4187952"/>
            <a:ext cx="91440" cy="91440"/>
          </a:xfrm>
          <a:prstGeom prst="ellipse">
            <a:avLst/>
          </a:prstGeom>
          <a:solidFill>
            <a:srgbClr val="FFA040"/>
          </a:solidFill>
          <a:ln w="12700">
            <a:solidFill>
              <a:srgbClr val="FFA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41696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Escalated (4.2%)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09160" y="45262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8,234 AI-processed alerts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766560" y="1975104"/>
            <a:ext cx="1920240" cy="2578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20848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 OUTCOMES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03720" y="2359152"/>
            <a:ext cx="8951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 (RELEASE)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98918" y="2359152"/>
            <a:ext cx="7324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FB8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95.8%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03720" y="2560320"/>
            <a:ext cx="1627632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2560320"/>
            <a:ext cx="1463040" cy="91440"/>
          </a:xfrm>
          <a:prstGeom prst="rect">
            <a:avLst/>
          </a:prstGeom>
          <a:solidFill>
            <a:srgbClr val="3FB850"/>
          </a:solidFill>
          <a:ln w="12700">
            <a:solidFill>
              <a:srgbClr val="3FB8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2871216"/>
            <a:ext cx="89519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 / Inconclusive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98918" y="2871216"/>
            <a:ext cx="7324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A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03720" y="3072384"/>
            <a:ext cx="1627632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3720" y="3072384"/>
            <a:ext cx="64008" cy="91440"/>
          </a:xfrm>
          <a:prstGeom prst="rect">
            <a:avLst/>
          </a:prstGeom>
          <a:solidFill>
            <a:srgbClr val="FFA040"/>
          </a:solidFill>
          <a:ln w="12700">
            <a:solidFill>
              <a:srgbClr val="FFA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3456432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Confusion Matrix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03720" y="3639312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vs Human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03720" y="3858768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decisions compared to analyst decisions for model accuracy analysis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58A6FF">
              <a:alpha val="7000"/>
            </a:srgbClr>
          </a:solidFill>
          <a:ln w="12700">
            <a:solidFill>
              <a:srgbClr val="58A6FF">
                <a:alpha val="16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Transaction Metrics Dashboard  ·  </a:t>
            </a:r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01232026</a:t>
            </a:r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Treasury Services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2026-04-12T18:09:22Z</dcterms:created>
  <dcterms:modified xsi:type="dcterms:W3CDTF">2026-04-12T18:09:22Z</dcterms:modified>
</cp:coreProperties>
</file>